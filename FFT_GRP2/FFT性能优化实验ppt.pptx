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5"/>
  </p:notesMasterIdLst>
  <p:sldIdLst>
    <p:sldId id="256" r:id="rId3"/>
    <p:sldId id="257" r:id="rId4"/>
    <p:sldId id="635" r:id="rId5"/>
    <p:sldId id="258" r:id="rId6"/>
    <p:sldId id="259" r:id="rId7"/>
    <p:sldId id="260" r:id="rId8"/>
    <p:sldId id="634" r:id="rId9"/>
    <p:sldId id="641" r:id="rId10"/>
    <p:sldId id="643" r:id="rId11"/>
    <p:sldId id="644" r:id="rId12"/>
    <p:sldId id="263" r:id="rId13"/>
    <p:sldId id="636" r:id="rId14"/>
    <p:sldId id="264" r:id="rId15"/>
    <p:sldId id="637" r:id="rId16"/>
    <p:sldId id="261" r:id="rId17"/>
    <p:sldId id="638" r:id="rId18"/>
    <p:sldId id="265" r:id="rId19"/>
    <p:sldId id="640" r:id="rId20"/>
    <p:sldId id="266" r:id="rId21"/>
    <p:sldId id="267" r:id="rId22"/>
    <p:sldId id="268" r:id="rId23"/>
    <p:sldId id="270"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104" y="2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b="1" dirty="0"/>
              <a:t>各版本</a:t>
            </a:r>
            <a:r>
              <a:rPr lang="en-US" altLang="zh-CN" b="1" dirty="0"/>
              <a:t>FFT</a:t>
            </a:r>
            <a:r>
              <a:rPr lang="zh-CN" altLang="en-US" b="1" dirty="0"/>
              <a:t>执行时间</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v0(ms)</c:v>
                </c:pt>
              </c:strCache>
            </c:strRef>
          </c:tx>
          <c:spPr>
            <a:solidFill>
              <a:schemeClr val="accent1"/>
            </a:solidFill>
            <a:ln>
              <a:noFill/>
            </a:ln>
            <a:effectLst/>
          </c:spPr>
          <c:invertIfNegative val="0"/>
          <c:cat>
            <c:numRef>
              <c:f>Sheet1!$A$2:$A$5</c:f>
              <c:numCache>
                <c:formatCode>General</c:formatCode>
                <c:ptCount val="4"/>
                <c:pt idx="0">
                  <c:v>512</c:v>
                </c:pt>
                <c:pt idx="1">
                  <c:v>1024</c:v>
                </c:pt>
                <c:pt idx="2">
                  <c:v>2048</c:v>
                </c:pt>
                <c:pt idx="3">
                  <c:v>4096</c:v>
                </c:pt>
              </c:numCache>
            </c:numRef>
          </c:cat>
          <c:val>
            <c:numRef>
              <c:f>Sheet1!$B$2:$B$5</c:f>
              <c:numCache>
                <c:formatCode>General</c:formatCode>
                <c:ptCount val="4"/>
                <c:pt idx="0">
                  <c:v>1.4500000000000001E-2</c:v>
                </c:pt>
                <c:pt idx="1">
                  <c:v>3.2000000000000001E-2</c:v>
                </c:pt>
                <c:pt idx="2">
                  <c:v>6.83E-2</c:v>
                </c:pt>
                <c:pt idx="3">
                  <c:v>0.1462</c:v>
                </c:pt>
              </c:numCache>
            </c:numRef>
          </c:val>
          <c:extLst>
            <c:ext xmlns:c16="http://schemas.microsoft.com/office/drawing/2014/chart" uri="{C3380CC4-5D6E-409C-BE32-E72D297353CC}">
              <c16:uniqueId val="{00000000-8FAF-413F-B431-FF4355EB0AFE}"/>
            </c:ext>
          </c:extLst>
        </c:ser>
        <c:ser>
          <c:idx val="1"/>
          <c:order val="1"/>
          <c:tx>
            <c:strRef>
              <c:f>Sheet1!$C$1</c:f>
              <c:strCache>
                <c:ptCount val="1"/>
                <c:pt idx="0">
                  <c:v>v1ms)</c:v>
                </c:pt>
              </c:strCache>
            </c:strRef>
          </c:tx>
          <c:spPr>
            <a:solidFill>
              <a:schemeClr val="accent2"/>
            </a:solidFill>
            <a:ln>
              <a:noFill/>
            </a:ln>
            <a:effectLst/>
          </c:spPr>
          <c:invertIfNegative val="0"/>
          <c:cat>
            <c:numRef>
              <c:f>Sheet1!$A$2:$A$5</c:f>
              <c:numCache>
                <c:formatCode>General</c:formatCode>
                <c:ptCount val="4"/>
                <c:pt idx="0">
                  <c:v>512</c:v>
                </c:pt>
                <c:pt idx="1">
                  <c:v>1024</c:v>
                </c:pt>
                <c:pt idx="2">
                  <c:v>2048</c:v>
                </c:pt>
                <c:pt idx="3">
                  <c:v>4096</c:v>
                </c:pt>
              </c:numCache>
            </c:numRef>
          </c:cat>
          <c:val>
            <c:numRef>
              <c:f>Sheet1!$C$2:$C$5</c:f>
              <c:numCache>
                <c:formatCode>General</c:formatCode>
                <c:ptCount val="4"/>
                <c:pt idx="0">
                  <c:v>1.46E-2</c:v>
                </c:pt>
                <c:pt idx="1">
                  <c:v>3.1800000000000002E-2</c:v>
                </c:pt>
                <c:pt idx="2">
                  <c:v>6.7900000000000002E-2</c:v>
                </c:pt>
                <c:pt idx="3">
                  <c:v>0.14510000000000001</c:v>
                </c:pt>
              </c:numCache>
            </c:numRef>
          </c:val>
          <c:extLst>
            <c:ext xmlns:c16="http://schemas.microsoft.com/office/drawing/2014/chart" uri="{C3380CC4-5D6E-409C-BE32-E72D297353CC}">
              <c16:uniqueId val="{00000001-8FAF-413F-B431-FF4355EB0AFE}"/>
            </c:ext>
          </c:extLst>
        </c:ser>
        <c:ser>
          <c:idx val="2"/>
          <c:order val="2"/>
          <c:tx>
            <c:strRef>
              <c:f>Sheet1!$D$1</c:f>
              <c:strCache>
                <c:ptCount val="1"/>
                <c:pt idx="0">
                  <c:v>v2(ms)</c:v>
                </c:pt>
              </c:strCache>
            </c:strRef>
          </c:tx>
          <c:spPr>
            <a:solidFill>
              <a:schemeClr val="accent3"/>
            </a:solidFill>
            <a:ln>
              <a:noFill/>
            </a:ln>
            <a:effectLst/>
          </c:spPr>
          <c:invertIfNegative val="0"/>
          <c:cat>
            <c:numRef>
              <c:f>Sheet1!$A$2:$A$5</c:f>
              <c:numCache>
                <c:formatCode>General</c:formatCode>
                <c:ptCount val="4"/>
                <c:pt idx="0">
                  <c:v>512</c:v>
                </c:pt>
                <c:pt idx="1">
                  <c:v>1024</c:v>
                </c:pt>
                <c:pt idx="2">
                  <c:v>2048</c:v>
                </c:pt>
                <c:pt idx="3">
                  <c:v>4096</c:v>
                </c:pt>
              </c:numCache>
            </c:numRef>
          </c:cat>
          <c:val>
            <c:numRef>
              <c:f>Sheet1!$D$2:$D$5</c:f>
              <c:numCache>
                <c:formatCode>General</c:formatCode>
                <c:ptCount val="4"/>
                <c:pt idx="0">
                  <c:v>1.46E-2</c:v>
                </c:pt>
                <c:pt idx="1">
                  <c:v>3.1600000000000003E-2</c:v>
                </c:pt>
                <c:pt idx="2">
                  <c:v>6.7299999999999999E-2</c:v>
                </c:pt>
                <c:pt idx="3">
                  <c:v>0.1452</c:v>
                </c:pt>
              </c:numCache>
            </c:numRef>
          </c:val>
          <c:extLst>
            <c:ext xmlns:c16="http://schemas.microsoft.com/office/drawing/2014/chart" uri="{C3380CC4-5D6E-409C-BE32-E72D297353CC}">
              <c16:uniqueId val="{00000002-8FAF-413F-B431-FF4355EB0AFE}"/>
            </c:ext>
          </c:extLst>
        </c:ser>
        <c:ser>
          <c:idx val="3"/>
          <c:order val="3"/>
          <c:tx>
            <c:strRef>
              <c:f>Sheet1!$E$1</c:f>
              <c:strCache>
                <c:ptCount val="1"/>
                <c:pt idx="0">
                  <c:v>v3(ms)</c:v>
                </c:pt>
              </c:strCache>
            </c:strRef>
          </c:tx>
          <c:spPr>
            <a:solidFill>
              <a:schemeClr val="accent4"/>
            </a:solidFill>
            <a:ln>
              <a:noFill/>
            </a:ln>
            <a:effectLst/>
          </c:spPr>
          <c:invertIfNegative val="0"/>
          <c:cat>
            <c:numRef>
              <c:f>Sheet1!$A$2:$A$5</c:f>
              <c:numCache>
                <c:formatCode>General</c:formatCode>
                <c:ptCount val="4"/>
                <c:pt idx="0">
                  <c:v>512</c:v>
                </c:pt>
                <c:pt idx="1">
                  <c:v>1024</c:v>
                </c:pt>
                <c:pt idx="2">
                  <c:v>2048</c:v>
                </c:pt>
                <c:pt idx="3">
                  <c:v>4096</c:v>
                </c:pt>
              </c:numCache>
            </c:numRef>
          </c:cat>
          <c:val>
            <c:numRef>
              <c:f>Sheet1!$E$2:$E$5</c:f>
              <c:numCache>
                <c:formatCode>General</c:formatCode>
                <c:ptCount val="4"/>
                <c:pt idx="0">
                  <c:v>1.54E-2</c:v>
                </c:pt>
                <c:pt idx="1">
                  <c:v>3.0800000000000001E-2</c:v>
                </c:pt>
                <c:pt idx="2">
                  <c:v>6.7599999999999993E-2</c:v>
                </c:pt>
                <c:pt idx="3">
                  <c:v>0.1462</c:v>
                </c:pt>
              </c:numCache>
            </c:numRef>
          </c:val>
          <c:extLst>
            <c:ext xmlns:c16="http://schemas.microsoft.com/office/drawing/2014/chart" uri="{C3380CC4-5D6E-409C-BE32-E72D297353CC}">
              <c16:uniqueId val="{00000003-8FAF-413F-B431-FF4355EB0AFE}"/>
            </c:ext>
          </c:extLst>
        </c:ser>
        <c:ser>
          <c:idx val="4"/>
          <c:order val="4"/>
          <c:tx>
            <c:strRef>
              <c:f>Sheet1!$F$1</c:f>
              <c:strCache>
                <c:ptCount val="1"/>
                <c:pt idx="0">
                  <c:v>v4(ms)</c:v>
                </c:pt>
              </c:strCache>
            </c:strRef>
          </c:tx>
          <c:spPr>
            <a:solidFill>
              <a:schemeClr val="accent5"/>
            </a:solidFill>
            <a:ln>
              <a:noFill/>
            </a:ln>
            <a:effectLst/>
          </c:spPr>
          <c:invertIfNegative val="0"/>
          <c:cat>
            <c:numRef>
              <c:f>Sheet1!$A$2:$A$5</c:f>
              <c:numCache>
                <c:formatCode>General</c:formatCode>
                <c:ptCount val="4"/>
                <c:pt idx="0">
                  <c:v>512</c:v>
                </c:pt>
                <c:pt idx="1">
                  <c:v>1024</c:v>
                </c:pt>
                <c:pt idx="2">
                  <c:v>2048</c:v>
                </c:pt>
                <c:pt idx="3">
                  <c:v>4096</c:v>
                </c:pt>
              </c:numCache>
            </c:numRef>
          </c:cat>
          <c:val>
            <c:numRef>
              <c:f>Sheet1!$F$2:$F$5</c:f>
              <c:numCache>
                <c:formatCode>General</c:formatCode>
                <c:ptCount val="4"/>
                <c:pt idx="0">
                  <c:v>1.46E-2</c:v>
                </c:pt>
                <c:pt idx="1">
                  <c:v>3.1699999999999999E-2</c:v>
                </c:pt>
                <c:pt idx="2">
                  <c:v>6.83E-2</c:v>
                </c:pt>
                <c:pt idx="3">
                  <c:v>0.14829999999999999</c:v>
                </c:pt>
              </c:numCache>
            </c:numRef>
          </c:val>
          <c:extLst>
            <c:ext xmlns:c16="http://schemas.microsoft.com/office/drawing/2014/chart" uri="{C3380CC4-5D6E-409C-BE32-E72D297353CC}">
              <c16:uniqueId val="{00000004-8FAF-413F-B431-FF4355EB0AFE}"/>
            </c:ext>
          </c:extLst>
        </c:ser>
        <c:dLbls>
          <c:showLegendKey val="0"/>
          <c:showVal val="0"/>
          <c:showCatName val="0"/>
          <c:showSerName val="0"/>
          <c:showPercent val="0"/>
          <c:showBubbleSize val="0"/>
        </c:dLbls>
        <c:gapWidth val="219"/>
        <c:overlap val="-27"/>
        <c:axId val="862734464"/>
        <c:axId val="862731584"/>
      </c:barChart>
      <c:catAx>
        <c:axId val="862734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62731584"/>
        <c:crosses val="autoZero"/>
        <c:auto val="1"/>
        <c:lblAlgn val="ctr"/>
        <c:lblOffset val="100"/>
        <c:noMultiLvlLbl val="0"/>
      </c:catAx>
      <c:valAx>
        <c:axId val="862731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8627344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汇报我的高性能计算实验——FFT性能优化。本次实验基于鲲鹏香橙派这一典型的ARM平台，深入探索了从一个基础的递归FFT实现出发，通过一系列优化手段，如何将性能提升近8倍。我们将详细对比原始版本与五个优化版本的性能差异，并分析其背后的体系结构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了解一下实验的背景。FFT算法是现代数字信号处理的核心，它的重要性不言而喻。本次实验的目标非常明确：首先，实现一个正确的FFT；其次，在我们的实验平台——鲲鹏香橙派上，从多个维度进行性能优化；最后，通过量化对比，深入理解每一项优化的效果。我们将重点关注计算、内存、体系结构、SIMD和缓存这五个优化维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580B8-FA41-B944-DFFC-9B39DF665E8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96DAD2-D582-9DD3-0113-1FB7EF1F875B}"/>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25A98832-1E8C-7951-54A7-019FDD6100BE}"/>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180572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在深入优化之前，我们必须先理解原始程序的核心思想。很多人认为原始版本是“未优化”的，但实际上，它已经包含了FFT最核心的算法优化：首先，它采用了FFT而非朴素的DFT，将复杂度从O(N²)降低到了O(N log N)；其次，它运用了分治思想，将大问题分解为小问题；最后，通过蝶形运算高效地合并结果。这些是后续所有工程优化的基础。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原始版本为什么慢呢？我们从五个方面进行分析。首先，递归带来了高昂的函数调用和栈开销。其次，每层递归都动态申请内存，这不仅慢，还会导致内存碎片化。第三，实时计算三角函数是一个巨大的性能黑洞。第四，奇偶拆分导致了非连续的内存访问，缓存命中率很低。最后，也是最关键的，代码完全没有利用我们ARM平台的任何特性，比如NEON指令集。这些瓶颈就是我们优化的切入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这些瓶颈，我们制定了一个清晰的优化路线图。这张表格展示了从原始版到v5的五个优化版本。v1通过迭代消除递归开销；v2通过查表法减少三角函数计算；v3引入内存对齐以提高访问效率；v4尝试利用NEON进行向量化；v5则通过软件预取来优化缓存命中率。接下来，我们将逐一解析每个版本的具体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EECFA-7FB9-FDBF-1D38-1D4BFCDC71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0DEBE7-012D-E2F7-7770-7552327831DB}"/>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69AD992B-549F-F500-600D-22E4D78F4FA7}"/>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1014906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3DE7D-1FA3-0945-3A6A-A4BF7D70211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CE0331-2190-1F35-3F4B-C66445CFAEA4}"/>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53D6C413-7480-0BEA-7BE9-D1627D3E4E05}"/>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2744057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FC658-B348-BAC7-6D6E-4493E8FDC7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FA6E09-03CB-7BC3-4BF1-1A61264507DB}"/>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6E019648-A8DB-6166-57F3-2AFAF7DB9C65}"/>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917709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B3DC4-313B-F7AD-8568-6D7CF86CB4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D707AE-EF8C-CA35-2368-012497B97970}"/>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0A05A1A9-140C-A2DB-4FBE-C6C23F7C8F0D}"/>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3345517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v3版本关注内存对齐。我们使用aligned_alloc函数确保数据的起始地址是32字节的倍数，这通常是一个缓存行的大小。这样做的好处是，可以减少跨缓存行的访问，提高内存效率，并且为后续使用NEON指令集创造了条件。需要注意的是，内存对齐的收益受多种因素影响，所以它的性能提升可能不是最稳定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D92DE-5961-D7BE-4BCC-ECAD1B0075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6C74AE-CF1C-9744-FED8-7ABA57561B51}"/>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C7446D67-F1A6-5589-3CE2-AD25FF8DD8CC}"/>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590743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v4版本我们尝试利用ARM的NEON SIMD指令集。NEON的核心思想是“单指令多数据”，如左图所示，一条指令可以同时处理多个数据。我们通过NEON内联函数，对蝶形运算进行向量化，一次处理两个蝶形。理论上，这能大幅减少循环次数，提高计算吞吐量。不过，这需要编译时开启特定选项，并且我们的代码也保留了标量版本以保证兼容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2535-C415-0F63-3D48-4BD6F94998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493340-E5A5-26CA-286C-082CD3B9D414}"/>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4ED74282-BA8F-3A45-6B1F-9F863148E0CE}"/>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3591092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是v1版本，我们将递归改为了迭代。这主要通过两步实现：首先是位逆序重排，如图所示，调整数据顺序；然后是逐层进行蝶形合并。这样做的好处是显而易见的：消除了函数调用开销，避免了临时数组的分配，并且数据访问更连续，更有利于缓存。从体系结构角度看，这减少了分支跳转，降低了栈压力，显著提高了指令执行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C7A9-2937-EFA6-AB78-703185484C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12706B-222E-A855-1663-578A88C176C8}"/>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3F24D3C5-652B-BFDB-74FB-947F6EFE2076}"/>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3667780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是v5版本，我们使用了软件预取技术。现代CPU的性能瓶颈常常是内存访问速度跟不上计算速度。预取的思想很简单，就是在需要数据之前，提前告诉CPU把数据加载到缓存里。我们利用`__builtin_prefetch`函数，在计算当前数据时，预取下一批数据。这样做的目标是减少缓存未命中，隐藏内存访问的延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3E9F1-0218-1E81-1C9D-2B410DCCFB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43226B-255D-BFD0-0514-7464DB98BF19}"/>
              </a:ext>
            </a:extLst>
          </p:cNvPr>
          <p:cNvSpPr>
            <a:spLocks noGrp="1" noRot="1" noChangeAspect="1"/>
          </p:cNvSpPr>
          <p:nvPr>
            <p:ph type="sldImg" idx="2"/>
          </p:nvPr>
        </p:nvSpPr>
        <p:spPr>
          <a:xfrm>
            <a:off x="2290763" y="512763"/>
            <a:ext cx="4562475" cy="2566987"/>
          </a:xfrm>
        </p:spPr>
        <p:txBody>
          <a:bodyPr/>
          <a:lstStyle/>
          <a:p>
            <a:endParaRPr lang="zh-CN" altLang="en-US"/>
          </a:p>
        </p:txBody>
      </p:sp>
      <p:sp>
        <p:nvSpPr>
          <p:cNvPr id="3" name="文本占位符 2">
            <a:extLst>
              <a:ext uri="{FF2B5EF4-FFF2-40B4-BE49-F238E27FC236}">
                <a16:creationId xmlns:a16="http://schemas.microsoft.com/office/drawing/2014/main" id="{F06D4EC8-663A-51A2-FE33-59069140C9C2}"/>
              </a:ext>
            </a:extLst>
          </p:cNvPr>
          <p:cNvSpPr>
            <a:spLocks noGrp="1"/>
          </p:cNvSpPr>
          <p:nvPr>
            <p:ph type="body" idx="3"/>
          </p:nvPr>
        </p:nvSpPr>
        <p:spPr/>
        <p:txBody>
          <a:bodyPr/>
          <a:lstStyle/>
          <a:p>
            <a:r>
              <a:rPr lang="zh-CN" altLang="en-US"/>
              <a:t>实际代码</a:t>
            </a:r>
            <a:r>
              <a:rPr lang="en-US" altLang="zh-CN"/>
              <a:t>mpc.c</a:t>
            </a:r>
            <a:r>
              <a:rPr lang="zh-CN" altLang="en-US"/>
              <a:t>中，没有使用优化器（文档</a:t>
            </a:r>
            <a:r>
              <a:rPr lang="en-US" altLang="zh-CN"/>
              <a:t>“MPC</a:t>
            </a:r>
            <a:r>
              <a:rPr lang="zh-CN" altLang="en-US"/>
              <a:t>模型预测控制</a:t>
            </a:r>
            <a:r>
              <a:rPr lang="en-US" altLang="zh-CN"/>
              <a:t>.pdf”</a:t>
            </a:r>
            <a:r>
              <a:rPr lang="zh-CN" altLang="en-US"/>
              <a:t>里介绍的很多代码块是使用优化器时才有）、没有设置障碍物</a:t>
            </a:r>
            <a:r>
              <a:rPr lang="en-US" altLang="zh-CN"/>
              <a:t>Obstacle</a:t>
            </a:r>
          </a:p>
        </p:txBody>
      </p:sp>
    </p:spTree>
    <p:extLst>
      <p:ext uri="{BB962C8B-B14F-4D97-AF65-F5344CB8AC3E}">
        <p14:creationId xmlns:p14="http://schemas.microsoft.com/office/powerpoint/2010/main" val="1815876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激动人心的实验结果部分。这张图表展示了不同版本在四种不同数据规模下的执行时间。可以看到，原始版本最慢。v1迭代版本带来了约2倍的加速。而v2查表版本的性能提升最为显著，是本次实验中收益最大的优化。v3、v4、v5的表现则比较有趣，它们在不同规模下各有优劣，这说明体系结构相关的优化效果高度依赖于具体场景。值得注意的是，在最大的4096点规模下，v5预取版本最终胜出。同时，所有版本的误差都非常小，证明我们的优化是正确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这些性能变化背后的原因是什么？首先，算法级的优化是基石，v1和v2的巨大成功证明了这一点。其次，识别并消除程序中的高开销操作，如递归和三角函数调用，是提升性能的关键。第三，像NEON和预取这样的平台相关优化，更像是锦上添花，它们能进一步榨取性能，但效果并不总是稳定的。最后，也是最重要的一点，所有优化都必须以保证正确性为前提，我们的误差分析证明了这一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总结一下本次实验的结论。第一，原始程序虽然慢，但它的核心算法思想是正确的。第二，我们的多维度优化策略是有效的，从v1到v5覆盖了从算法到硬件的各个层面。第三，在我们的平台上，查表法（v2）是性价比最高的优化。第四，对于大规模数据，预取（v5）效果最好。最后，也是最重要的一点，性能优化是一项系统工程，需要综合考虑算法、内存、指令集和编译器等多个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我的汇报到此结束，感谢各位老师和同学的聆听！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txBody>
          <a:bodyPr/>
          <a:lstStyle/>
          <a:p>
            <a:endParaRPr lang="zh-CN" altLang="en-US"/>
          </a:p>
        </p:txBody>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84810" y="164465"/>
            <a:ext cx="10389235" cy="549910"/>
          </a:xfrm>
        </p:spPr>
        <p:txBody>
          <a:bodyPr/>
          <a:lstStyle>
            <a:lvl1pPr>
              <a:defRPr sz="2600" u="none" strike="noStrike" kern="1200" cap="none" spc="0" normalizeH="0">
                <a:solidFill>
                  <a:schemeClr val="tx1"/>
                </a:solidFill>
                <a:uFillTx/>
                <a:latin typeface="Arial" panose="020B0604020202020204" pitchFamily="34" charset="0"/>
              </a:defRPr>
            </a:lvl1pPr>
          </a:lstStyle>
          <a:p>
            <a:r>
              <a:rPr lang="zh-CN" altLang="en-US"/>
              <a:t>单击此处编辑母版标题样式</a:t>
            </a:r>
          </a:p>
        </p:txBody>
      </p:sp>
      <p:sp>
        <p:nvSpPr>
          <p:cNvPr id="3" name="内容占位符 2"/>
          <p:cNvSpPr>
            <a:spLocks noGrp="1"/>
          </p:cNvSpPr>
          <p:nvPr>
            <p:ph idx="1" hasCustomPrompt="1"/>
          </p:nvPr>
        </p:nvSpPr>
        <p:spPr>
          <a:xfrm>
            <a:off x="384810" y="894715"/>
            <a:ext cx="11521440" cy="5335905"/>
          </a:xfrm>
        </p:spPr>
        <p:txBody>
          <a:bodyPr/>
          <a:lstStyle>
            <a:lvl1pPr>
              <a:defRPr sz="2000" u="none" strike="noStrike" kern="1200" cap="none" spc="0" normalizeH="0">
                <a:solidFill>
                  <a:schemeClr val="tx1"/>
                </a:solidFill>
                <a:uFillTx/>
                <a:latin typeface="Arial" panose="020B0604020202020204" pitchFamily="34" charset="0"/>
                <a:ea typeface="微软雅黑" panose="020B0503020204020204" charset="-122"/>
              </a:defRPr>
            </a:lvl1pPr>
            <a:lvl2pPr>
              <a:defRPr sz="1600" u="none" strike="noStrike" kern="1200" cap="none" spc="0" normalizeH="0">
                <a:solidFill>
                  <a:schemeClr val="tx1"/>
                </a:solidFill>
                <a:uFillTx/>
                <a:latin typeface="Arial" panose="020B0604020202020204" pitchFamily="34" charset="0"/>
                <a:ea typeface="微软雅黑" panose="020B0503020204020204" charset="-122"/>
              </a:defRPr>
            </a:lvl2pPr>
            <a:lvl3pPr>
              <a:defRPr sz="1400" u="none" strike="noStrike" kern="1200" cap="none" spc="0" normalizeH="0">
                <a:solidFill>
                  <a:schemeClr val="tx1"/>
                </a:solidFill>
                <a:uFillTx/>
                <a:latin typeface="+mn-lt"/>
                <a:ea typeface="微软雅黑" panose="020B0503020204020204" charset="-122"/>
              </a:defRPr>
            </a:lvl3pPr>
            <a:lvl4pPr>
              <a:defRPr sz="1400" u="none" strike="noStrike" kern="1200" cap="none" spc="0" normalizeH="0">
                <a:solidFill>
                  <a:schemeClr val="tx1"/>
                </a:solidFill>
                <a:uFillTx/>
                <a:latin typeface="+mn-lt"/>
                <a:ea typeface="微软雅黑" panose="020B0503020204020204" charset="-122"/>
              </a:defRPr>
            </a:lvl4pPr>
            <a:lvl5pPr>
              <a:defRPr sz="1400" u="none" strike="noStrike" kern="1200" cap="none" spc="0" normalizeH="0">
                <a:solidFill>
                  <a:schemeClr val="tx1"/>
                </a:solidFill>
                <a:uFillTx/>
                <a:latin typeface="+mn-lt"/>
                <a:ea typeface="微软雅黑" panose="020B0503020204020204"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71652607"/>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 id="215748370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jpeg"/><Relationship Id="rId7"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jpe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3.sv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2.jpeg"/><Relationship Id="rId7" Type="http://schemas.openxmlformats.org/officeDocument/2006/relationships/image" Target="../media/image40.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 Id="rId9" Type="http://schemas.openxmlformats.org/officeDocument/2006/relationships/chart" Target="../charts/char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3.sv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5.svg"/><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2.jpeg"/><Relationship Id="rId7" Type="http://schemas.openxmlformats.org/officeDocument/2006/relationships/image" Target="../media/image46.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9.svg"/><Relationship Id="rId5" Type="http://schemas.openxmlformats.org/officeDocument/2006/relationships/image" Target="../media/image45.svg"/><Relationship Id="rId4" Type="http://schemas.openxmlformats.org/officeDocument/2006/relationships/image" Target="../media/image44.svg"/></Relationships>
</file>

<file path=ppt/slides/_rels/slide2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2D3748">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1524000"/>
            <a:ext cx="1066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FFFFFF"/>
                </a:solidFill>
                <a:latin typeface="Noto Sans SC"/>
                <a:ea typeface="Noto Sans SC"/>
                <a:cs typeface="Noto Sans SC"/>
                <a:sym typeface="Noto Sans SC"/>
              </a:rPr>
              <a:t>FFT 性能优化实验</a:t>
            </a:r>
            <a:endParaRPr lang="en-US" sz="1100"/>
          </a:p>
        </p:txBody>
      </p:sp>
      <p:sp>
        <p:nvSpPr>
          <p:cNvPr id="4" name="AutoShape 4"/>
          <p:cNvSpPr/>
          <p:nvPr/>
        </p:nvSpPr>
        <p:spPr>
          <a:xfrm>
            <a:off x="762000" y="2921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0" i="0" u="none" strike="noStrike">
                <a:solidFill>
                  <a:srgbClr val="FFFFFF">
                    <a:alpha val="94902"/>
                  </a:srgbClr>
                </a:solidFill>
                <a:latin typeface="Noto Sans SC"/>
                <a:ea typeface="Noto Sans SC"/>
                <a:cs typeface="Noto Sans SC"/>
                <a:sym typeface="Noto Sans SC"/>
              </a:rPr>
              <a:t>基于鲲鹏香橙派（ARM + Linux）的实现与分析</a:t>
            </a:r>
            <a:endParaRPr lang="en-US" sz="1100"/>
          </a:p>
        </p:txBody>
      </p:sp>
      <p:sp>
        <p:nvSpPr>
          <p:cNvPr id="5" name="AutoShape 5"/>
          <p:cNvSpPr/>
          <p:nvPr/>
        </p:nvSpPr>
        <p:spPr>
          <a:xfrm>
            <a:off x="762000" y="4064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dirty="0" err="1">
                <a:solidFill>
                  <a:srgbClr val="A0AEC0"/>
                </a:solidFill>
                <a:latin typeface="Noto Sans SC"/>
                <a:ea typeface="Noto Sans SC"/>
                <a:cs typeface="Noto Sans SC"/>
                <a:sym typeface="Noto Sans SC"/>
              </a:rPr>
              <a:t>原始递归版本</a:t>
            </a:r>
            <a:r>
              <a:rPr lang="en-US" sz="2200" b="0" i="0" u="none" strike="noStrike" dirty="0">
                <a:solidFill>
                  <a:srgbClr val="A0AEC0"/>
                </a:solidFill>
                <a:latin typeface="Noto Sans SC"/>
                <a:ea typeface="Noto Sans SC"/>
                <a:cs typeface="Noto Sans SC"/>
                <a:sym typeface="Noto Sans SC"/>
              </a:rPr>
              <a:t> 与 v1 ~ v4 </a:t>
            </a:r>
            <a:r>
              <a:rPr lang="en-US" sz="2200" b="0" i="0" u="none" strike="noStrike" dirty="0" err="1">
                <a:solidFill>
                  <a:srgbClr val="A0AEC0"/>
                </a:solidFill>
                <a:latin typeface="Noto Sans SC"/>
                <a:ea typeface="Noto Sans SC"/>
                <a:cs typeface="Noto Sans SC"/>
                <a:sym typeface="Noto Sans SC"/>
              </a:rPr>
              <a:t>优化版本对比</a:t>
            </a:r>
            <a:endParaRPr lang="en-US" sz="1100" dirty="0"/>
          </a:p>
        </p:txBody>
      </p:sp>
      <p:sp>
        <p:nvSpPr>
          <p:cNvPr id="6" name="AutoShape 6"/>
          <p:cNvSpPr/>
          <p:nvPr/>
        </p:nvSpPr>
        <p:spPr>
          <a:xfrm>
            <a:off x="762000" y="5207000"/>
            <a:ext cx="10668000" cy="1143000"/>
          </a:xfrm>
          <a:prstGeom prst="roundRect">
            <a:avLst>
              <a:gd name="adj" fmla="val 13333"/>
            </a:avLst>
          </a:prstGeom>
          <a:solidFill>
            <a:srgbClr val="171E2B">
              <a:alpha val="85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34620" y="5461000"/>
            <a:ext cx="397672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dirty="0" err="1">
                <a:solidFill>
                  <a:srgbClr val="38BDF8"/>
                </a:solidFill>
                <a:latin typeface="Noto Sans SC"/>
                <a:ea typeface="Noto Sans SC"/>
                <a:cs typeface="Noto Sans SC"/>
                <a:sym typeface="Noto Sans SC"/>
              </a:rPr>
              <a:t>报告人</a:t>
            </a:r>
            <a:r>
              <a:rPr lang="en-US" sz="1600" b="1" i="0" u="none" strike="noStrike" dirty="0">
                <a:solidFill>
                  <a:srgbClr val="38BDF8"/>
                </a:solidFill>
                <a:latin typeface="Noto Sans SC"/>
                <a:ea typeface="Noto Sans SC"/>
                <a:cs typeface="Noto Sans SC"/>
                <a:sym typeface="Noto Sans SC"/>
              </a:rPr>
              <a:t>：</a:t>
            </a:r>
            <a:r>
              <a:rPr lang="zh-CN" altLang="en-US" sz="1600" dirty="0">
                <a:solidFill>
                  <a:srgbClr val="FFFFFF"/>
                </a:solidFill>
                <a:latin typeface="Noto Sans SC"/>
                <a:ea typeface="Noto Sans SC"/>
                <a:cs typeface="Noto Sans SC"/>
                <a:sym typeface="Noto Sans SC"/>
              </a:rPr>
              <a:t>岐</a:t>
            </a:r>
            <a:r>
              <a:rPr lang="zh-CN" altLang="en-US" sz="1600">
                <a:solidFill>
                  <a:srgbClr val="FFFFFF"/>
                </a:solidFill>
                <a:latin typeface="Noto Sans SC"/>
                <a:ea typeface="Noto Sans SC"/>
                <a:cs typeface="Noto Sans SC"/>
                <a:sym typeface="Noto Sans SC"/>
              </a:rPr>
              <a:t>名轩，周诗婷， 肖雅文，周文雯</a:t>
            </a:r>
            <a:endParaRPr lang="en-US" sz="1100" dirty="0"/>
          </a:p>
        </p:txBody>
      </p:sp>
      <p:sp>
        <p:nvSpPr>
          <p:cNvPr id="8" name="AutoShape 8"/>
          <p:cNvSpPr/>
          <p:nvPr/>
        </p:nvSpPr>
        <p:spPr>
          <a:xfrm>
            <a:off x="5232400" y="5461000"/>
            <a:ext cx="12700" cy="635000"/>
          </a:xfrm>
          <a:prstGeom prst="roundRect">
            <a:avLst>
              <a:gd name="adj" fmla="val 0"/>
            </a:avLst>
          </a:prstGeom>
          <a:solidFill>
            <a:srgbClr val="FFFFFF">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4572000" y="5461000"/>
            <a:ext cx="304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1" dirty="0">
                <a:solidFill>
                  <a:srgbClr val="38BDF8"/>
                </a:solidFill>
                <a:latin typeface="Noto Sans SC"/>
                <a:ea typeface="Noto Sans SC"/>
                <a:cs typeface="Noto Sans SC"/>
                <a:sym typeface="Noto Sans SC"/>
              </a:rPr>
              <a:t>组</a:t>
            </a:r>
            <a:r>
              <a:rPr lang="en-US" sz="1600" b="1" i="0" u="none" strike="noStrike" dirty="0">
                <a:solidFill>
                  <a:srgbClr val="38BDF8"/>
                </a:solidFill>
                <a:latin typeface="Noto Sans SC"/>
                <a:ea typeface="Noto Sans SC"/>
                <a:cs typeface="Noto Sans SC"/>
                <a:sym typeface="Noto Sans SC"/>
              </a:rPr>
              <a:t>　号：</a:t>
            </a:r>
            <a:r>
              <a:rPr lang="en-US" sz="1600" dirty="0">
                <a:solidFill>
                  <a:srgbClr val="FFFFFF"/>
                </a:solidFill>
                <a:latin typeface="Noto Sans SC"/>
                <a:ea typeface="Noto Sans SC"/>
                <a:sym typeface="Noto Sans SC"/>
              </a:rPr>
              <a:t>8</a:t>
            </a:r>
            <a:endParaRPr lang="en-US" sz="1600" dirty="0">
              <a:solidFill>
                <a:srgbClr val="FFFFFF"/>
              </a:solidFill>
              <a:latin typeface="Noto Sans SC"/>
              <a:ea typeface="Noto Sans SC"/>
            </a:endParaRPr>
          </a:p>
        </p:txBody>
      </p:sp>
      <p:sp>
        <p:nvSpPr>
          <p:cNvPr id="10" name="AutoShape 10"/>
          <p:cNvSpPr/>
          <p:nvPr/>
        </p:nvSpPr>
        <p:spPr>
          <a:xfrm>
            <a:off x="6946902" y="5461000"/>
            <a:ext cx="12700" cy="635000"/>
          </a:xfrm>
          <a:prstGeom prst="roundRect">
            <a:avLst>
              <a:gd name="adj" fmla="val 0"/>
            </a:avLst>
          </a:prstGeom>
          <a:solidFill>
            <a:srgbClr val="FFFFFF">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001000" y="5461000"/>
            <a:ext cx="3048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600" b="1" i="0" u="none" strike="noStrike" dirty="0">
                <a:solidFill>
                  <a:srgbClr val="38BDF8"/>
                </a:solidFill>
                <a:latin typeface="Noto Sans SC"/>
                <a:ea typeface="Noto Sans SC"/>
                <a:cs typeface="Noto Sans SC"/>
                <a:sym typeface="Noto Sans SC"/>
              </a:rPr>
              <a:t>汇    报   </a:t>
            </a:r>
            <a:r>
              <a:rPr lang="en-US" sz="1600" b="1" i="0" u="none" strike="noStrike" dirty="0">
                <a:solidFill>
                  <a:srgbClr val="38BDF8"/>
                </a:solidFill>
                <a:latin typeface="Noto Sans SC"/>
                <a:ea typeface="Noto Sans SC"/>
                <a:cs typeface="Noto Sans SC"/>
                <a:sym typeface="Noto Sans SC"/>
              </a:rPr>
              <a:t>日   期：</a:t>
            </a:r>
            <a:r>
              <a:rPr lang="en-US" sz="1600" b="0" i="0" u="none" strike="noStrike" dirty="0">
                <a:solidFill>
                  <a:srgbClr val="FFFFFF"/>
                </a:solidFill>
                <a:latin typeface="Noto Sans SC"/>
                <a:ea typeface="Noto Sans SC"/>
                <a:cs typeface="Noto Sans SC"/>
                <a:sym typeface="Noto Sans SC"/>
              </a:rPr>
              <a:t>2026年5月13</a:t>
            </a:r>
            <a:r>
              <a:rPr lang="zh-CN" altLang="en-US" sz="1600" b="0" i="0" u="none" strike="noStrike" dirty="0">
                <a:solidFill>
                  <a:srgbClr val="FFFFFF"/>
                </a:solidFill>
                <a:latin typeface="Noto Sans SC"/>
                <a:ea typeface="Noto Sans SC"/>
                <a:cs typeface="Noto Sans SC"/>
                <a:sym typeface="Noto Sans SC"/>
              </a:rPr>
              <a:t>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a:ea typeface="Noto Sans SC"/>
                <a:cs typeface="Noto Sans SC"/>
                <a:sym typeface="Noto Sans SC"/>
              </a:rPr>
              <a:t>实验背景与优化目标</a:t>
            </a:r>
            <a:endParaRPr lang="en-US" sz="1100"/>
          </a:p>
        </p:txBody>
      </p:sp>
      <p:sp>
        <p:nvSpPr>
          <p:cNvPr id="4" name="AutoShape 4"/>
          <p:cNvSpPr/>
          <p:nvPr/>
        </p:nvSpPr>
        <p:spPr>
          <a:xfrm>
            <a:off x="762000" y="1397000"/>
            <a:ext cx="6477000" cy="1397000"/>
          </a:xfrm>
          <a:prstGeom prst="roundRect">
            <a:avLst>
              <a:gd name="adj" fmla="val 10909"/>
            </a:avLst>
          </a:prstGeom>
          <a:solidFill>
            <a:srgbClr val="FFFFFF">
              <a:alpha val="9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952500" y="1524000"/>
            <a:ext cx="6096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2D3748"/>
                </a:solidFill>
                <a:latin typeface="Noto Sans SC"/>
                <a:ea typeface="Noto Sans SC"/>
                <a:cs typeface="Noto Sans SC"/>
                <a:sym typeface="Noto Sans SC"/>
              </a:rPr>
              <a:t>▍ FFT算法的重要性</a:t>
            </a:r>
            <a:endParaRPr lang="en-US" sz="1100"/>
          </a:p>
          <a:p>
            <a:pPr indent="0" algn="l">
              <a:lnSpc>
                <a:spcPct val="108333"/>
              </a:lnSpc>
              <a:spcBef>
                <a:spcPts val="600"/>
              </a:spcBef>
            </a:pPr>
            <a:r>
              <a:rPr lang="en-US" sz="1300" b="0" i="0" u="none" strike="noStrike">
                <a:solidFill>
                  <a:srgbClr val="4A5568"/>
                </a:solidFill>
                <a:latin typeface="Noto Sans SC"/>
                <a:ea typeface="Noto Sans SC"/>
                <a:cs typeface="Noto Sans SC"/>
                <a:sym typeface="Noto Sans SC"/>
              </a:rPr>
              <a:t>快速傅里叶变换 (FFT) 是数字信号处理的基石，通过将信号从时域高效转换到频域，极大降低了计算复杂度。其应用遍布数字通信、音频处理、图像处理和科学计算等关键领域。</a:t>
            </a:r>
          </a:p>
        </p:txBody>
      </p:sp>
      <p:sp>
        <p:nvSpPr>
          <p:cNvPr id="6" name="AutoShape 6"/>
          <p:cNvSpPr/>
          <p:nvPr/>
        </p:nvSpPr>
        <p:spPr>
          <a:xfrm>
            <a:off x="762000" y="3048000"/>
            <a:ext cx="6477000" cy="1460500"/>
          </a:xfrm>
          <a:prstGeom prst="roundRect">
            <a:avLst>
              <a:gd name="adj" fmla="val 10434"/>
            </a:avLst>
          </a:prstGeom>
          <a:solidFill>
            <a:srgbClr val="FFFFFF">
              <a:alpha val="9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889000" y="3175000"/>
            <a:ext cx="1905000" cy="12065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a:solidFill>
                  <a:srgbClr val="4FD1C5"/>
                </a:solidFill>
                <a:latin typeface="Noto Sans SC"/>
                <a:ea typeface="Noto Sans SC"/>
                <a:cs typeface="Noto Sans SC"/>
                <a:sym typeface="Noto Sans SC"/>
              </a:rPr>
              <a:t>01 功能实现</a:t>
            </a:r>
            <a:endParaRPr lang="en-US" sz="1100"/>
          </a:p>
          <a:p>
            <a:pPr indent="0" algn="ctr">
              <a:lnSpc>
                <a:spcPct val="100000"/>
              </a:lnSpc>
              <a:spcBef>
                <a:spcPts val="600"/>
              </a:spcBef>
            </a:pPr>
            <a:r>
              <a:rPr lang="en-US" sz="1100" b="0" i="0" u="none" strike="noStrike">
                <a:solidFill>
                  <a:srgbClr val="4A5568"/>
                </a:solidFill>
                <a:latin typeface="Noto Sans SC"/>
                <a:ea typeface="Noto Sans SC"/>
                <a:cs typeface="Noto Sans SC"/>
                <a:sym typeface="Noto Sans SC"/>
              </a:rPr>
              <a:t>正确实现FFT算法</a:t>
            </a:r>
            <a:br>
              <a:rPr lang="en-US" sz="1600" b="0" i="0" u="none" strike="noStrike">
                <a:solidFill>
                  <a:srgbClr val="1F2329"/>
                </a:solidFill>
                <a:latin typeface="Noto Sans SC"/>
                <a:ea typeface="Noto Sans SC"/>
                <a:cs typeface="Noto Sans SC"/>
                <a:sym typeface="Noto Sans SC"/>
              </a:rPr>
            </a:br>
            <a:r>
              <a:rPr lang="en-US" sz="1100" b="0" i="0" u="none" strike="noStrike">
                <a:solidFill>
                  <a:srgbClr val="4A5568"/>
                </a:solidFill>
                <a:latin typeface="Noto Sans SC"/>
                <a:ea typeface="Noto Sans SC"/>
                <a:cs typeface="Noto Sans SC"/>
                <a:sym typeface="Noto Sans SC"/>
              </a:rPr>
              <a:t>并通过IFFT验证数值准确性</a:t>
            </a:r>
          </a:p>
        </p:txBody>
      </p:sp>
      <p:sp>
        <p:nvSpPr>
          <p:cNvPr id="8" name="AutoShape 8"/>
          <p:cNvSpPr/>
          <p:nvPr/>
        </p:nvSpPr>
        <p:spPr>
          <a:xfrm>
            <a:off x="3048000" y="3270250"/>
            <a:ext cx="1905000" cy="12065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dirty="0">
                <a:solidFill>
                  <a:srgbClr val="4FD1C5"/>
                </a:solidFill>
                <a:latin typeface="Noto Sans SC"/>
                <a:ea typeface="Noto Sans SC"/>
                <a:cs typeface="Noto Sans SC"/>
                <a:sym typeface="Noto Sans SC"/>
              </a:rPr>
              <a:t>02 </a:t>
            </a:r>
            <a:r>
              <a:rPr lang="en-US" sz="1500" b="1" i="0" u="none" strike="noStrike" dirty="0" err="1">
                <a:solidFill>
                  <a:srgbClr val="4FD1C5"/>
                </a:solidFill>
                <a:latin typeface="Noto Sans SC"/>
                <a:ea typeface="Noto Sans SC"/>
                <a:cs typeface="Noto Sans SC"/>
                <a:sym typeface="Noto Sans SC"/>
              </a:rPr>
              <a:t>多维优化</a:t>
            </a:r>
            <a:endParaRPr lang="en-US" sz="1100" dirty="0"/>
          </a:p>
          <a:p>
            <a:pPr indent="0" algn="ctr">
              <a:lnSpc>
                <a:spcPct val="100000"/>
              </a:lnSpc>
              <a:spcBef>
                <a:spcPts val="600"/>
              </a:spcBef>
            </a:pPr>
            <a:r>
              <a:rPr lang="en-US" sz="1100" b="0" i="0" u="none" strike="noStrike" dirty="0" err="1">
                <a:solidFill>
                  <a:srgbClr val="4A5568"/>
                </a:solidFill>
                <a:latin typeface="Noto Sans SC"/>
                <a:ea typeface="Noto Sans SC"/>
                <a:cs typeface="Noto Sans SC"/>
                <a:sym typeface="Noto Sans SC"/>
              </a:rPr>
              <a:t>针对ARM平台特点</a:t>
            </a:r>
            <a:br>
              <a:rPr lang="en-US" sz="1600" b="0" i="0" u="none" strike="noStrike" dirty="0">
                <a:solidFill>
                  <a:srgbClr val="1F2329"/>
                </a:solidFill>
                <a:latin typeface="Noto Sans SC"/>
                <a:ea typeface="Noto Sans SC"/>
                <a:cs typeface="Noto Sans SC"/>
                <a:sym typeface="Noto Sans SC"/>
              </a:rPr>
            </a:br>
            <a:r>
              <a:rPr lang="en-US" sz="1100" b="0" i="0" u="none" strike="noStrike" dirty="0" err="1">
                <a:solidFill>
                  <a:srgbClr val="4A5568"/>
                </a:solidFill>
                <a:latin typeface="Noto Sans SC"/>
                <a:ea typeface="Noto Sans SC"/>
                <a:cs typeface="Noto Sans SC"/>
                <a:sym typeface="Noto Sans SC"/>
              </a:rPr>
              <a:t>从算法、代码及指令集深度优化</a:t>
            </a:r>
            <a:endParaRPr lang="en-US" sz="1100" b="0" i="0" u="none" strike="noStrike" dirty="0">
              <a:solidFill>
                <a:srgbClr val="4A5568"/>
              </a:solidFill>
              <a:latin typeface="Noto Sans SC"/>
              <a:ea typeface="Noto Sans SC"/>
              <a:cs typeface="Noto Sans SC"/>
              <a:sym typeface="Noto Sans SC"/>
            </a:endParaRPr>
          </a:p>
        </p:txBody>
      </p:sp>
      <p:sp>
        <p:nvSpPr>
          <p:cNvPr id="9" name="AutoShape 9"/>
          <p:cNvSpPr/>
          <p:nvPr/>
        </p:nvSpPr>
        <p:spPr>
          <a:xfrm>
            <a:off x="5207000" y="3175000"/>
            <a:ext cx="1905000" cy="12065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500" b="1" i="0" u="none" strike="noStrike" dirty="0">
                <a:solidFill>
                  <a:srgbClr val="4FD1C5"/>
                </a:solidFill>
                <a:latin typeface="Noto Sans SC"/>
                <a:ea typeface="Noto Sans SC"/>
                <a:cs typeface="Noto Sans SC"/>
                <a:sym typeface="Noto Sans SC"/>
              </a:rPr>
              <a:t>03 </a:t>
            </a:r>
            <a:r>
              <a:rPr lang="en-US" sz="1500" b="1" i="0" u="none" strike="noStrike" dirty="0" err="1">
                <a:solidFill>
                  <a:srgbClr val="4FD1C5"/>
                </a:solidFill>
                <a:latin typeface="Noto Sans SC"/>
                <a:ea typeface="Noto Sans SC"/>
                <a:cs typeface="Noto Sans SC"/>
                <a:sym typeface="Noto Sans SC"/>
              </a:rPr>
              <a:t>量化对比</a:t>
            </a:r>
            <a:endParaRPr lang="en-US" sz="1100" dirty="0"/>
          </a:p>
          <a:p>
            <a:pPr indent="0" algn="ctr">
              <a:lnSpc>
                <a:spcPct val="100000"/>
              </a:lnSpc>
              <a:spcBef>
                <a:spcPts val="600"/>
              </a:spcBef>
            </a:pPr>
            <a:r>
              <a:rPr lang="en-US" sz="1100" b="0" i="0" u="none" strike="noStrike" dirty="0">
                <a:solidFill>
                  <a:srgbClr val="4A5568"/>
                </a:solidFill>
                <a:latin typeface="Noto Sans SC"/>
                <a:ea typeface="Noto Sans SC"/>
                <a:cs typeface="Noto Sans SC"/>
                <a:sym typeface="Noto Sans SC"/>
              </a:rPr>
              <a:t>对比原始与v1-v4版本</a:t>
            </a:r>
            <a:br>
              <a:rPr lang="en-US" sz="1600" b="0" i="0" u="none" strike="noStrike" dirty="0">
                <a:solidFill>
                  <a:srgbClr val="1F2329"/>
                </a:solidFill>
                <a:latin typeface="Noto Sans SC"/>
                <a:ea typeface="Noto Sans SC"/>
                <a:cs typeface="Noto Sans SC"/>
                <a:sym typeface="Noto Sans SC"/>
              </a:rPr>
            </a:br>
            <a:r>
              <a:rPr lang="en-US" sz="1100" b="0" i="0" u="none" strike="noStrike" dirty="0" err="1">
                <a:solidFill>
                  <a:srgbClr val="4A5568"/>
                </a:solidFill>
                <a:latin typeface="Noto Sans SC"/>
                <a:ea typeface="Noto Sans SC"/>
                <a:cs typeface="Noto Sans SC"/>
                <a:sym typeface="Noto Sans SC"/>
              </a:rPr>
              <a:t>分析性能差异及背后成因</a:t>
            </a:r>
            <a:endParaRPr lang="en-US" sz="1100" b="0" i="0" u="none" strike="noStrike" dirty="0">
              <a:solidFill>
                <a:srgbClr val="4A5568"/>
              </a:solidFill>
              <a:latin typeface="Noto Sans SC"/>
              <a:ea typeface="Noto Sans SC"/>
              <a:cs typeface="Noto Sans SC"/>
              <a:sym typeface="Noto Sans SC"/>
            </a:endParaRPr>
          </a:p>
        </p:txBody>
      </p:sp>
      <p:sp>
        <p:nvSpPr>
          <p:cNvPr id="10" name="AutoShape 10"/>
          <p:cNvSpPr/>
          <p:nvPr/>
        </p:nvSpPr>
        <p:spPr>
          <a:xfrm>
            <a:off x="762000" y="4699000"/>
            <a:ext cx="6477000" cy="1651000"/>
          </a:xfrm>
          <a:prstGeom prst="roundRect">
            <a:avLst>
              <a:gd name="adj" fmla="val 9230"/>
            </a:avLst>
          </a:prstGeom>
          <a:solidFill>
            <a:srgbClr val="FFFFFF">
              <a:alpha val="9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4798" y="4832350"/>
            <a:ext cx="406400" cy="406400"/>
          </a:xfrm>
          <a:prstGeom prst="rect">
            <a:avLst/>
          </a:prstGeom>
        </p:spPr>
      </p:pic>
      <p:sp>
        <p:nvSpPr>
          <p:cNvPr id="12" name="AutoShape 12"/>
          <p:cNvSpPr/>
          <p:nvPr/>
        </p:nvSpPr>
        <p:spPr>
          <a:xfrm>
            <a:off x="889000" y="54610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zh-CN" altLang="en-US" sz="1200" b="1" i="0" u="none" strike="noStrike" dirty="0">
                <a:solidFill>
                  <a:srgbClr val="2D3748"/>
                </a:solidFill>
                <a:latin typeface="Noto Sans SC"/>
                <a:ea typeface="Noto Sans SC"/>
                <a:cs typeface="Noto Sans SC"/>
                <a:sym typeface="Noto Sans SC"/>
              </a:rPr>
              <a:t>预</a:t>
            </a:r>
            <a:r>
              <a:rPr lang="en-US" sz="1200" b="1" i="0" u="none" strike="noStrike" dirty="0" err="1">
                <a:solidFill>
                  <a:srgbClr val="2D3748"/>
                </a:solidFill>
                <a:latin typeface="Noto Sans SC"/>
                <a:ea typeface="Noto Sans SC"/>
                <a:cs typeface="Noto Sans SC"/>
                <a:sym typeface="Noto Sans SC"/>
              </a:rPr>
              <a:t>计算</a:t>
            </a:r>
            <a:r>
              <a:rPr lang="zh-CN" altLang="en-US" sz="1200" b="1" i="0" u="none" strike="noStrike" dirty="0">
                <a:solidFill>
                  <a:srgbClr val="2D3748"/>
                </a:solidFill>
                <a:latin typeface="Noto Sans SC"/>
                <a:ea typeface="Noto Sans SC"/>
                <a:cs typeface="Noto Sans SC"/>
                <a:sym typeface="Noto Sans SC"/>
              </a:rPr>
              <a:t>策略</a:t>
            </a:r>
            <a:endParaRPr lang="en-US" sz="1100" dirty="0"/>
          </a:p>
          <a:p>
            <a:pPr indent="0" algn="ctr">
              <a:lnSpc>
                <a:spcPct val="125000"/>
              </a:lnSpc>
            </a:pPr>
            <a:r>
              <a:rPr lang="en-US" sz="1000" b="0" i="0" u="none" strike="noStrike" dirty="0" err="1">
                <a:solidFill>
                  <a:srgbClr val="718096"/>
                </a:solidFill>
                <a:latin typeface="Noto Sans SC"/>
                <a:ea typeface="Noto Sans SC"/>
                <a:cs typeface="Noto Sans SC"/>
                <a:sym typeface="Noto Sans SC"/>
              </a:rPr>
              <a:t>减少重复</a:t>
            </a:r>
            <a:br>
              <a:rPr lang="en-US" sz="1600" b="0" i="0" u="none" strike="noStrike" dirty="0">
                <a:solidFill>
                  <a:srgbClr val="1F2329"/>
                </a:solidFill>
                <a:latin typeface="Noto Sans SC"/>
                <a:ea typeface="Noto Sans SC"/>
                <a:cs typeface="Noto Sans SC"/>
                <a:sym typeface="Noto Sans SC"/>
              </a:rPr>
            </a:br>
            <a:r>
              <a:rPr lang="en-US" sz="1000" b="0" i="0" u="none" strike="noStrike" dirty="0" err="1">
                <a:solidFill>
                  <a:srgbClr val="718096"/>
                </a:solidFill>
                <a:latin typeface="Noto Sans SC"/>
                <a:ea typeface="Noto Sans SC"/>
                <a:cs typeface="Noto Sans SC"/>
                <a:sym typeface="Noto Sans SC"/>
              </a:rPr>
              <a:t>三角函数调用</a:t>
            </a:r>
            <a:endParaRPr lang="en-US" sz="1000" b="0" i="0" u="none" strike="noStrike" dirty="0">
              <a:solidFill>
                <a:srgbClr val="718096"/>
              </a:solidFill>
              <a:latin typeface="Noto Sans SC"/>
              <a:ea typeface="Noto Sans SC"/>
              <a:cs typeface="Noto Sans SC"/>
              <a:sym typeface="Noto Sans SC"/>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77798" y="4832350"/>
            <a:ext cx="406400" cy="406400"/>
          </a:xfrm>
          <a:prstGeom prst="rect">
            <a:avLst/>
          </a:prstGeom>
        </p:spPr>
      </p:pic>
      <p:sp>
        <p:nvSpPr>
          <p:cNvPr id="14" name="AutoShape 14"/>
          <p:cNvSpPr/>
          <p:nvPr/>
        </p:nvSpPr>
        <p:spPr>
          <a:xfrm>
            <a:off x="2032000" y="54610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zh-CN" altLang="en-US" sz="1200" b="1" i="0" u="none" strike="noStrike" dirty="0">
                <a:solidFill>
                  <a:srgbClr val="2D3748"/>
                </a:solidFill>
                <a:latin typeface="Noto Sans SC"/>
                <a:ea typeface="Noto Sans SC"/>
                <a:cs typeface="Noto Sans SC"/>
                <a:sym typeface="Noto Sans SC"/>
              </a:rPr>
              <a:t>查表法</a:t>
            </a:r>
            <a:endParaRPr lang="en-US" sz="1100" dirty="0"/>
          </a:p>
          <a:p>
            <a:pPr indent="0" algn="ctr">
              <a:lnSpc>
                <a:spcPct val="125000"/>
              </a:lnSpc>
            </a:pPr>
            <a:r>
              <a:rPr lang="zh-CN" altLang="en-US" sz="1000" dirty="0">
                <a:solidFill>
                  <a:srgbClr val="718096"/>
                </a:solidFill>
                <a:latin typeface="Noto Sans SC"/>
                <a:ea typeface="Noto Sans SC"/>
                <a:cs typeface="Noto Sans SC"/>
                <a:sym typeface="Noto Sans SC"/>
              </a:rPr>
              <a:t>空间换时间</a:t>
            </a:r>
            <a:br>
              <a:rPr lang="en-US" sz="1600" b="0" i="0" u="none" strike="noStrike" dirty="0">
                <a:solidFill>
                  <a:srgbClr val="1F2329"/>
                </a:solidFill>
                <a:latin typeface="Noto Sans SC"/>
                <a:ea typeface="Noto Sans SC"/>
                <a:cs typeface="Noto Sans SC"/>
                <a:sym typeface="Noto Sans SC"/>
              </a:rPr>
            </a:br>
            <a:r>
              <a:rPr lang="en-US" sz="1000" b="0" i="0" u="none" strike="noStrike" dirty="0">
                <a:solidFill>
                  <a:srgbClr val="718096"/>
                </a:solidFill>
                <a:latin typeface="Noto Sans SC"/>
                <a:ea typeface="Noto Sans SC"/>
                <a:cs typeface="Noto Sans SC"/>
                <a:sym typeface="Noto Sans SC"/>
              </a:rPr>
              <a:t>O(1)</a:t>
            </a:r>
            <a:r>
              <a:rPr lang="zh-CN" altLang="en-US" sz="1000" b="0" i="0" u="none" strike="noStrike" dirty="0">
                <a:solidFill>
                  <a:srgbClr val="718096"/>
                </a:solidFill>
                <a:latin typeface="Noto Sans SC"/>
                <a:ea typeface="Noto Sans SC"/>
                <a:cs typeface="Noto Sans SC"/>
                <a:sym typeface="Noto Sans SC"/>
              </a:rPr>
              <a:t>查表访问</a:t>
            </a:r>
            <a:endParaRPr lang="en-US" sz="1000" b="0" i="0" u="none" strike="noStrike" dirty="0">
              <a:solidFill>
                <a:srgbClr val="718096"/>
              </a:solidFill>
              <a:latin typeface="Noto Sans SC"/>
              <a:ea typeface="Noto Sans SC"/>
              <a:cs typeface="Noto Sans SC"/>
              <a:sym typeface="Noto Sans SC"/>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48061" y="4832350"/>
            <a:ext cx="406400" cy="406400"/>
          </a:xfrm>
          <a:prstGeom prst="rect">
            <a:avLst/>
          </a:prstGeom>
        </p:spPr>
      </p:pic>
      <p:sp>
        <p:nvSpPr>
          <p:cNvPr id="18" name="AutoShape 18"/>
          <p:cNvSpPr/>
          <p:nvPr/>
        </p:nvSpPr>
        <p:spPr>
          <a:xfrm>
            <a:off x="3102263" y="54610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1" i="0" u="none" strike="noStrike" dirty="0">
                <a:solidFill>
                  <a:srgbClr val="2D3748"/>
                </a:solidFill>
                <a:latin typeface="Noto Sans SC"/>
                <a:ea typeface="Noto Sans SC"/>
                <a:cs typeface="Noto Sans SC"/>
                <a:sym typeface="Noto Sans SC"/>
              </a:rPr>
              <a:t>NEON SIMD</a:t>
            </a:r>
            <a:endParaRPr lang="en-US" sz="1100" dirty="0"/>
          </a:p>
          <a:p>
            <a:pPr indent="0" algn="ctr">
              <a:lnSpc>
                <a:spcPct val="125000"/>
              </a:lnSpc>
            </a:pPr>
            <a:r>
              <a:rPr lang="en-US" sz="1000" b="0" i="0" u="none" strike="noStrike" dirty="0" err="1">
                <a:solidFill>
                  <a:srgbClr val="718096"/>
                </a:solidFill>
                <a:latin typeface="Noto Sans SC"/>
                <a:ea typeface="Noto Sans SC"/>
                <a:cs typeface="Noto Sans SC"/>
                <a:sym typeface="Noto Sans SC"/>
              </a:rPr>
              <a:t>利用NEON指令</a:t>
            </a:r>
            <a:br>
              <a:rPr lang="en-US" sz="1600" b="0" i="0" u="none" strike="noStrike" dirty="0">
                <a:solidFill>
                  <a:srgbClr val="1F2329"/>
                </a:solidFill>
                <a:latin typeface="Noto Sans SC"/>
                <a:ea typeface="Noto Sans SC"/>
                <a:cs typeface="Noto Sans SC"/>
                <a:sym typeface="Noto Sans SC"/>
              </a:rPr>
            </a:br>
            <a:r>
              <a:rPr lang="en-US" sz="1000" b="0" i="0" u="none" strike="noStrike" dirty="0" err="1">
                <a:solidFill>
                  <a:srgbClr val="718096"/>
                </a:solidFill>
                <a:latin typeface="Noto Sans SC"/>
                <a:ea typeface="Noto Sans SC"/>
                <a:cs typeface="Noto Sans SC"/>
                <a:sym typeface="Noto Sans SC"/>
              </a:rPr>
              <a:t>实现数据级并行</a:t>
            </a:r>
            <a:endParaRPr lang="en-US" sz="1000" b="0" i="0" u="none" strike="noStrike" dirty="0">
              <a:solidFill>
                <a:srgbClr val="718096"/>
              </a:solidFill>
              <a:latin typeface="Noto Sans SC"/>
              <a:ea typeface="Noto Sans SC"/>
              <a:cs typeface="Noto Sans SC"/>
              <a:sym typeface="Noto Sans SC"/>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91061" y="4832350"/>
            <a:ext cx="406400" cy="406400"/>
          </a:xfrm>
          <a:prstGeom prst="rect">
            <a:avLst/>
          </a:prstGeom>
        </p:spPr>
      </p:pic>
      <p:sp>
        <p:nvSpPr>
          <p:cNvPr id="20" name="AutoShape 20"/>
          <p:cNvSpPr/>
          <p:nvPr/>
        </p:nvSpPr>
        <p:spPr>
          <a:xfrm>
            <a:off x="4245263" y="54610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1" i="0" u="none" strike="noStrike" dirty="0" err="1">
                <a:solidFill>
                  <a:srgbClr val="2D3748"/>
                </a:solidFill>
                <a:latin typeface="Noto Sans SC"/>
                <a:ea typeface="Noto Sans SC"/>
                <a:cs typeface="Noto Sans SC"/>
                <a:sym typeface="Noto Sans SC"/>
              </a:rPr>
              <a:t>缓存优化</a:t>
            </a:r>
            <a:endParaRPr lang="en-US" sz="1100" dirty="0"/>
          </a:p>
          <a:p>
            <a:pPr indent="0" algn="ctr">
              <a:lnSpc>
                <a:spcPct val="125000"/>
              </a:lnSpc>
            </a:pPr>
            <a:r>
              <a:rPr lang="zh-CN" altLang="en-US" sz="1000" b="0" i="0" u="none" strike="noStrike" dirty="0">
                <a:solidFill>
                  <a:srgbClr val="718096"/>
                </a:solidFill>
                <a:latin typeface="Noto Sans SC"/>
                <a:ea typeface="Noto Sans SC"/>
                <a:cs typeface="Noto Sans SC"/>
                <a:sym typeface="Noto Sans SC"/>
              </a:rPr>
              <a:t>连续内存访问</a:t>
            </a:r>
            <a:br>
              <a:rPr lang="en-US" sz="1600" b="0" i="0" u="none" strike="noStrike" dirty="0">
                <a:solidFill>
                  <a:srgbClr val="1F2329"/>
                </a:solidFill>
                <a:latin typeface="Noto Sans SC"/>
                <a:ea typeface="Noto Sans SC"/>
                <a:cs typeface="Noto Sans SC"/>
                <a:sym typeface="Noto Sans SC"/>
              </a:rPr>
            </a:br>
            <a:r>
              <a:rPr lang="zh-CN" altLang="en-US" sz="1000" b="0" i="0" u="none" strike="noStrike" dirty="0">
                <a:solidFill>
                  <a:srgbClr val="718096"/>
                </a:solidFill>
                <a:latin typeface="Noto Sans SC"/>
                <a:ea typeface="Noto Sans SC"/>
                <a:cs typeface="Noto Sans SC"/>
                <a:sym typeface="Noto Sans SC"/>
              </a:rPr>
              <a:t>减少内存带宽依赖</a:t>
            </a:r>
            <a:endParaRPr lang="en-US" sz="1000" b="0" i="0" u="none" strike="noStrike" dirty="0">
              <a:solidFill>
                <a:srgbClr val="718096"/>
              </a:solidFill>
              <a:latin typeface="Noto Sans SC"/>
              <a:ea typeface="Noto Sans SC"/>
              <a:cs typeface="Noto Sans SC"/>
              <a:sym typeface="Noto Sans SC"/>
            </a:endParaRPr>
          </a:p>
        </p:txBody>
      </p:sp>
      <p:pic>
        <p:nvPicPr>
          <p:cNvPr id="21" name="Picture 21"/>
          <p:cNvPicPr>
            <a:picLocks noChangeAspect="1"/>
          </p:cNvPicPr>
          <p:nvPr/>
        </p:nvPicPr>
        <p:blipFill>
          <a:blip r:embed="rId8"/>
          <a:srcRect/>
          <a:stretch>
            <a:fillRect/>
          </a:stretch>
        </p:blipFill>
        <p:spPr>
          <a:xfrm>
            <a:off x="7620000" y="1778000"/>
            <a:ext cx="3810000" cy="3810000"/>
          </a:xfrm>
          <a:prstGeom prst="roundRect">
            <a:avLst>
              <a:gd name="adj" fmla="val 4000"/>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22" name="AutoShape 22"/>
          <p:cNvSpPr/>
          <p:nvPr/>
        </p:nvSpPr>
        <p:spPr>
          <a:xfrm>
            <a:off x="7620000" y="5715000"/>
            <a:ext cx="381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2D3748"/>
                </a:solidFill>
                <a:latin typeface="Noto Sans SC"/>
                <a:ea typeface="Noto Sans SC"/>
                <a:cs typeface="Noto Sans SC"/>
                <a:sym typeface="Noto Sans SC"/>
              </a:rPr>
              <a:t>实验平台：鲲鹏香橙派开发板</a:t>
            </a:r>
            <a:endParaRPr lang="en-US" sz="1100"/>
          </a:p>
        </p:txBody>
      </p:sp>
      <p:pic>
        <p:nvPicPr>
          <p:cNvPr id="25" name="Picture 15">
            <a:extLst>
              <a:ext uri="{FF2B5EF4-FFF2-40B4-BE49-F238E27FC236}">
                <a16:creationId xmlns:a16="http://schemas.microsoft.com/office/drawing/2014/main" id="{45BF36FD-3936-1F07-001C-D0A5A8AD9B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96415" y="4832350"/>
            <a:ext cx="406400" cy="406400"/>
          </a:xfrm>
          <a:prstGeom prst="rect">
            <a:avLst/>
          </a:prstGeom>
        </p:spPr>
      </p:pic>
      <p:sp>
        <p:nvSpPr>
          <p:cNvPr id="26" name="AutoShape 16">
            <a:extLst>
              <a:ext uri="{FF2B5EF4-FFF2-40B4-BE49-F238E27FC236}">
                <a16:creationId xmlns:a16="http://schemas.microsoft.com/office/drawing/2014/main" id="{41ECE97A-E605-C38D-C3D7-DA125D0706E4}"/>
              </a:ext>
            </a:extLst>
          </p:cNvPr>
          <p:cNvSpPr/>
          <p:nvPr/>
        </p:nvSpPr>
        <p:spPr>
          <a:xfrm>
            <a:off x="5450617" y="5461000"/>
            <a:ext cx="1016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zh-CN" altLang="en-US" sz="1200" b="1" i="0" u="none" strike="noStrike" dirty="0">
                <a:solidFill>
                  <a:srgbClr val="2D3748"/>
                </a:solidFill>
                <a:latin typeface="Noto Sans SC"/>
                <a:ea typeface="Noto Sans SC"/>
                <a:cs typeface="Noto Sans SC"/>
                <a:sym typeface="Noto Sans SC"/>
              </a:rPr>
              <a:t>内存对齐</a:t>
            </a:r>
            <a:r>
              <a:rPr lang="en-US" altLang="zh-CN" sz="1200" b="1" i="0" u="none" strike="noStrike" dirty="0">
                <a:solidFill>
                  <a:srgbClr val="2D3748"/>
                </a:solidFill>
                <a:latin typeface="Noto Sans SC"/>
                <a:ea typeface="Noto Sans SC"/>
                <a:cs typeface="Noto Sans SC"/>
                <a:sym typeface="Noto Sans SC"/>
              </a:rPr>
              <a:t>+</a:t>
            </a:r>
            <a:r>
              <a:rPr lang="zh-CN" altLang="en-US" sz="1200" b="1" i="0" u="none" strike="noStrike" dirty="0">
                <a:solidFill>
                  <a:srgbClr val="2D3748"/>
                </a:solidFill>
                <a:latin typeface="Noto Sans SC"/>
                <a:ea typeface="Noto Sans SC"/>
                <a:cs typeface="Noto Sans SC"/>
                <a:sym typeface="Noto Sans SC"/>
              </a:rPr>
              <a:t>预取</a:t>
            </a:r>
            <a:endParaRPr lang="en-US" sz="1100" dirty="0"/>
          </a:p>
          <a:p>
            <a:pPr indent="0" algn="ctr">
              <a:lnSpc>
                <a:spcPct val="125000"/>
              </a:lnSpc>
            </a:pPr>
            <a:r>
              <a:rPr lang="zh-CN" altLang="en-US" sz="1000" b="0" i="0" u="none" strike="noStrike" dirty="0">
                <a:solidFill>
                  <a:srgbClr val="718096"/>
                </a:solidFill>
                <a:latin typeface="Noto Sans SC"/>
                <a:ea typeface="Noto Sans SC"/>
                <a:cs typeface="Noto Sans SC"/>
                <a:sym typeface="Noto Sans SC"/>
              </a:rPr>
              <a:t>软件预取数据</a:t>
            </a:r>
            <a:br>
              <a:rPr lang="en-US" sz="1600" b="0" i="0" u="none" strike="noStrike" dirty="0">
                <a:solidFill>
                  <a:srgbClr val="1F2329"/>
                </a:solidFill>
                <a:latin typeface="Noto Sans SC"/>
                <a:ea typeface="Noto Sans SC"/>
                <a:cs typeface="Noto Sans SC"/>
                <a:sym typeface="Noto Sans SC"/>
              </a:rPr>
            </a:br>
            <a:r>
              <a:rPr lang="zh-CN" altLang="en-US" sz="1000" b="0" i="0" u="none" strike="noStrike" dirty="0">
                <a:solidFill>
                  <a:srgbClr val="718096"/>
                </a:solidFill>
                <a:latin typeface="Noto Sans SC"/>
                <a:ea typeface="Noto Sans SC"/>
                <a:cs typeface="Noto Sans SC"/>
                <a:sym typeface="Noto Sans SC"/>
              </a:rPr>
              <a:t>隐藏内存延迟</a:t>
            </a:r>
            <a:endParaRPr lang="en-US" sz="1000" b="0" i="0" u="none" strike="noStrike" dirty="0">
              <a:solidFill>
                <a:srgbClr val="718096"/>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98738-BE44-DDEF-F0F0-B21E4BB82074}"/>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A32FD3A6-3E71-EFA5-3B2B-46FA99C75CD0}"/>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BBAAB2C8-EF9D-CF80-9D6A-1E8B86FEAEC8}"/>
              </a:ext>
            </a:extLst>
          </p:cNvPr>
          <p:cNvSpPr>
            <a:spLocks noGrp="1"/>
          </p:cNvSpPr>
          <p:nvPr>
            <p:ph type="title"/>
          </p:nvPr>
        </p:nvSpPr>
        <p:spPr/>
        <p:txBody>
          <a:bodyPr/>
          <a:lstStyle/>
          <a:p>
            <a:r>
              <a:rPr lang="zh-CN" altLang="en-US" dirty="0"/>
              <a:t>程序流程图</a:t>
            </a:r>
          </a:p>
        </p:txBody>
      </p:sp>
      <p:sp>
        <p:nvSpPr>
          <p:cNvPr id="60" name="文本框 59">
            <a:extLst>
              <a:ext uri="{FF2B5EF4-FFF2-40B4-BE49-F238E27FC236}">
                <a16:creationId xmlns:a16="http://schemas.microsoft.com/office/drawing/2014/main" id="{0C617E62-9528-957E-630C-2B5480927BAD}"/>
              </a:ext>
            </a:extLst>
          </p:cNvPr>
          <p:cNvSpPr txBox="1"/>
          <p:nvPr/>
        </p:nvSpPr>
        <p:spPr>
          <a:xfrm>
            <a:off x="384810" y="1046480"/>
            <a:ext cx="6309741"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原始版本 </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test_original.c</a:t>
            </a:r>
            <a:r>
              <a:rPr lang="en-US" altLang="zh-CN" sz="2400" dirty="0">
                <a:latin typeface="微软雅黑" panose="020B0503020204020204" pitchFamily="34" charset="-122"/>
                <a:ea typeface="微软雅黑" panose="020B0503020204020204" pitchFamily="34" charset="-122"/>
              </a:rPr>
              <a:t>) - </a:t>
            </a:r>
            <a:r>
              <a:rPr lang="zh-CN" altLang="en-US" sz="2400" dirty="0">
                <a:latin typeface="微软雅黑" panose="020B0503020204020204" pitchFamily="34" charset="-122"/>
                <a:ea typeface="微软雅黑" panose="020B0503020204020204" pitchFamily="34" charset="-122"/>
              </a:rPr>
              <a:t>预计算 </a:t>
            </a:r>
            <a:r>
              <a:rPr lang="en-US" altLang="zh-CN" sz="2400" dirty="0">
                <a:latin typeface="微软雅黑" panose="020B0503020204020204" pitchFamily="34" charset="-122"/>
                <a:ea typeface="微软雅黑" panose="020B0503020204020204" pitchFamily="34" charset="-122"/>
              </a:rPr>
              <a:t>+ NEON</a:t>
            </a:r>
            <a:endParaRPr lang="zh-CN" altLang="en-US" sz="2400"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BEAF1701-3CF3-83B7-8B85-DA0527D6136C}"/>
              </a:ext>
            </a:extLst>
          </p:cNvPr>
          <p:cNvPicPr>
            <a:picLocks noChangeAspect="1"/>
          </p:cNvPicPr>
          <p:nvPr/>
        </p:nvPicPr>
        <p:blipFill>
          <a:blip r:embed="rId3"/>
          <a:stretch>
            <a:fillRect/>
          </a:stretch>
        </p:blipFill>
        <p:spPr>
          <a:xfrm>
            <a:off x="154940" y="1963821"/>
            <a:ext cx="11882120" cy="2855878"/>
          </a:xfrm>
          <a:prstGeom prst="rect">
            <a:avLst/>
          </a:prstGeom>
        </p:spPr>
      </p:pic>
    </p:spTree>
    <p:extLst>
      <p:ext uri="{BB962C8B-B14F-4D97-AF65-F5344CB8AC3E}">
        <p14:creationId xmlns:p14="http://schemas.microsoft.com/office/powerpoint/2010/main" val="1886818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a:ea typeface="Noto Sans SC"/>
                <a:cs typeface="Noto Sans SC"/>
                <a:sym typeface="Noto Sans SC"/>
              </a:rPr>
              <a:t>原始程序的算法思想</a:t>
            </a:r>
            <a:endParaRPr lang="en-US" sz="1100"/>
          </a:p>
        </p:txBody>
      </p:sp>
      <p:sp>
        <p:nvSpPr>
          <p:cNvPr id="4" name="AutoShape 4"/>
          <p:cNvSpPr/>
          <p:nvPr/>
        </p:nvSpPr>
        <p:spPr>
          <a:xfrm>
            <a:off x="762000" y="1397000"/>
            <a:ext cx="10668000" cy="1143000"/>
          </a:xfrm>
          <a:prstGeom prst="roundRect">
            <a:avLst>
              <a:gd name="adj" fmla="val 8888"/>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1016000" y="15875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dirty="0" err="1">
                <a:solidFill>
                  <a:srgbClr val="2D3748"/>
                </a:solidFill>
                <a:latin typeface="Noto Sans SC"/>
                <a:ea typeface="Noto Sans SC"/>
                <a:cs typeface="Noto Sans SC"/>
                <a:sym typeface="Noto Sans SC"/>
              </a:rPr>
              <a:t>核心观点</a:t>
            </a:r>
            <a:r>
              <a:rPr lang="en-US" sz="1500" b="1" i="0" u="none" strike="noStrike" dirty="0">
                <a:solidFill>
                  <a:srgbClr val="2D3748"/>
                </a:solidFill>
                <a:latin typeface="Noto Sans SC"/>
                <a:ea typeface="Noto Sans SC"/>
                <a:cs typeface="Noto Sans SC"/>
                <a:sym typeface="Noto Sans SC"/>
              </a:rPr>
              <a:t>：</a:t>
            </a:r>
            <a:r>
              <a:rPr lang="zh-CN" altLang="en-US" sz="1400" b="0" i="0" u="none" strike="noStrike" dirty="0">
                <a:solidFill>
                  <a:srgbClr val="4A5568"/>
                </a:solidFill>
                <a:latin typeface="Noto Sans SC"/>
                <a:ea typeface="Noto Sans SC"/>
                <a:cs typeface="Noto Sans SC"/>
                <a:sym typeface="Noto Sans SC"/>
              </a:rPr>
              <a:t>原始的</a:t>
            </a:r>
            <a:r>
              <a:rPr lang="en-US" altLang="zh-CN" sz="1400" b="0" i="0" u="none" strike="noStrike" dirty="0">
                <a:solidFill>
                  <a:srgbClr val="4A5568"/>
                </a:solidFill>
                <a:latin typeface="Noto Sans SC"/>
                <a:ea typeface="Noto Sans SC"/>
                <a:cs typeface="Noto Sans SC"/>
                <a:sym typeface="Noto Sans SC"/>
              </a:rPr>
              <a:t>FFT</a:t>
            </a:r>
            <a:r>
              <a:rPr lang="zh-CN" altLang="en-US" sz="1400" b="0" i="0" u="none" strike="noStrike" dirty="0">
                <a:solidFill>
                  <a:srgbClr val="4A5568"/>
                </a:solidFill>
                <a:latin typeface="Noto Sans SC"/>
                <a:ea typeface="Noto Sans SC"/>
                <a:cs typeface="Noto Sans SC"/>
                <a:sym typeface="Noto Sans SC"/>
              </a:rPr>
              <a:t>实现虽有优化空间，但已完整采纳</a:t>
            </a:r>
            <a:r>
              <a:rPr lang="en-US" altLang="zh-CN" sz="1400" b="0" i="0" u="none" strike="noStrike" dirty="0">
                <a:solidFill>
                  <a:srgbClr val="4A5568"/>
                </a:solidFill>
                <a:latin typeface="Noto Sans SC"/>
                <a:ea typeface="Noto Sans SC"/>
                <a:cs typeface="Noto Sans SC"/>
                <a:sym typeface="Noto Sans SC"/>
              </a:rPr>
              <a:t>FFT</a:t>
            </a:r>
            <a:r>
              <a:rPr lang="zh-CN" altLang="en-US" sz="1400" b="0" i="0" u="none" strike="noStrike" dirty="0">
                <a:solidFill>
                  <a:srgbClr val="4A5568"/>
                </a:solidFill>
                <a:latin typeface="Noto Sans SC"/>
                <a:ea typeface="Noto Sans SC"/>
                <a:cs typeface="Noto Sans SC"/>
                <a:sym typeface="Noto Sans SC"/>
              </a:rPr>
              <a:t>最核心的数学思想</a:t>
            </a:r>
            <a:r>
              <a:rPr lang="en-US" sz="1400" b="0" i="0" u="none" strike="noStrike" dirty="0">
                <a:solidFill>
                  <a:srgbClr val="4A5568"/>
                </a:solidFill>
                <a:latin typeface="Noto Sans SC"/>
                <a:ea typeface="Noto Sans SC"/>
                <a:cs typeface="Noto Sans SC"/>
                <a:sym typeface="Noto Sans SC"/>
              </a:rPr>
              <a:t>——</a:t>
            </a:r>
            <a:r>
              <a:rPr lang="en-US" sz="1400" b="0" i="0" u="none" strike="noStrike" dirty="0" err="1">
                <a:solidFill>
                  <a:srgbClr val="4A5568"/>
                </a:solidFill>
                <a:latin typeface="Noto Sans SC"/>
                <a:ea typeface="Noto Sans SC"/>
                <a:cs typeface="Noto Sans SC"/>
                <a:sym typeface="Noto Sans SC"/>
              </a:rPr>
              <a:t>从朴素DFT演进而来的</a:t>
            </a:r>
            <a:r>
              <a:rPr lang="en-US" sz="1400" b="1" i="0" u="none" strike="noStrike" dirty="0" err="1">
                <a:solidFill>
                  <a:srgbClr val="3182CE"/>
                </a:solidFill>
                <a:latin typeface="Noto Sans SC"/>
                <a:ea typeface="Noto Sans SC"/>
                <a:cs typeface="Noto Sans SC"/>
                <a:sym typeface="Noto Sans SC"/>
              </a:rPr>
              <a:t>O</a:t>
            </a:r>
            <a:r>
              <a:rPr lang="en-US" sz="1400" b="1" i="0" u="none" strike="noStrike" dirty="0">
                <a:solidFill>
                  <a:srgbClr val="3182CE"/>
                </a:solidFill>
                <a:latin typeface="Noto Sans SC"/>
                <a:ea typeface="Noto Sans SC"/>
                <a:cs typeface="Noto Sans SC"/>
                <a:sym typeface="Noto Sans SC"/>
              </a:rPr>
              <a:t>(N log N)</a:t>
            </a:r>
            <a:r>
              <a:rPr lang="en-US" sz="1400" b="0" i="0" u="none" strike="noStrike" dirty="0" err="1">
                <a:solidFill>
                  <a:srgbClr val="4A5568"/>
                </a:solidFill>
                <a:latin typeface="Noto Sans SC"/>
                <a:ea typeface="Noto Sans SC"/>
                <a:cs typeface="Noto Sans SC"/>
                <a:sym typeface="Noto Sans SC"/>
              </a:rPr>
              <a:t>复杂度算法，是所有后续工程优化的基石</a:t>
            </a:r>
            <a:r>
              <a:rPr lang="en-US" sz="1400" b="0" i="0" u="none" strike="noStrike" dirty="0">
                <a:solidFill>
                  <a:srgbClr val="4A5568"/>
                </a:solidFill>
                <a:latin typeface="Noto Sans SC"/>
                <a:ea typeface="Noto Sans SC"/>
                <a:cs typeface="Noto Sans SC"/>
                <a:sym typeface="Noto Sans SC"/>
              </a:rPr>
              <a:t>。</a:t>
            </a:r>
            <a:endParaRPr lang="en-US" sz="1100" dirty="0"/>
          </a:p>
        </p:txBody>
      </p:sp>
      <p:sp>
        <p:nvSpPr>
          <p:cNvPr id="6" name="AutoShape 6"/>
          <p:cNvSpPr/>
          <p:nvPr/>
        </p:nvSpPr>
        <p:spPr>
          <a:xfrm>
            <a:off x="762000" y="2794000"/>
            <a:ext cx="3429000" cy="1841500"/>
          </a:xfrm>
          <a:prstGeom prst="roundRect">
            <a:avLst>
              <a:gd name="adj" fmla="val 413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984500"/>
            <a:ext cx="355600" cy="355600"/>
          </a:xfrm>
          <a:prstGeom prst="rect">
            <a:avLst/>
          </a:prstGeom>
        </p:spPr>
      </p:pic>
      <p:sp>
        <p:nvSpPr>
          <p:cNvPr id="8" name="AutoShape 8"/>
          <p:cNvSpPr/>
          <p:nvPr/>
        </p:nvSpPr>
        <p:spPr>
          <a:xfrm>
            <a:off x="1460500" y="2946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算法级跨越：复杂度骤降</a:t>
            </a:r>
            <a:endParaRPr lang="en-US" sz="1100"/>
          </a:p>
        </p:txBody>
      </p:sp>
      <p:sp>
        <p:nvSpPr>
          <p:cNvPr id="9" name="AutoShape 9"/>
          <p:cNvSpPr/>
          <p:nvPr/>
        </p:nvSpPr>
        <p:spPr>
          <a:xfrm>
            <a:off x="952500" y="3556000"/>
            <a:ext cx="3048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A5568"/>
                </a:solidFill>
                <a:latin typeface="Noto Sans SC"/>
                <a:ea typeface="Noto Sans SC"/>
                <a:cs typeface="Noto Sans SC"/>
                <a:sym typeface="Noto Sans SC"/>
              </a:rPr>
              <a:t>突破朴素DFT的</a:t>
            </a:r>
            <a:r>
              <a:rPr lang="en-US" sz="1200" b="1" i="0" u="none" strike="noStrike">
                <a:solidFill>
                  <a:srgbClr val="4A5568"/>
                </a:solidFill>
                <a:latin typeface="Noto Sans SC"/>
                <a:ea typeface="Noto Sans SC"/>
                <a:cs typeface="Noto Sans SC"/>
                <a:sym typeface="Noto Sans SC"/>
              </a:rPr>
              <a:t>O(N²)</a:t>
            </a:r>
            <a:r>
              <a:rPr lang="en-US" sz="1200" b="0" i="0" u="none" strike="noStrike">
                <a:solidFill>
                  <a:srgbClr val="4A5568"/>
                </a:solidFill>
                <a:latin typeface="Noto Sans SC"/>
                <a:ea typeface="Noto Sans SC"/>
                <a:cs typeface="Noto Sans SC"/>
                <a:sym typeface="Noto Sans SC"/>
              </a:rPr>
              <a:t>高复杂度，利用数学性质将其降低至</a:t>
            </a:r>
            <a:r>
              <a:rPr lang="en-US" sz="1200" b="1" i="0" u="none" strike="noStrike">
                <a:solidFill>
                  <a:srgbClr val="4A5568"/>
                </a:solidFill>
                <a:latin typeface="Noto Sans SC"/>
                <a:ea typeface="Noto Sans SC"/>
                <a:cs typeface="Noto Sans SC"/>
                <a:sym typeface="Noto Sans SC"/>
              </a:rPr>
              <a:t>O(N log N)</a:t>
            </a:r>
            <a:r>
              <a:rPr lang="en-US" sz="1200" b="0" i="0" u="none" strike="noStrike">
                <a:solidFill>
                  <a:srgbClr val="4A5568"/>
                </a:solidFill>
                <a:latin typeface="Noto Sans SC"/>
                <a:ea typeface="Noto Sans SC"/>
                <a:cs typeface="Noto Sans SC"/>
                <a:sym typeface="Noto Sans SC"/>
              </a:rPr>
              <a:t>，实现计算效率的质的飞跃。</a:t>
            </a:r>
            <a:endParaRPr lang="en-US" sz="1100"/>
          </a:p>
        </p:txBody>
      </p:sp>
      <p:sp>
        <p:nvSpPr>
          <p:cNvPr id="10" name="AutoShape 10"/>
          <p:cNvSpPr/>
          <p:nvPr/>
        </p:nvSpPr>
        <p:spPr>
          <a:xfrm>
            <a:off x="4445000" y="2794000"/>
            <a:ext cx="3429000" cy="1841500"/>
          </a:xfrm>
          <a:prstGeom prst="roundRect">
            <a:avLst>
              <a:gd name="adj" fmla="val 413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984500"/>
            <a:ext cx="355600" cy="355600"/>
          </a:xfrm>
          <a:prstGeom prst="rect">
            <a:avLst/>
          </a:prstGeom>
        </p:spPr>
      </p:pic>
      <p:sp>
        <p:nvSpPr>
          <p:cNvPr id="12" name="AutoShape 12"/>
          <p:cNvSpPr/>
          <p:nvPr/>
        </p:nvSpPr>
        <p:spPr>
          <a:xfrm>
            <a:off x="5143500" y="2946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分治 (Divide &amp; Conquer)</a:t>
            </a:r>
            <a:endParaRPr lang="en-US" sz="1100"/>
          </a:p>
        </p:txBody>
      </p:sp>
      <p:sp>
        <p:nvSpPr>
          <p:cNvPr id="13" name="AutoShape 13"/>
          <p:cNvSpPr/>
          <p:nvPr/>
        </p:nvSpPr>
        <p:spPr>
          <a:xfrm>
            <a:off x="4635500" y="3556000"/>
            <a:ext cx="3048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200" b="0" i="0" u="none" strike="noStrike" dirty="0">
                <a:solidFill>
                  <a:srgbClr val="4A5568"/>
                </a:solidFill>
                <a:latin typeface="Noto Sans SC"/>
                <a:ea typeface="Noto Sans SC"/>
                <a:cs typeface="Noto Sans SC"/>
                <a:sym typeface="Noto Sans SC"/>
              </a:rPr>
              <a:t>将长序列按奇偶下标‘拆分’为子序列，逐层求解子问题</a:t>
            </a:r>
            <a:r>
              <a:rPr lang="en-US" sz="1200" b="0" i="0" u="none" strike="noStrike" dirty="0">
                <a:solidFill>
                  <a:srgbClr val="4A5568"/>
                </a:solidFill>
                <a:latin typeface="Noto Sans SC"/>
                <a:ea typeface="Noto Sans SC"/>
                <a:cs typeface="Noto Sans SC"/>
                <a:sym typeface="Noto Sans SC"/>
              </a:rPr>
              <a:t>，最后将结果高效“</a:t>
            </a:r>
            <a:r>
              <a:rPr lang="en-US" sz="1200" b="0" i="0" u="none" strike="noStrike" dirty="0" err="1">
                <a:solidFill>
                  <a:srgbClr val="4A5568"/>
                </a:solidFill>
                <a:latin typeface="Noto Sans SC"/>
                <a:ea typeface="Noto Sans SC"/>
                <a:cs typeface="Noto Sans SC"/>
                <a:sym typeface="Noto Sans SC"/>
              </a:rPr>
              <a:t>合并</a:t>
            </a:r>
            <a:r>
              <a:rPr lang="en-US" sz="1200" b="0" i="0" u="none" strike="noStrike" dirty="0">
                <a:solidFill>
                  <a:srgbClr val="4A5568"/>
                </a:solidFill>
                <a:latin typeface="Noto Sans SC"/>
                <a:ea typeface="Noto Sans SC"/>
                <a:cs typeface="Noto Sans SC"/>
                <a:sym typeface="Noto Sans SC"/>
              </a:rPr>
              <a:t>”，</a:t>
            </a:r>
            <a:r>
              <a:rPr lang="en-US" sz="1200" b="0" i="0" u="none" strike="noStrike" dirty="0" err="1">
                <a:solidFill>
                  <a:srgbClr val="4A5568"/>
                </a:solidFill>
                <a:latin typeface="Noto Sans SC"/>
                <a:ea typeface="Noto Sans SC"/>
                <a:cs typeface="Noto Sans SC"/>
                <a:sym typeface="Noto Sans SC"/>
              </a:rPr>
              <a:t>化繁为简</a:t>
            </a:r>
            <a:r>
              <a:rPr lang="en-US" sz="1200" b="0" i="0" u="none" strike="noStrike" dirty="0">
                <a:solidFill>
                  <a:srgbClr val="4A5568"/>
                </a:solidFill>
                <a:latin typeface="Noto Sans SC"/>
                <a:ea typeface="Noto Sans SC"/>
                <a:cs typeface="Noto Sans SC"/>
                <a:sym typeface="Noto Sans SC"/>
              </a:rPr>
              <a:t>。</a:t>
            </a:r>
            <a:endParaRPr lang="en-US" sz="1100" dirty="0"/>
          </a:p>
        </p:txBody>
      </p:sp>
      <p:sp>
        <p:nvSpPr>
          <p:cNvPr id="14" name="AutoShape 14"/>
          <p:cNvSpPr/>
          <p:nvPr/>
        </p:nvSpPr>
        <p:spPr>
          <a:xfrm>
            <a:off x="762000" y="4826000"/>
            <a:ext cx="3429000" cy="1841500"/>
          </a:xfrm>
          <a:prstGeom prst="roundRect">
            <a:avLst>
              <a:gd name="adj" fmla="val 413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016500"/>
            <a:ext cx="355600" cy="355600"/>
          </a:xfrm>
          <a:prstGeom prst="rect">
            <a:avLst/>
          </a:prstGeom>
        </p:spPr>
      </p:pic>
      <p:sp>
        <p:nvSpPr>
          <p:cNvPr id="16" name="AutoShape 16"/>
          <p:cNvSpPr/>
          <p:nvPr/>
        </p:nvSpPr>
        <p:spPr>
          <a:xfrm>
            <a:off x="1460500" y="4978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蝶形运算 (Butterfly)</a:t>
            </a:r>
            <a:endParaRPr lang="en-US" sz="1100"/>
          </a:p>
        </p:txBody>
      </p:sp>
      <p:sp>
        <p:nvSpPr>
          <p:cNvPr id="17" name="AutoShape 17"/>
          <p:cNvSpPr/>
          <p:nvPr/>
        </p:nvSpPr>
        <p:spPr>
          <a:xfrm>
            <a:off x="952500" y="5588000"/>
            <a:ext cx="3048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A5568"/>
                </a:solidFill>
                <a:latin typeface="Noto Sans SC"/>
                <a:ea typeface="Noto Sans SC"/>
                <a:cs typeface="Noto Sans SC"/>
                <a:sym typeface="Noto Sans SC"/>
              </a:rPr>
              <a:t>利用旋转因子</a:t>
            </a:r>
            <a:r>
              <a:rPr lang="en-US" sz="1200" b="0" i="1" u="none" strike="noStrike">
                <a:solidFill>
                  <a:srgbClr val="4A5568"/>
                </a:solidFill>
                <a:latin typeface="Times New Roman"/>
                <a:ea typeface="Times New Roman"/>
                <a:cs typeface="Times New Roman"/>
                <a:sym typeface="Times New Roman"/>
              </a:rPr>
              <a:t>W</a:t>
            </a:r>
            <a:r>
              <a:rPr lang="en-US" sz="1000" b="0" i="0" u="none" strike="noStrike">
                <a:solidFill>
                  <a:srgbClr val="4A5568"/>
                </a:solidFill>
                <a:latin typeface="Times New Roman"/>
                <a:ea typeface="Times New Roman"/>
                <a:cs typeface="Times New Roman"/>
                <a:sym typeface="Times New Roman"/>
              </a:rPr>
              <a:t>N</a:t>
            </a:r>
            <a:r>
              <a:rPr lang="en-US" sz="1200" b="0" i="1" u="none" strike="noStrike">
                <a:solidFill>
                  <a:srgbClr val="4A5568"/>
                </a:solidFill>
                <a:latin typeface="Times New Roman"/>
                <a:ea typeface="Times New Roman"/>
                <a:cs typeface="Times New Roman"/>
                <a:sym typeface="Times New Roman"/>
              </a:rPr>
              <a:t>k</a:t>
            </a:r>
            <a:r>
              <a:rPr lang="en-US" sz="1200" b="0" i="0" u="none" strike="noStrike">
                <a:solidFill>
                  <a:srgbClr val="4A5568"/>
                </a:solidFill>
                <a:latin typeface="Noto Sans SC"/>
                <a:ea typeface="Noto Sans SC"/>
                <a:cs typeface="Noto Sans SC"/>
                <a:sym typeface="Noto Sans SC"/>
              </a:rPr>
              <a:t>的周期性与对称性，在合并阶段大幅减少冗余计算，是效率的关键。</a:t>
            </a:r>
            <a:endParaRPr lang="en-US" sz="1100"/>
          </a:p>
        </p:txBody>
      </p:sp>
      <p:sp>
        <p:nvSpPr>
          <p:cNvPr id="18" name="AutoShape 18"/>
          <p:cNvSpPr/>
          <p:nvPr/>
        </p:nvSpPr>
        <p:spPr>
          <a:xfrm>
            <a:off x="4445000" y="4826000"/>
            <a:ext cx="3429000" cy="1841500"/>
          </a:xfrm>
          <a:prstGeom prst="roundRect">
            <a:avLst>
              <a:gd name="adj" fmla="val 413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5016500"/>
            <a:ext cx="355600" cy="355600"/>
          </a:xfrm>
          <a:prstGeom prst="rect">
            <a:avLst/>
          </a:prstGeom>
        </p:spPr>
      </p:pic>
      <p:sp>
        <p:nvSpPr>
          <p:cNvPr id="20" name="AutoShape 20"/>
          <p:cNvSpPr/>
          <p:nvPr/>
        </p:nvSpPr>
        <p:spPr>
          <a:xfrm>
            <a:off x="5143500" y="4978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复数形式统一表示</a:t>
            </a:r>
            <a:endParaRPr lang="en-US" sz="1100"/>
          </a:p>
        </p:txBody>
      </p:sp>
      <p:sp>
        <p:nvSpPr>
          <p:cNvPr id="21" name="AutoShape 21"/>
          <p:cNvSpPr/>
          <p:nvPr/>
        </p:nvSpPr>
        <p:spPr>
          <a:xfrm>
            <a:off x="4635500" y="5588000"/>
            <a:ext cx="3048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4A5568"/>
                </a:solidFill>
                <a:latin typeface="Noto Sans SC"/>
                <a:ea typeface="Noto Sans SC"/>
                <a:cs typeface="Noto Sans SC"/>
                <a:sym typeface="Noto Sans SC"/>
              </a:rPr>
              <a:t>统一使用实部与虚部来处理信号的幅度与相位信息，既简化了公式表达，也便于计算机统一处理。</a:t>
            </a:r>
            <a:endParaRPr lang="en-US" sz="1100"/>
          </a:p>
        </p:txBody>
      </p:sp>
      <p:pic>
        <p:nvPicPr>
          <p:cNvPr id="25" name="图片 24">
            <a:extLst>
              <a:ext uri="{FF2B5EF4-FFF2-40B4-BE49-F238E27FC236}">
                <a16:creationId xmlns:a16="http://schemas.microsoft.com/office/drawing/2014/main" id="{FC0DA701-102D-934B-6781-FB755B1F6FDC}"/>
              </a:ext>
            </a:extLst>
          </p:cNvPr>
          <p:cNvPicPr>
            <a:picLocks noChangeAspect="1"/>
          </p:cNvPicPr>
          <p:nvPr/>
        </p:nvPicPr>
        <p:blipFill>
          <a:blip r:embed="rId8"/>
          <a:stretch>
            <a:fillRect/>
          </a:stretch>
        </p:blipFill>
        <p:spPr>
          <a:xfrm>
            <a:off x="7919641" y="2474248"/>
            <a:ext cx="3809206" cy="43225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dirty="0">
                <a:solidFill>
                  <a:srgbClr val="2D3748"/>
                </a:solidFill>
                <a:latin typeface="Noto Sans SC"/>
                <a:ea typeface="Noto Sans SC"/>
                <a:cs typeface="Noto Sans SC"/>
                <a:sym typeface="Noto Sans SC"/>
              </a:rPr>
              <a:t>原始版本（</a:t>
            </a:r>
            <a:r>
              <a:rPr lang="en-US" altLang="zh-CN" sz="3200" b="1" i="0" u="none" strike="noStrike" dirty="0">
                <a:solidFill>
                  <a:srgbClr val="2D3748"/>
                </a:solidFill>
                <a:latin typeface="Noto Sans SC"/>
                <a:ea typeface="Noto Sans SC"/>
                <a:cs typeface="Noto Sans SC"/>
                <a:sym typeface="Noto Sans SC"/>
              </a:rPr>
              <a:t>V0</a:t>
            </a:r>
            <a:r>
              <a:rPr lang="zh-CN" altLang="en-US" sz="3200" b="1" i="0" u="none" strike="noStrike" dirty="0">
                <a:solidFill>
                  <a:srgbClr val="2D3748"/>
                </a:solidFill>
                <a:latin typeface="Noto Sans SC"/>
                <a:ea typeface="Noto Sans SC"/>
                <a:cs typeface="Noto Sans SC"/>
                <a:sym typeface="Noto Sans SC"/>
              </a:rPr>
              <a:t>）为什么还有优化空间</a:t>
            </a:r>
            <a:r>
              <a:rPr lang="en-US" sz="3200" b="1" i="0" u="none" strike="noStrike" dirty="0">
                <a:solidFill>
                  <a:srgbClr val="2D3748"/>
                </a:solidFill>
                <a:latin typeface="Noto Sans SC"/>
                <a:ea typeface="Noto Sans SC"/>
                <a:cs typeface="Noto Sans SC"/>
                <a:sym typeface="Noto Sans SC"/>
              </a:rPr>
              <a:t>？</a:t>
            </a:r>
            <a:endParaRPr lang="en-US" sz="1100" dirty="0"/>
          </a:p>
        </p:txBody>
      </p:sp>
      <p:sp>
        <p:nvSpPr>
          <p:cNvPr id="4" name="AutoShape 4"/>
          <p:cNvSpPr/>
          <p:nvPr/>
        </p:nvSpPr>
        <p:spPr>
          <a:xfrm>
            <a:off x="762000" y="1270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dirty="0">
                <a:solidFill>
                  <a:srgbClr val="4A5568"/>
                </a:solidFill>
                <a:latin typeface="Noto Sans SC"/>
                <a:ea typeface="Noto Sans SC"/>
                <a:cs typeface="Noto Sans SC"/>
                <a:sym typeface="Noto Sans SC"/>
              </a:rPr>
              <a:t>原始版本（</a:t>
            </a:r>
            <a:r>
              <a:rPr lang="en-US" sz="1400" b="0" i="0" u="none" strike="noStrike" dirty="0" err="1">
                <a:solidFill>
                  <a:srgbClr val="4A5568"/>
                </a:solidFill>
                <a:latin typeface="Noto Sans SC"/>
                <a:ea typeface="Noto Sans SC"/>
                <a:cs typeface="Noto Sans SC"/>
                <a:sym typeface="Noto Sans SC"/>
              </a:rPr>
              <a:t>test_original.c</a:t>
            </a:r>
            <a:r>
              <a:rPr lang="en-US" sz="1400" b="0" i="0" u="none" strike="noStrike" dirty="0">
                <a:solidFill>
                  <a:srgbClr val="4A5568"/>
                </a:solidFill>
                <a:latin typeface="Noto Sans SC"/>
                <a:ea typeface="Noto Sans SC"/>
                <a:cs typeface="Noto Sans SC"/>
                <a:sym typeface="Noto Sans SC"/>
              </a:rPr>
              <a:t>）</a:t>
            </a:r>
            <a:r>
              <a:rPr lang="zh-CN" altLang="en-US" sz="1400" b="0" i="0" u="none" strike="noStrike" dirty="0">
                <a:solidFill>
                  <a:srgbClr val="4A5568"/>
                </a:solidFill>
                <a:latin typeface="Noto Sans SC"/>
                <a:ea typeface="Noto Sans SC"/>
                <a:cs typeface="Noto Sans SC"/>
                <a:sym typeface="Noto Sans SC"/>
              </a:rPr>
              <a:t>已采用预计算旋转因子 </a:t>
            </a:r>
            <a:r>
              <a:rPr lang="en-US" altLang="zh-CN" sz="1400" b="0" i="0" u="none" strike="noStrike" dirty="0">
                <a:solidFill>
                  <a:srgbClr val="4A5568"/>
                </a:solidFill>
                <a:latin typeface="Noto Sans SC"/>
                <a:ea typeface="Noto Sans SC"/>
                <a:cs typeface="Noto Sans SC"/>
                <a:sym typeface="Noto Sans SC"/>
              </a:rPr>
              <a:t>+ </a:t>
            </a:r>
            <a:r>
              <a:rPr lang="zh-CN" altLang="en-US" sz="1400" b="0" i="0" u="none" strike="noStrike" dirty="0">
                <a:solidFill>
                  <a:srgbClr val="4A5568"/>
                </a:solidFill>
                <a:latin typeface="Noto Sans SC"/>
                <a:ea typeface="Noto Sans SC"/>
                <a:cs typeface="Noto Sans SC"/>
                <a:sym typeface="Noto Sans SC"/>
              </a:rPr>
              <a:t>部分</a:t>
            </a:r>
            <a:r>
              <a:rPr lang="en-US" sz="1400" b="0" i="0" u="none" strike="noStrike" dirty="0">
                <a:solidFill>
                  <a:srgbClr val="4A5568"/>
                </a:solidFill>
                <a:latin typeface="Noto Sans SC"/>
                <a:ea typeface="Noto Sans SC"/>
                <a:cs typeface="Noto Sans SC"/>
                <a:sym typeface="Noto Sans SC"/>
              </a:rPr>
              <a:t>NEON</a:t>
            </a:r>
            <a:r>
              <a:rPr lang="zh-CN" altLang="en-US" sz="1400" b="0" i="0" u="none" strike="noStrike" dirty="0">
                <a:solidFill>
                  <a:srgbClr val="4A5568"/>
                </a:solidFill>
                <a:latin typeface="Noto Sans SC"/>
                <a:ea typeface="Noto Sans SC"/>
                <a:cs typeface="Noto Sans SC"/>
                <a:sym typeface="Noto Sans SC"/>
              </a:rPr>
              <a:t>指令，但仍在以下几个方面存在优化空间</a:t>
            </a:r>
            <a:r>
              <a:rPr lang="en-US" sz="1400" b="0" i="0" u="none" strike="noStrike" dirty="0">
                <a:solidFill>
                  <a:srgbClr val="4A5568"/>
                </a:solidFill>
                <a:latin typeface="Noto Sans SC"/>
                <a:ea typeface="Noto Sans SC"/>
                <a:cs typeface="Noto Sans SC"/>
                <a:sym typeface="Noto Sans SC"/>
              </a:rPr>
              <a:t>。</a:t>
            </a:r>
            <a:endParaRPr lang="en-US" sz="1100" dirty="0"/>
          </a:p>
        </p:txBody>
      </p:sp>
      <p:sp>
        <p:nvSpPr>
          <p:cNvPr id="5" name="AutoShape 5"/>
          <p:cNvSpPr/>
          <p:nvPr/>
        </p:nvSpPr>
        <p:spPr>
          <a:xfrm>
            <a:off x="762000" y="2032000"/>
            <a:ext cx="3302000" cy="2159000"/>
          </a:xfrm>
          <a:prstGeom prst="roundRect">
            <a:avLst>
              <a:gd name="adj" fmla="val 4705"/>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222500"/>
            <a:ext cx="304800" cy="304800"/>
          </a:xfrm>
          <a:prstGeom prst="rect">
            <a:avLst/>
          </a:prstGeom>
        </p:spPr>
      </p:pic>
      <p:sp>
        <p:nvSpPr>
          <p:cNvPr id="7" name="AutoShape 7"/>
          <p:cNvSpPr/>
          <p:nvPr/>
        </p:nvSpPr>
        <p:spPr>
          <a:xfrm>
            <a:off x="1397000" y="2184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D3748"/>
                </a:solidFill>
                <a:latin typeface="Noto Sans SC"/>
                <a:ea typeface="Noto Sans SC"/>
                <a:cs typeface="Noto Sans SC"/>
                <a:sym typeface="Noto Sans SC"/>
              </a:rPr>
              <a:t>NEON </a:t>
            </a:r>
            <a:r>
              <a:rPr lang="zh-CN" altLang="en-US" sz="1600" b="1" i="0" u="none" strike="noStrike" dirty="0">
                <a:solidFill>
                  <a:srgbClr val="2D3748"/>
                </a:solidFill>
                <a:latin typeface="Noto Sans SC"/>
                <a:ea typeface="Noto Sans SC"/>
                <a:cs typeface="Noto Sans SC"/>
                <a:sym typeface="Noto Sans SC"/>
              </a:rPr>
              <a:t>指令使用不充分</a:t>
            </a:r>
            <a:endParaRPr lang="en-US" sz="1100" dirty="0"/>
          </a:p>
        </p:txBody>
      </p:sp>
      <p:sp>
        <p:nvSpPr>
          <p:cNvPr id="8" name="AutoShape 8"/>
          <p:cNvSpPr/>
          <p:nvPr/>
        </p:nvSpPr>
        <p:spPr>
          <a:xfrm>
            <a:off x="952500" y="27940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dirty="0">
                <a:solidFill>
                  <a:srgbClr val="4A5568"/>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仅 </a:t>
            </a:r>
            <a:r>
              <a:rPr lang="en-US" altLang="zh-CN" sz="1200" b="0" i="0" u="none" strike="noStrike" dirty="0">
                <a:solidFill>
                  <a:srgbClr val="4A5568"/>
                </a:solidFill>
                <a:latin typeface="Noto Sans SC"/>
                <a:ea typeface="Noto Sans SC"/>
                <a:cs typeface="Noto Sans SC"/>
                <a:sym typeface="Noto Sans SC"/>
              </a:rPr>
              <a:t>le &gt; 4 </a:t>
            </a:r>
            <a:r>
              <a:rPr lang="zh-CN" altLang="en-US" sz="1200" b="0" i="0" u="none" strike="noStrike" dirty="0">
                <a:solidFill>
                  <a:srgbClr val="4A5568"/>
                </a:solidFill>
                <a:latin typeface="Noto Sans SC"/>
                <a:ea typeface="Noto Sans SC"/>
                <a:cs typeface="Noto Sans SC"/>
                <a:sym typeface="Noto Sans SC"/>
              </a:rPr>
              <a:t>时启用 </a:t>
            </a:r>
            <a:r>
              <a:rPr lang="en-US" altLang="zh-CN" sz="1200" b="0" i="0" u="none" strike="noStrike" dirty="0">
                <a:solidFill>
                  <a:srgbClr val="4A5568"/>
                </a:solidFill>
                <a:latin typeface="Noto Sans SC"/>
                <a:ea typeface="Noto Sans SC"/>
                <a:cs typeface="Noto Sans SC"/>
                <a:sym typeface="Noto Sans SC"/>
              </a:rPr>
              <a:t>NEON</a:t>
            </a:r>
            <a:r>
              <a:rPr lang="zh-CN" altLang="en-US" sz="1200" b="0" i="0" u="none" strike="noStrike" dirty="0">
                <a:solidFill>
                  <a:srgbClr val="4A5568"/>
                </a:solidFill>
                <a:latin typeface="Noto Sans SC"/>
                <a:ea typeface="Noto Sans SC"/>
                <a:cs typeface="Noto Sans SC"/>
                <a:sym typeface="Noto Sans SC"/>
              </a:rPr>
              <a:t>，小规模蝶形仍用标量</a:t>
            </a:r>
          </a:p>
          <a:p>
            <a:pPr indent="0" algn="l">
              <a:lnSpc>
                <a:spcPct val="108333"/>
              </a:lnSpc>
              <a:defRPr/>
            </a:pP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未使用融合乘加指令（</a:t>
            </a:r>
            <a:r>
              <a:rPr lang="en-US" altLang="zh-CN" sz="1200" b="0" i="0" u="none" strike="noStrike" dirty="0">
                <a:solidFill>
                  <a:srgbClr val="4A5568"/>
                </a:solidFill>
                <a:latin typeface="Noto Sans SC"/>
                <a:ea typeface="Noto Sans SC"/>
                <a:cs typeface="Noto Sans SC"/>
                <a:sym typeface="Noto Sans SC"/>
              </a:rPr>
              <a:t>vmlaq_f32</a:t>
            </a:r>
            <a:r>
              <a:rPr lang="zh-CN" altLang="en-US" sz="1200" b="0" i="0" u="none" strike="noStrike" dirty="0">
                <a:solidFill>
                  <a:srgbClr val="4A5568"/>
                </a:solidFill>
                <a:latin typeface="Noto Sans SC"/>
                <a:ea typeface="Noto Sans SC"/>
                <a:cs typeface="Noto Sans SC"/>
                <a:sym typeface="Noto Sans SC"/>
              </a:rPr>
              <a:t>），多了一条乘法指令</a:t>
            </a:r>
            <a:r>
              <a:rPr lang="en-US" sz="1200" b="0" i="0" u="none" strike="noStrike" dirty="0">
                <a:solidFill>
                  <a:srgbClr val="4A5568"/>
                </a:solidFill>
                <a:latin typeface="Noto Sans SC"/>
                <a:ea typeface="Noto Sans SC"/>
                <a:cs typeface="Noto Sans SC"/>
                <a:sym typeface="Noto Sans SC"/>
              </a:rPr>
              <a:t>空</a:t>
            </a:r>
          </a:p>
        </p:txBody>
      </p:sp>
      <p:sp>
        <p:nvSpPr>
          <p:cNvPr id="9" name="AutoShape 9"/>
          <p:cNvSpPr/>
          <p:nvPr/>
        </p:nvSpPr>
        <p:spPr>
          <a:xfrm>
            <a:off x="4445000" y="2032000"/>
            <a:ext cx="3302000" cy="2159000"/>
          </a:xfrm>
          <a:prstGeom prst="roundRect">
            <a:avLst>
              <a:gd name="adj" fmla="val 4705"/>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dirty="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222500"/>
            <a:ext cx="304800" cy="304800"/>
          </a:xfrm>
          <a:prstGeom prst="rect">
            <a:avLst/>
          </a:prstGeom>
        </p:spPr>
      </p:pic>
      <p:sp>
        <p:nvSpPr>
          <p:cNvPr id="11" name="AutoShape 11"/>
          <p:cNvSpPr/>
          <p:nvPr/>
        </p:nvSpPr>
        <p:spPr>
          <a:xfrm>
            <a:off x="5080000" y="2184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dirty="0">
                <a:solidFill>
                  <a:srgbClr val="2D3748"/>
                </a:solidFill>
                <a:latin typeface="Noto Sans SC"/>
                <a:ea typeface="Noto Sans SC"/>
                <a:cs typeface="Noto Sans SC"/>
                <a:sym typeface="Noto Sans SC"/>
              </a:rPr>
              <a:t>内存带宽成为最终瓶颈</a:t>
            </a:r>
            <a:endParaRPr lang="en-US" sz="1100" dirty="0"/>
          </a:p>
        </p:txBody>
      </p:sp>
      <p:sp>
        <p:nvSpPr>
          <p:cNvPr id="12" name="AutoShape 12"/>
          <p:cNvSpPr/>
          <p:nvPr/>
        </p:nvSpPr>
        <p:spPr>
          <a:xfrm>
            <a:off x="4635500" y="27940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dirty="0">
                <a:solidFill>
                  <a:srgbClr val="4A5568"/>
                </a:solidFill>
                <a:latin typeface="Noto Sans SC"/>
                <a:ea typeface="Noto Sans SC"/>
                <a:cs typeface="Noto Sans SC"/>
                <a:sym typeface="Noto Sans SC"/>
              </a:rPr>
              <a:t>•</a:t>
            </a:r>
            <a:r>
              <a:rPr lang="en-US" altLang="zh-CN" sz="1200" b="0" i="0" u="none" strike="noStrike" dirty="0">
                <a:solidFill>
                  <a:srgbClr val="4A5568"/>
                </a:solidFill>
                <a:latin typeface="Noto Sans SC"/>
                <a:ea typeface="Noto Sans SC"/>
                <a:cs typeface="Noto Sans SC"/>
                <a:sym typeface="Noto Sans SC"/>
              </a:rPr>
              <a:t>32768 </a:t>
            </a:r>
            <a:r>
              <a:rPr lang="zh-CN" altLang="en-US" sz="1200" b="0" i="0" u="none" strike="noStrike" dirty="0">
                <a:solidFill>
                  <a:srgbClr val="4A5568"/>
                </a:solidFill>
                <a:latin typeface="Noto Sans SC"/>
                <a:ea typeface="Noto Sans SC"/>
                <a:cs typeface="Noto Sans SC"/>
                <a:sym typeface="Noto Sans SC"/>
              </a:rPr>
              <a:t>点 </a:t>
            </a:r>
            <a:r>
              <a:rPr lang="en-US" altLang="zh-CN" sz="1200" b="0" i="0" u="none" strike="noStrike" dirty="0">
                <a:solidFill>
                  <a:srgbClr val="4A5568"/>
                </a:solidFill>
                <a:latin typeface="Noto Sans SC"/>
                <a:ea typeface="Noto Sans SC"/>
                <a:cs typeface="Noto Sans SC"/>
                <a:sym typeface="Noto Sans SC"/>
              </a:rPr>
              <a:t>FFT </a:t>
            </a:r>
            <a:r>
              <a:rPr lang="zh-CN" altLang="en-US" sz="1200" b="0" i="0" u="none" strike="noStrike" dirty="0">
                <a:solidFill>
                  <a:srgbClr val="4A5568"/>
                </a:solidFill>
                <a:latin typeface="Noto Sans SC"/>
                <a:ea typeface="Noto Sans SC"/>
                <a:cs typeface="Noto Sans SC"/>
                <a:sym typeface="Noto Sans SC"/>
              </a:rPr>
              <a:t>数据量 </a:t>
            </a:r>
            <a:r>
              <a:rPr lang="en-US" altLang="zh-CN" sz="1200" b="0" i="0" u="none" strike="noStrike" dirty="0">
                <a:solidFill>
                  <a:srgbClr val="4A5568"/>
                </a:solidFill>
                <a:latin typeface="Noto Sans SC"/>
                <a:ea typeface="Noto Sans SC"/>
                <a:cs typeface="Noto Sans SC"/>
                <a:sym typeface="Noto Sans SC"/>
              </a:rPr>
              <a:t>256KB</a:t>
            </a:r>
            <a:r>
              <a:rPr lang="zh-CN" altLang="en-US" sz="1200" b="0" i="0" u="none" strike="noStrike" dirty="0">
                <a:solidFill>
                  <a:srgbClr val="4A5568"/>
                </a:solidFill>
                <a:latin typeface="Noto Sans SC"/>
                <a:ea typeface="Noto Sans SC"/>
                <a:cs typeface="Noto Sans SC"/>
                <a:sym typeface="Noto Sans SC"/>
              </a:rPr>
              <a:t>，超过 </a:t>
            </a:r>
            <a:r>
              <a:rPr lang="en-US" altLang="zh-CN" sz="1200" b="0" i="0" u="none" strike="noStrike" dirty="0">
                <a:solidFill>
                  <a:srgbClr val="4A5568"/>
                </a:solidFill>
                <a:latin typeface="Noto Sans SC"/>
                <a:ea typeface="Noto Sans SC"/>
                <a:cs typeface="Noto Sans SC"/>
                <a:sym typeface="Noto Sans SC"/>
              </a:rPr>
              <a:t>L2 </a:t>
            </a:r>
            <a:r>
              <a:rPr lang="zh-CN" altLang="en-US" sz="1200" b="0" i="0" u="none" strike="noStrike" dirty="0">
                <a:solidFill>
                  <a:srgbClr val="4A5568"/>
                </a:solidFill>
                <a:latin typeface="Noto Sans SC"/>
                <a:ea typeface="Noto Sans SC"/>
                <a:cs typeface="Noto Sans SC"/>
                <a:sym typeface="Noto Sans SC"/>
              </a:rPr>
              <a:t>缓存（</a:t>
            </a:r>
            <a:r>
              <a:rPr lang="en-US" altLang="zh-CN" sz="1200" b="0" i="0" u="none" strike="noStrike" dirty="0">
                <a:solidFill>
                  <a:srgbClr val="4A5568"/>
                </a:solidFill>
                <a:latin typeface="Noto Sans SC"/>
                <a:ea typeface="Noto Sans SC"/>
                <a:cs typeface="Noto Sans SC"/>
                <a:sym typeface="Noto Sans SC"/>
              </a:rPr>
              <a:t>512KB </a:t>
            </a:r>
            <a:r>
              <a:rPr lang="zh-CN" altLang="en-US" sz="1200" b="0" i="0" u="none" strike="noStrike" dirty="0">
                <a:solidFill>
                  <a:srgbClr val="4A5568"/>
                </a:solidFill>
                <a:latin typeface="Noto Sans SC"/>
                <a:ea typeface="Noto Sans SC"/>
                <a:cs typeface="Noto Sans SC"/>
                <a:sym typeface="Noto Sans SC"/>
              </a:rPr>
              <a:t>但不全归数据用）</a:t>
            </a:r>
          </a:p>
          <a:p>
            <a:pPr indent="0" algn="l">
              <a:lnSpc>
                <a:spcPct val="108333"/>
              </a:lnSpc>
              <a:defRPr/>
            </a:pP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计算时间中，等待数据从主存搬运的时间占比上升</a:t>
            </a:r>
          </a:p>
          <a:p>
            <a:pPr indent="0" algn="l">
              <a:lnSpc>
                <a:spcPct val="108333"/>
              </a:lnSpc>
              <a:defRPr/>
            </a:pPr>
            <a:r>
              <a:rPr lang="en-US" altLang="zh-CN" sz="1200" b="0" i="0" u="none" strike="noStrike" dirty="0">
                <a:solidFill>
                  <a:srgbClr val="4A5568"/>
                </a:solidFill>
                <a:latin typeface="Noto Sans SC"/>
                <a:ea typeface="Noto Sans SC"/>
                <a:cs typeface="Noto Sans SC"/>
                <a:sym typeface="Noto Sans SC"/>
              </a:rPr>
              <a:t>· SIMD 4 </a:t>
            </a:r>
            <a:r>
              <a:rPr lang="zh-CN" altLang="en-US" sz="1200" b="0" i="0" u="none" strike="noStrike" dirty="0">
                <a:solidFill>
                  <a:srgbClr val="4A5568"/>
                </a:solidFill>
                <a:latin typeface="Noto Sans SC"/>
                <a:ea typeface="Noto Sans SC"/>
                <a:cs typeface="Noto Sans SC"/>
                <a:sym typeface="Noto Sans SC"/>
              </a:rPr>
              <a:t>路并行的理论收益被内存墙抵消</a:t>
            </a:r>
            <a:endParaRPr lang="en-US" sz="1200" b="0" i="0" u="none" strike="noStrike" dirty="0">
              <a:solidFill>
                <a:srgbClr val="4A5568"/>
              </a:solidFill>
              <a:latin typeface="Noto Sans SC"/>
              <a:ea typeface="Noto Sans SC"/>
              <a:cs typeface="Noto Sans SC"/>
              <a:sym typeface="Noto Sans SC"/>
            </a:endParaRPr>
          </a:p>
        </p:txBody>
      </p:sp>
      <p:sp>
        <p:nvSpPr>
          <p:cNvPr id="13" name="AutoShape 13"/>
          <p:cNvSpPr/>
          <p:nvPr/>
        </p:nvSpPr>
        <p:spPr>
          <a:xfrm>
            <a:off x="8128000" y="2032000"/>
            <a:ext cx="3302000" cy="2159000"/>
          </a:xfrm>
          <a:prstGeom prst="roundRect">
            <a:avLst>
              <a:gd name="adj" fmla="val 4705"/>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2222500"/>
            <a:ext cx="304800" cy="304800"/>
          </a:xfrm>
          <a:prstGeom prst="rect">
            <a:avLst/>
          </a:prstGeom>
        </p:spPr>
      </p:pic>
      <p:sp>
        <p:nvSpPr>
          <p:cNvPr id="15" name="AutoShape 15"/>
          <p:cNvSpPr/>
          <p:nvPr/>
        </p:nvSpPr>
        <p:spPr>
          <a:xfrm>
            <a:off x="8763000" y="2184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dirty="0">
                <a:solidFill>
                  <a:srgbClr val="2D3748"/>
                </a:solidFill>
                <a:latin typeface="Noto Sans SC"/>
                <a:ea typeface="Noto Sans SC"/>
                <a:cs typeface="Noto Sans SC"/>
                <a:sym typeface="Noto Sans SC"/>
              </a:rPr>
              <a:t>浮点三角函数的高频调用</a:t>
            </a:r>
            <a:endParaRPr lang="en-US" sz="1100" dirty="0"/>
          </a:p>
        </p:txBody>
      </p:sp>
      <p:sp>
        <p:nvSpPr>
          <p:cNvPr id="16" name="AutoShape 16"/>
          <p:cNvSpPr/>
          <p:nvPr/>
        </p:nvSpPr>
        <p:spPr>
          <a:xfrm>
            <a:off x="8318500" y="2794000"/>
            <a:ext cx="2921000" cy="1270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altLang="zh-CN" sz="1200" b="0" i="0" u="none" strike="noStrike" dirty="0">
                <a:solidFill>
                  <a:srgbClr val="4A5568"/>
                </a:solidFill>
                <a:latin typeface="Noto Sans SC"/>
                <a:ea typeface="Noto Sans SC"/>
                <a:cs typeface="Noto Sans SC"/>
                <a:sym typeface="Noto Sans SC"/>
              </a:rPr>
              <a:t>· le ≤ 4 </a:t>
            </a:r>
            <a:r>
              <a:rPr lang="zh-CN" altLang="en-US" sz="1200" b="0" i="0" u="none" strike="noStrike" dirty="0">
                <a:solidFill>
                  <a:srgbClr val="4A5568"/>
                </a:solidFill>
                <a:latin typeface="Noto Sans SC"/>
                <a:ea typeface="Noto Sans SC"/>
                <a:cs typeface="Noto Sans SC"/>
                <a:sym typeface="Noto Sans SC"/>
              </a:rPr>
              <a:t>的标量路径中，每次蝶形仍需要从预计算表中取旋转因子，涉及 </a:t>
            </a:r>
            <a:r>
              <a:rPr lang="en-US" altLang="zh-CN" sz="1200" b="0" i="0" u="none" strike="noStrike" dirty="0" err="1">
                <a:solidFill>
                  <a:srgbClr val="4A5568"/>
                </a:solidFill>
                <a:latin typeface="Noto Sans SC"/>
                <a:ea typeface="Noto Sans SC"/>
                <a:cs typeface="Noto Sans SC"/>
                <a:sym typeface="Noto Sans SC"/>
              </a:rPr>
              <a:t>double→float</a:t>
            </a: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类型转换</a:t>
            </a:r>
          </a:p>
          <a:p>
            <a:pPr indent="0" algn="l">
              <a:lnSpc>
                <a:spcPct val="116666"/>
              </a:lnSpc>
              <a:defRPr/>
            </a:pP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查表索引计算（</a:t>
            </a:r>
            <a:r>
              <a:rPr lang="en-US" altLang="zh-CN" sz="1200" b="0" i="0" u="none" strike="noStrike" dirty="0" err="1">
                <a:solidFill>
                  <a:srgbClr val="4A5568"/>
                </a:solidFill>
                <a:latin typeface="Noto Sans SC"/>
                <a:ea typeface="Noto Sans SC"/>
                <a:cs typeface="Noto Sans SC"/>
                <a:sym typeface="Noto Sans SC"/>
              </a:rPr>
              <a:t>idx</a:t>
            </a:r>
            <a:r>
              <a:rPr lang="en-US" altLang="zh-CN" sz="1200" b="0" i="0" u="none" strike="noStrike" dirty="0">
                <a:solidFill>
                  <a:srgbClr val="4A5568"/>
                </a:solidFill>
                <a:latin typeface="Noto Sans SC"/>
                <a:ea typeface="Noto Sans SC"/>
                <a:cs typeface="Noto Sans SC"/>
                <a:sym typeface="Noto Sans SC"/>
              </a:rPr>
              <a:t> = k × step</a:t>
            </a:r>
            <a:r>
              <a:rPr lang="zh-CN" altLang="en-US" sz="1200" b="0" i="0" u="none" strike="noStrike" dirty="0">
                <a:solidFill>
                  <a:srgbClr val="4A5568"/>
                </a:solidFill>
                <a:latin typeface="Noto Sans SC"/>
                <a:ea typeface="Noto Sans SC"/>
                <a:cs typeface="Noto Sans SC"/>
                <a:sym typeface="Noto Sans SC"/>
              </a:rPr>
              <a:t>）包含乘法运算</a:t>
            </a:r>
            <a:endParaRPr lang="en-US" sz="1200" b="0" i="0" u="none" strike="noStrike" dirty="0">
              <a:solidFill>
                <a:srgbClr val="4A5568"/>
              </a:solidFill>
              <a:latin typeface="Noto Sans SC"/>
              <a:ea typeface="Noto Sans SC"/>
              <a:cs typeface="Noto Sans SC"/>
              <a:sym typeface="Noto Sans SC"/>
            </a:endParaRPr>
          </a:p>
        </p:txBody>
      </p:sp>
      <p:sp>
        <p:nvSpPr>
          <p:cNvPr id="17" name="AutoShape 17"/>
          <p:cNvSpPr/>
          <p:nvPr/>
        </p:nvSpPr>
        <p:spPr>
          <a:xfrm>
            <a:off x="762000" y="4445000"/>
            <a:ext cx="5143500" cy="1905000"/>
          </a:xfrm>
          <a:prstGeom prst="roundRect">
            <a:avLst>
              <a:gd name="adj" fmla="val 5333"/>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635500"/>
            <a:ext cx="304800" cy="304800"/>
          </a:xfrm>
          <a:prstGeom prst="rect">
            <a:avLst/>
          </a:prstGeom>
        </p:spPr>
      </p:pic>
      <p:sp>
        <p:nvSpPr>
          <p:cNvPr id="19" name="AutoShape 19"/>
          <p:cNvSpPr/>
          <p:nvPr/>
        </p:nvSpPr>
        <p:spPr>
          <a:xfrm>
            <a:off x="1397000" y="4597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dirty="0">
                <a:solidFill>
                  <a:srgbClr val="2D3748"/>
                </a:solidFill>
                <a:latin typeface="Noto Sans SC"/>
                <a:ea typeface="Noto Sans SC"/>
                <a:cs typeface="Noto Sans SC"/>
                <a:sym typeface="Noto Sans SC"/>
              </a:rPr>
              <a:t>内存访问模式可进一步优化</a:t>
            </a:r>
            <a:endParaRPr lang="en-US" sz="1100" dirty="0"/>
          </a:p>
        </p:txBody>
      </p:sp>
      <p:sp>
        <p:nvSpPr>
          <p:cNvPr id="20" name="AutoShape 20"/>
          <p:cNvSpPr/>
          <p:nvPr/>
        </p:nvSpPr>
        <p:spPr>
          <a:xfrm>
            <a:off x="952500" y="5207000"/>
            <a:ext cx="4762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蝶形运算中 </a:t>
            </a:r>
            <a:r>
              <a:rPr lang="en-US" altLang="zh-CN" sz="1200" b="0" i="0" u="none" strike="noStrike" dirty="0">
                <a:solidFill>
                  <a:srgbClr val="4A5568"/>
                </a:solidFill>
                <a:latin typeface="Noto Sans SC"/>
                <a:ea typeface="Noto Sans SC"/>
                <a:cs typeface="Noto Sans SC"/>
                <a:sym typeface="Noto Sans SC"/>
              </a:rPr>
              <a:t>x[</a:t>
            </a:r>
            <a:r>
              <a:rPr lang="en-US" altLang="zh-CN" sz="1200" b="0" i="0" u="none" strike="noStrike" dirty="0" err="1">
                <a:solidFill>
                  <a:srgbClr val="4A5568"/>
                </a:solidFill>
                <a:latin typeface="Noto Sans SC"/>
                <a:ea typeface="Noto Sans SC"/>
                <a:cs typeface="Noto Sans SC"/>
                <a:sym typeface="Noto Sans SC"/>
              </a:rPr>
              <a:t>j+k</a:t>
            </a: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与 </a:t>
            </a:r>
            <a:r>
              <a:rPr lang="en-US" altLang="zh-CN" sz="1200" b="0" i="0" u="none" strike="noStrike" dirty="0">
                <a:solidFill>
                  <a:srgbClr val="4A5568"/>
                </a:solidFill>
                <a:latin typeface="Noto Sans SC"/>
                <a:ea typeface="Noto Sans SC"/>
                <a:cs typeface="Noto Sans SC"/>
                <a:sym typeface="Noto Sans SC"/>
              </a:rPr>
              <a:t>x[j+k+le2] </a:t>
            </a:r>
            <a:r>
              <a:rPr lang="zh-CN" altLang="en-US" sz="1200" b="0" i="0" u="none" strike="noStrike" dirty="0">
                <a:solidFill>
                  <a:srgbClr val="4A5568"/>
                </a:solidFill>
                <a:latin typeface="Noto Sans SC"/>
                <a:ea typeface="Noto Sans SC"/>
                <a:cs typeface="Noto Sans SC"/>
                <a:sym typeface="Noto Sans SC"/>
              </a:rPr>
              <a:t>跨步访问，间距随 </a:t>
            </a:r>
            <a:r>
              <a:rPr lang="en-US" altLang="zh-CN" sz="1200" b="0" i="0" u="none" strike="noStrike" dirty="0">
                <a:solidFill>
                  <a:srgbClr val="4A5568"/>
                </a:solidFill>
                <a:latin typeface="Noto Sans SC"/>
                <a:ea typeface="Noto Sans SC"/>
                <a:cs typeface="Noto Sans SC"/>
                <a:sym typeface="Noto Sans SC"/>
              </a:rPr>
              <a:t>le </a:t>
            </a:r>
            <a:r>
              <a:rPr lang="zh-CN" altLang="en-US" sz="1200" b="0" i="0" u="none" strike="noStrike" dirty="0">
                <a:solidFill>
                  <a:srgbClr val="4A5568"/>
                </a:solidFill>
                <a:latin typeface="Noto Sans SC"/>
                <a:ea typeface="Noto Sans SC"/>
                <a:cs typeface="Noto Sans SC"/>
                <a:sym typeface="Noto Sans SC"/>
              </a:rPr>
              <a:t>增大</a:t>
            </a:r>
          </a:p>
          <a:p>
            <a:pPr indent="0" algn="l">
              <a:lnSpc>
                <a:spcPct val="116666"/>
              </a:lnSpc>
              <a:defRPr/>
            </a:pP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大规模 </a:t>
            </a:r>
            <a:r>
              <a:rPr lang="en-US" altLang="zh-CN" sz="1200" b="0" i="0" u="none" strike="noStrike" dirty="0">
                <a:solidFill>
                  <a:srgbClr val="4A5568"/>
                </a:solidFill>
                <a:latin typeface="Noto Sans SC"/>
                <a:ea typeface="Noto Sans SC"/>
                <a:cs typeface="Noto Sans SC"/>
                <a:sym typeface="Noto Sans SC"/>
              </a:rPr>
              <a:t>FFT </a:t>
            </a:r>
            <a:r>
              <a:rPr lang="zh-CN" altLang="en-US" sz="1200" b="0" i="0" u="none" strike="noStrike" dirty="0">
                <a:solidFill>
                  <a:srgbClr val="4A5568"/>
                </a:solidFill>
                <a:latin typeface="Noto Sans SC"/>
                <a:ea typeface="Noto Sans SC"/>
                <a:cs typeface="Noto Sans SC"/>
                <a:sym typeface="Noto Sans SC"/>
              </a:rPr>
              <a:t>时跨步超过 </a:t>
            </a:r>
            <a:r>
              <a:rPr lang="en-US" altLang="zh-CN" sz="1200" b="0" i="0" u="none" strike="noStrike" dirty="0">
                <a:solidFill>
                  <a:srgbClr val="4A5568"/>
                </a:solidFill>
                <a:latin typeface="Noto Sans SC"/>
                <a:ea typeface="Noto Sans SC"/>
                <a:cs typeface="Noto Sans SC"/>
                <a:sym typeface="Noto Sans SC"/>
              </a:rPr>
              <a:t>L1 </a:t>
            </a:r>
            <a:r>
              <a:rPr lang="zh-CN" altLang="en-US" sz="1200" b="0" i="0" u="none" strike="noStrike" dirty="0">
                <a:solidFill>
                  <a:srgbClr val="4A5568"/>
                </a:solidFill>
                <a:latin typeface="Noto Sans SC"/>
                <a:ea typeface="Noto Sans SC"/>
                <a:cs typeface="Noto Sans SC"/>
                <a:sym typeface="Noto Sans SC"/>
              </a:rPr>
              <a:t>缓存行大小，导致 </a:t>
            </a:r>
            <a:r>
              <a:rPr lang="en-US" altLang="zh-CN" sz="1200" b="0" i="0" u="none" strike="noStrike" dirty="0">
                <a:solidFill>
                  <a:srgbClr val="4A5568"/>
                </a:solidFill>
                <a:latin typeface="Noto Sans SC"/>
                <a:ea typeface="Noto Sans SC"/>
                <a:cs typeface="Noto Sans SC"/>
                <a:sym typeface="Noto Sans SC"/>
              </a:rPr>
              <a:t>Cache Miss</a:t>
            </a:r>
            <a:endParaRPr lang="en-US" sz="1200" b="0" i="0" u="none" strike="noStrike" dirty="0">
              <a:solidFill>
                <a:srgbClr val="4A5568"/>
              </a:solidFill>
              <a:latin typeface="Noto Sans SC"/>
              <a:ea typeface="Noto Sans SC"/>
              <a:cs typeface="Noto Sans SC"/>
              <a:sym typeface="Noto Sans SC"/>
            </a:endParaRPr>
          </a:p>
        </p:txBody>
      </p:sp>
      <p:sp>
        <p:nvSpPr>
          <p:cNvPr id="21" name="AutoShape 21"/>
          <p:cNvSpPr/>
          <p:nvPr/>
        </p:nvSpPr>
        <p:spPr>
          <a:xfrm>
            <a:off x="6286500" y="4445000"/>
            <a:ext cx="5143500" cy="1905000"/>
          </a:xfrm>
          <a:prstGeom prst="roundRect">
            <a:avLst>
              <a:gd name="adj" fmla="val 5333"/>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635500"/>
            <a:ext cx="304800" cy="304800"/>
          </a:xfrm>
          <a:prstGeom prst="rect">
            <a:avLst/>
          </a:prstGeom>
        </p:spPr>
      </p:pic>
      <p:sp>
        <p:nvSpPr>
          <p:cNvPr id="23" name="AutoShape 23"/>
          <p:cNvSpPr/>
          <p:nvPr/>
        </p:nvSpPr>
        <p:spPr>
          <a:xfrm>
            <a:off x="6921500" y="4597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dirty="0">
                <a:solidFill>
                  <a:srgbClr val="2D3748"/>
                </a:solidFill>
                <a:latin typeface="Noto Sans SC"/>
                <a:ea typeface="Noto Sans SC"/>
                <a:cs typeface="Noto Sans SC"/>
                <a:sym typeface="Noto Sans SC"/>
              </a:rPr>
              <a:t>硬件特性利用不足</a:t>
            </a:r>
            <a:endParaRPr lang="en-US" sz="1100" dirty="0"/>
          </a:p>
        </p:txBody>
      </p:sp>
      <p:sp>
        <p:nvSpPr>
          <p:cNvPr id="24" name="AutoShape 24"/>
          <p:cNvSpPr/>
          <p:nvPr/>
        </p:nvSpPr>
        <p:spPr>
          <a:xfrm>
            <a:off x="6477000" y="5207000"/>
            <a:ext cx="4762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未使用软件预取（</a:t>
            </a:r>
            <a:r>
              <a:rPr lang="en-US" altLang="zh-CN" sz="1200" b="0" i="0" u="none" strike="noStrike" dirty="0">
                <a:solidFill>
                  <a:srgbClr val="4A5568"/>
                </a:solidFill>
                <a:latin typeface="Noto Sans SC"/>
                <a:ea typeface="Noto Sans SC"/>
                <a:cs typeface="Noto Sans SC"/>
                <a:sym typeface="Noto Sans SC"/>
              </a:rPr>
              <a:t>__</a:t>
            </a:r>
            <a:r>
              <a:rPr lang="en-US" altLang="zh-CN" sz="1200" b="0" i="0" u="none" strike="noStrike" dirty="0" err="1">
                <a:solidFill>
                  <a:srgbClr val="4A5568"/>
                </a:solidFill>
                <a:latin typeface="Noto Sans SC"/>
                <a:ea typeface="Noto Sans SC"/>
                <a:cs typeface="Noto Sans SC"/>
                <a:sym typeface="Noto Sans SC"/>
              </a:rPr>
              <a:t>builtin_prefetch</a:t>
            </a:r>
            <a:r>
              <a:rPr lang="zh-CN" altLang="en-US" sz="1200" b="0" i="0" u="none" strike="noStrike" dirty="0">
                <a:solidFill>
                  <a:srgbClr val="4A5568"/>
                </a:solidFill>
                <a:latin typeface="Noto Sans SC"/>
                <a:ea typeface="Noto Sans SC"/>
                <a:cs typeface="Noto Sans SC"/>
                <a:sym typeface="Noto Sans SC"/>
              </a:rPr>
              <a:t>）主动管理缓存</a:t>
            </a:r>
          </a:p>
          <a:p>
            <a:pPr indent="0" algn="l">
              <a:lnSpc>
                <a:spcPct val="116666"/>
              </a:lnSpc>
              <a:defRPr/>
            </a:pP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未强制 </a:t>
            </a:r>
            <a:r>
              <a:rPr lang="en-US" altLang="zh-CN" sz="1200" b="0" i="0" u="none" strike="noStrike" dirty="0">
                <a:solidFill>
                  <a:srgbClr val="4A5568"/>
                </a:solidFill>
                <a:latin typeface="Noto Sans SC"/>
                <a:ea typeface="Noto Sans SC"/>
                <a:cs typeface="Noto Sans SC"/>
                <a:sym typeface="Noto Sans SC"/>
              </a:rPr>
              <a:t>16 </a:t>
            </a:r>
            <a:r>
              <a:rPr lang="zh-CN" altLang="en-US" sz="1200" b="0" i="0" u="none" strike="noStrike" dirty="0">
                <a:solidFill>
                  <a:srgbClr val="4A5568"/>
                </a:solidFill>
                <a:latin typeface="Noto Sans SC"/>
                <a:ea typeface="Noto Sans SC"/>
                <a:cs typeface="Noto Sans SC"/>
                <a:sym typeface="Noto Sans SC"/>
              </a:rPr>
              <a:t>字节内存对齐以发挥 </a:t>
            </a:r>
            <a:r>
              <a:rPr lang="en-US" altLang="zh-CN" sz="1200" b="0" i="0" u="none" strike="noStrike" dirty="0">
                <a:solidFill>
                  <a:srgbClr val="4A5568"/>
                </a:solidFill>
                <a:latin typeface="Noto Sans SC"/>
                <a:ea typeface="Noto Sans SC"/>
                <a:cs typeface="Noto Sans SC"/>
                <a:sym typeface="Noto Sans SC"/>
              </a:rPr>
              <a:t>NEON </a:t>
            </a:r>
            <a:r>
              <a:rPr lang="zh-CN" altLang="en-US" sz="1200" b="0" i="0" u="none" strike="noStrike" dirty="0">
                <a:solidFill>
                  <a:srgbClr val="4A5568"/>
                </a:solidFill>
                <a:latin typeface="Noto Sans SC"/>
                <a:ea typeface="Noto Sans SC"/>
                <a:cs typeface="Noto Sans SC"/>
                <a:sym typeface="Noto Sans SC"/>
              </a:rPr>
              <a:t>最佳性能</a:t>
            </a:r>
            <a:endParaRPr lang="en-US" sz="1200" b="0" i="0" u="none" strike="noStrike" dirty="0">
              <a:solidFill>
                <a:srgbClr val="4A5568"/>
              </a:solidFill>
              <a:latin typeface="Noto Sans SC"/>
              <a:ea typeface="Noto Sans SC"/>
              <a:cs typeface="Noto Sans SC"/>
              <a:sym typeface="Noto Sans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a:ea typeface="Noto Sans SC"/>
                <a:cs typeface="Noto Sans SC"/>
                <a:sym typeface="Noto Sans SC"/>
              </a:rPr>
              <a:t>优化方案总览</a:t>
            </a:r>
            <a:endParaRPr lang="en-US" sz="1100"/>
          </a:p>
        </p:txBody>
      </p:sp>
      <p:sp>
        <p:nvSpPr>
          <p:cNvPr id="4" name="AutoShape 4"/>
          <p:cNvSpPr/>
          <p:nvPr/>
        </p:nvSpPr>
        <p:spPr>
          <a:xfrm>
            <a:off x="762000" y="1270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dirty="0">
                <a:solidFill>
                  <a:srgbClr val="4A5568"/>
                </a:solidFill>
                <a:latin typeface="Noto Sans SC"/>
                <a:ea typeface="Noto Sans SC"/>
                <a:cs typeface="Noto Sans SC"/>
                <a:sym typeface="Noto Sans SC"/>
              </a:rPr>
              <a:t>为了解决</a:t>
            </a:r>
            <a:r>
              <a:rPr lang="en-US" altLang="zh-CN" dirty="0">
                <a:solidFill>
                  <a:srgbClr val="4A5568"/>
                </a:solidFill>
                <a:latin typeface="Noto Sans SC"/>
                <a:ea typeface="Noto Sans SC"/>
                <a:cs typeface="Noto Sans SC"/>
                <a:sym typeface="Noto Sans SC"/>
              </a:rPr>
              <a:t>v</a:t>
            </a:r>
            <a:r>
              <a:rPr lang="en-US" altLang="zh-CN" sz="1400" b="0" i="0" u="none" strike="noStrike" dirty="0">
                <a:solidFill>
                  <a:srgbClr val="4A5568"/>
                </a:solidFill>
                <a:latin typeface="Noto Sans SC"/>
                <a:ea typeface="Noto Sans SC"/>
                <a:cs typeface="Noto Sans SC"/>
                <a:sym typeface="Noto Sans SC"/>
              </a:rPr>
              <a:t>0</a:t>
            </a:r>
            <a:r>
              <a:rPr lang="zh-CN" altLang="en-US" sz="1400" b="0" i="0" u="none" strike="noStrike" dirty="0">
                <a:solidFill>
                  <a:srgbClr val="4A5568"/>
                </a:solidFill>
                <a:latin typeface="Noto Sans SC"/>
                <a:ea typeface="Noto Sans SC"/>
                <a:cs typeface="Noto Sans SC"/>
                <a:sym typeface="Noto Sans SC"/>
              </a:rPr>
              <a:t>的性能瓶颈，我们设计了四个递进的优化版本（</a:t>
            </a:r>
            <a:r>
              <a:rPr lang="en-US" altLang="zh-CN" dirty="0">
                <a:solidFill>
                  <a:srgbClr val="4A5568"/>
                </a:solidFill>
                <a:latin typeface="Noto Sans SC"/>
                <a:ea typeface="Noto Sans SC"/>
                <a:cs typeface="Noto Sans SC"/>
                <a:sym typeface="Noto Sans SC"/>
              </a:rPr>
              <a:t>v</a:t>
            </a:r>
            <a:r>
              <a:rPr lang="en-US" altLang="zh-CN" sz="1400" b="0" i="0" u="none" strike="noStrike" dirty="0">
                <a:solidFill>
                  <a:srgbClr val="4A5568"/>
                </a:solidFill>
                <a:latin typeface="Noto Sans SC"/>
                <a:ea typeface="Noto Sans SC"/>
                <a:cs typeface="Noto Sans SC"/>
                <a:sym typeface="Noto Sans SC"/>
              </a:rPr>
              <a:t>1-v4</a:t>
            </a:r>
            <a:r>
              <a:rPr lang="zh-CN" altLang="en-US" sz="1400" b="0" i="0" u="none" strike="noStrike" dirty="0">
                <a:solidFill>
                  <a:srgbClr val="4A5568"/>
                </a:solidFill>
                <a:latin typeface="Noto Sans SC"/>
                <a:ea typeface="Noto Sans SC"/>
                <a:cs typeface="Noto Sans SC"/>
                <a:sym typeface="Noto Sans SC"/>
              </a:rPr>
              <a:t>），每个版本聚焦一个核心问题，从算法层到硬件层逐级深入。</a:t>
            </a:r>
          </a:p>
        </p:txBody>
      </p:sp>
      <p:sp>
        <p:nvSpPr>
          <p:cNvPr id="5" name="AutoShape 5"/>
          <p:cNvSpPr/>
          <p:nvPr/>
        </p:nvSpPr>
        <p:spPr>
          <a:xfrm>
            <a:off x="762000" y="2032000"/>
            <a:ext cx="3429000" cy="1905000"/>
          </a:xfrm>
          <a:prstGeom prst="roundRect">
            <a:avLst>
              <a:gd name="adj" fmla="val 5333"/>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762000" y="2032000"/>
            <a:ext cx="3429000" cy="5080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89000" y="2108200"/>
            <a:ext cx="317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原始版 · 基准</a:t>
            </a:r>
            <a:endParaRPr lang="en-US" sz="1100"/>
          </a:p>
        </p:txBody>
      </p:sp>
      <p:sp>
        <p:nvSpPr>
          <p:cNvPr id="8" name="AutoShape 8"/>
          <p:cNvSpPr/>
          <p:nvPr/>
        </p:nvSpPr>
        <p:spPr>
          <a:xfrm>
            <a:off x="889000" y="2667000"/>
            <a:ext cx="317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err="1">
                <a:solidFill>
                  <a:srgbClr val="3182CE"/>
                </a:solidFill>
                <a:latin typeface="Noto Sans SC"/>
                <a:ea typeface="Noto Sans SC"/>
                <a:cs typeface="Noto Sans SC"/>
                <a:sym typeface="Noto Sans SC"/>
              </a:rPr>
              <a:t>核心优化</a:t>
            </a:r>
            <a:r>
              <a:rPr lang="en-US" sz="1200" b="1" i="0" u="none" strike="noStrike" dirty="0">
                <a:solidFill>
                  <a:srgbClr val="3182CE"/>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预计算旋转因子 </a:t>
            </a: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部分</a:t>
            </a:r>
            <a:r>
              <a:rPr lang="en-US" altLang="zh-CN" sz="1200" b="0" i="0" u="none" strike="noStrike" dirty="0">
                <a:solidFill>
                  <a:srgbClr val="4A5568"/>
                </a:solidFill>
                <a:latin typeface="Noto Sans SC"/>
                <a:ea typeface="Noto Sans SC"/>
                <a:cs typeface="Noto Sans SC"/>
                <a:sym typeface="Noto Sans SC"/>
              </a:rPr>
              <a:t>NEON</a:t>
            </a:r>
            <a:r>
              <a:rPr lang="zh-CN" altLang="en-US" sz="1200" b="0" i="0" u="none" strike="noStrike" dirty="0">
                <a:solidFill>
                  <a:srgbClr val="4A5568"/>
                </a:solidFill>
                <a:latin typeface="Noto Sans SC"/>
                <a:ea typeface="Noto Sans SC"/>
                <a:cs typeface="Noto Sans SC"/>
                <a:sym typeface="Noto Sans SC"/>
              </a:rPr>
              <a:t>指令</a:t>
            </a:r>
            <a:endParaRPr lang="en-US" sz="1200" b="0" i="0" u="none" strike="noStrike" dirty="0">
              <a:solidFill>
                <a:srgbClr val="4A5568"/>
              </a:solidFill>
              <a:latin typeface="Noto Sans SC"/>
              <a:ea typeface="Noto Sans SC"/>
              <a:cs typeface="Noto Sans SC"/>
              <a:sym typeface="Noto Sans SC"/>
            </a:endParaRPr>
          </a:p>
          <a:p>
            <a:pPr indent="0" algn="l">
              <a:lnSpc>
                <a:spcPct val="108333"/>
              </a:lnSpc>
            </a:pPr>
            <a:r>
              <a:rPr lang="en-US" sz="1200" b="1" i="0" u="none" strike="noStrike" dirty="0" err="1">
                <a:solidFill>
                  <a:srgbClr val="48BB78"/>
                </a:solidFill>
                <a:latin typeface="Noto Sans SC"/>
                <a:ea typeface="Noto Sans SC"/>
                <a:cs typeface="Noto Sans SC"/>
                <a:sym typeface="Noto Sans SC"/>
              </a:rPr>
              <a:t>定位：</a:t>
            </a:r>
            <a:r>
              <a:rPr lang="en-US" sz="1200" b="0" i="0" u="none" strike="noStrike" dirty="0" err="1">
                <a:solidFill>
                  <a:srgbClr val="718096"/>
                </a:solidFill>
                <a:latin typeface="Noto Sans SC"/>
                <a:ea typeface="Noto Sans SC"/>
                <a:cs typeface="Noto Sans SC"/>
                <a:sym typeface="Noto Sans SC"/>
              </a:rPr>
              <a:t>全流程性能分析的基准版本</a:t>
            </a:r>
            <a:endParaRPr lang="en-US" sz="1200" b="0" i="0" u="none" strike="noStrike" dirty="0">
              <a:solidFill>
                <a:srgbClr val="718096"/>
              </a:solidFill>
              <a:latin typeface="Noto Sans SC"/>
              <a:ea typeface="Noto Sans SC"/>
              <a:cs typeface="Noto Sans SC"/>
              <a:sym typeface="Noto Sans SC"/>
            </a:endParaRPr>
          </a:p>
        </p:txBody>
      </p:sp>
      <p:sp>
        <p:nvSpPr>
          <p:cNvPr id="9" name="AutoShape 9"/>
          <p:cNvSpPr/>
          <p:nvPr/>
        </p:nvSpPr>
        <p:spPr>
          <a:xfrm>
            <a:off x="4381500" y="2032000"/>
            <a:ext cx="3429000" cy="1905000"/>
          </a:xfrm>
          <a:prstGeom prst="roundRect">
            <a:avLst>
              <a:gd name="adj" fmla="val 5333"/>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381500" y="2032000"/>
            <a:ext cx="3429000" cy="508000"/>
          </a:xfrm>
          <a:prstGeom prst="roundRect">
            <a:avLst>
              <a:gd name="adj" fmla="val 0"/>
            </a:avLst>
          </a:prstGeom>
          <a:solidFill>
            <a:srgbClr val="3182C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508500" y="2108200"/>
            <a:ext cx="317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FFFFFF"/>
                </a:solidFill>
                <a:latin typeface="Noto Sans SC"/>
                <a:ea typeface="Noto Sans SC"/>
                <a:cs typeface="Noto Sans SC"/>
                <a:sym typeface="Noto Sans SC"/>
              </a:rPr>
              <a:t>v1 · </a:t>
            </a:r>
            <a:r>
              <a:rPr lang="zh-CN" altLang="en-US" sz="1600" b="1" i="0" u="none" strike="noStrike" dirty="0">
                <a:solidFill>
                  <a:srgbClr val="FFFFFF"/>
                </a:solidFill>
                <a:latin typeface="Noto Sans SC"/>
                <a:ea typeface="Noto Sans SC"/>
                <a:cs typeface="Noto Sans SC"/>
                <a:sym typeface="Noto Sans SC"/>
              </a:rPr>
              <a:t>查表法</a:t>
            </a:r>
            <a:endParaRPr lang="en-US" sz="1100" dirty="0"/>
          </a:p>
        </p:txBody>
      </p:sp>
      <p:sp>
        <p:nvSpPr>
          <p:cNvPr id="12" name="AutoShape 12"/>
          <p:cNvSpPr/>
          <p:nvPr/>
        </p:nvSpPr>
        <p:spPr>
          <a:xfrm>
            <a:off x="4508500" y="2667000"/>
            <a:ext cx="317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err="1">
                <a:solidFill>
                  <a:srgbClr val="3182CE"/>
                </a:solidFill>
                <a:latin typeface="Noto Sans SC"/>
                <a:ea typeface="Noto Sans SC"/>
                <a:cs typeface="Noto Sans SC"/>
                <a:sym typeface="Noto Sans SC"/>
              </a:rPr>
              <a:t>核心优化：</a:t>
            </a:r>
            <a:r>
              <a:rPr lang="en-US" altLang="zh-CN" sz="1200" b="0" i="0" u="none" strike="noStrike" dirty="0" err="1">
                <a:solidFill>
                  <a:srgbClr val="4A5568"/>
                </a:solidFill>
                <a:latin typeface="Noto Sans SC"/>
                <a:ea typeface="Noto Sans SC"/>
                <a:cs typeface="Noto Sans SC"/>
                <a:sym typeface="Noto Sans SC"/>
              </a:rPr>
              <a:t>float</a:t>
            </a:r>
            <a:r>
              <a:rPr lang="zh-CN" altLang="en-US" sz="1200" b="0" i="0" u="none" strike="noStrike" dirty="0">
                <a:solidFill>
                  <a:srgbClr val="4A5568"/>
                </a:solidFill>
                <a:latin typeface="Noto Sans SC"/>
                <a:ea typeface="Noto Sans SC"/>
                <a:cs typeface="Noto Sans SC"/>
                <a:sym typeface="Noto Sans SC"/>
              </a:rPr>
              <a:t>查找表替代</a:t>
            </a:r>
            <a:r>
              <a:rPr lang="en-US" altLang="zh-CN" sz="1200" b="0" i="0" u="none" strike="noStrike" dirty="0">
                <a:solidFill>
                  <a:srgbClr val="4A5568"/>
                </a:solidFill>
                <a:latin typeface="Noto Sans SC"/>
                <a:ea typeface="Noto Sans SC"/>
                <a:cs typeface="Noto Sans SC"/>
                <a:sym typeface="Noto Sans SC"/>
              </a:rPr>
              <a:t>double</a:t>
            </a:r>
            <a:r>
              <a:rPr lang="zh-CN" altLang="en-US" sz="1200" b="0" i="0" u="none" strike="noStrike" dirty="0">
                <a:solidFill>
                  <a:srgbClr val="4A5568"/>
                </a:solidFill>
                <a:latin typeface="Noto Sans SC"/>
                <a:ea typeface="Noto Sans SC"/>
                <a:cs typeface="Noto Sans SC"/>
                <a:sym typeface="Noto Sans SC"/>
              </a:rPr>
              <a:t>预计算</a:t>
            </a:r>
            <a:r>
              <a:rPr lang="en-US" altLang="zh-CN" sz="1200" b="0" i="0" u="none" strike="noStrike" dirty="0">
                <a:solidFill>
                  <a:srgbClr val="4A5568"/>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实时计算</a:t>
            </a:r>
            <a:endParaRPr lang="en-US" sz="1100" dirty="0"/>
          </a:p>
          <a:p>
            <a:pPr indent="0" algn="l">
              <a:lnSpc>
                <a:spcPct val="108333"/>
              </a:lnSpc>
            </a:pPr>
            <a:r>
              <a:rPr lang="en-US" sz="1200" b="1" i="0" u="none" strike="noStrike" dirty="0" err="1">
                <a:solidFill>
                  <a:srgbClr val="DD6B20"/>
                </a:solidFill>
                <a:latin typeface="Noto Sans SC"/>
                <a:ea typeface="Noto Sans SC"/>
                <a:cs typeface="Noto Sans SC"/>
                <a:sym typeface="Noto Sans SC"/>
              </a:rPr>
              <a:t>目标</a:t>
            </a:r>
            <a:r>
              <a:rPr lang="en-US" sz="1200" b="1" i="0" u="none" strike="noStrike" dirty="0">
                <a:solidFill>
                  <a:srgbClr val="DD6B20"/>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减少三角函数调用开销，</a:t>
            </a:r>
            <a:r>
              <a:rPr lang="en-US" altLang="zh-CN" sz="1200" b="0" i="0" u="none" strike="noStrike" dirty="0">
                <a:solidFill>
                  <a:srgbClr val="4A5568"/>
                </a:solidFill>
                <a:latin typeface="Noto Sans SC"/>
                <a:ea typeface="Noto Sans SC"/>
                <a:cs typeface="Noto Sans SC"/>
                <a:sym typeface="Noto Sans SC"/>
              </a:rPr>
              <a:t>O(1)</a:t>
            </a:r>
            <a:r>
              <a:rPr lang="zh-CN" altLang="en-US" sz="1200" b="0" i="0" u="none" strike="noStrike" dirty="0">
                <a:solidFill>
                  <a:srgbClr val="4A5568"/>
                </a:solidFill>
                <a:latin typeface="Noto Sans SC"/>
                <a:ea typeface="Noto Sans SC"/>
                <a:cs typeface="Noto Sans SC"/>
                <a:sym typeface="Noto Sans SC"/>
              </a:rPr>
              <a:t>查表访问</a:t>
            </a:r>
            <a:endParaRPr lang="en-US" sz="1200" b="0" i="0" u="none" strike="noStrike" dirty="0">
              <a:solidFill>
                <a:srgbClr val="4A5568"/>
              </a:solidFill>
              <a:latin typeface="Noto Sans SC"/>
              <a:ea typeface="Noto Sans SC"/>
              <a:cs typeface="Noto Sans SC"/>
              <a:sym typeface="Noto Sans SC"/>
            </a:endParaRPr>
          </a:p>
          <a:p>
            <a:pPr indent="0" algn="l">
              <a:lnSpc>
                <a:spcPct val="108333"/>
              </a:lnSpc>
            </a:pPr>
            <a:r>
              <a:rPr lang="en-US" sz="1200" b="1" i="0" u="none" strike="noStrike" dirty="0" err="1">
                <a:solidFill>
                  <a:srgbClr val="E53E3E"/>
                </a:solidFill>
                <a:latin typeface="Noto Sans SC"/>
                <a:ea typeface="Noto Sans SC"/>
                <a:cs typeface="Noto Sans SC"/>
                <a:sym typeface="Noto Sans SC"/>
              </a:rPr>
              <a:t>解决瓶颈</a:t>
            </a:r>
            <a:r>
              <a:rPr lang="en-US" sz="1200" b="1" i="0" u="none" strike="noStrike" dirty="0">
                <a:solidFill>
                  <a:srgbClr val="E53E3E"/>
                </a:solidFill>
                <a:latin typeface="Noto Sans SC"/>
                <a:ea typeface="Noto Sans SC"/>
                <a:cs typeface="Noto Sans SC"/>
                <a:sym typeface="Noto Sans SC"/>
              </a:rPr>
              <a:t>：</a:t>
            </a:r>
            <a:r>
              <a:rPr lang="zh-CN" altLang="en-US" sz="1200" b="0" i="0" u="none" strike="noStrike" dirty="0">
                <a:solidFill>
                  <a:srgbClr val="718096"/>
                </a:solidFill>
                <a:latin typeface="Noto Sans SC"/>
                <a:ea typeface="Noto Sans SC"/>
                <a:cs typeface="Noto Sans SC"/>
                <a:sym typeface="Noto Sans SC"/>
              </a:rPr>
              <a:t>浮点三角函数高频调用 </a:t>
            </a:r>
            <a:r>
              <a:rPr lang="en-US" altLang="zh-CN" sz="1200" b="0" i="0" u="none" strike="noStrike" dirty="0">
                <a:solidFill>
                  <a:srgbClr val="718096"/>
                </a:solidFill>
                <a:latin typeface="Noto Sans SC"/>
                <a:ea typeface="Noto Sans SC"/>
                <a:cs typeface="Noto Sans SC"/>
                <a:sym typeface="Noto Sans SC"/>
              </a:rPr>
              <a:t>+double →float</a:t>
            </a:r>
            <a:r>
              <a:rPr lang="zh-CN" altLang="en-US" sz="1200" b="0" i="0" u="none" strike="noStrike" dirty="0">
                <a:solidFill>
                  <a:srgbClr val="718096"/>
                </a:solidFill>
                <a:latin typeface="Noto Sans SC"/>
                <a:ea typeface="Noto Sans SC"/>
                <a:cs typeface="Noto Sans SC"/>
                <a:sym typeface="Noto Sans SC"/>
              </a:rPr>
              <a:t>类型转换</a:t>
            </a:r>
            <a:endParaRPr lang="en-US" sz="1200" b="0" i="0" u="none" strike="noStrike" dirty="0">
              <a:solidFill>
                <a:srgbClr val="718096"/>
              </a:solidFill>
              <a:latin typeface="Noto Sans SC"/>
              <a:ea typeface="Noto Sans SC"/>
              <a:cs typeface="Noto Sans SC"/>
              <a:sym typeface="Noto Sans SC"/>
            </a:endParaRPr>
          </a:p>
        </p:txBody>
      </p:sp>
      <p:sp>
        <p:nvSpPr>
          <p:cNvPr id="13" name="AutoShape 13"/>
          <p:cNvSpPr/>
          <p:nvPr/>
        </p:nvSpPr>
        <p:spPr>
          <a:xfrm>
            <a:off x="8001000" y="2032000"/>
            <a:ext cx="3429000" cy="1905000"/>
          </a:xfrm>
          <a:prstGeom prst="roundRect">
            <a:avLst>
              <a:gd name="adj" fmla="val 5333"/>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8001000" y="2032000"/>
            <a:ext cx="3429000" cy="508000"/>
          </a:xfrm>
          <a:prstGeom prst="roundRect">
            <a:avLst>
              <a:gd name="adj" fmla="val 0"/>
            </a:avLst>
          </a:prstGeom>
          <a:solidFill>
            <a:srgbClr val="4299E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128000" y="2108200"/>
            <a:ext cx="317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FFFFFF"/>
                </a:solidFill>
                <a:latin typeface="Noto Sans SC"/>
                <a:ea typeface="Noto Sans SC"/>
                <a:cs typeface="Noto Sans SC"/>
                <a:sym typeface="Noto Sans SC"/>
              </a:rPr>
              <a:t>v2 · NEON SIMD </a:t>
            </a:r>
            <a:r>
              <a:rPr lang="zh-CN" altLang="en-US" sz="1600" b="1" i="0" u="none" strike="noStrike" dirty="0">
                <a:solidFill>
                  <a:srgbClr val="FFFFFF"/>
                </a:solidFill>
                <a:latin typeface="Noto Sans SC"/>
                <a:ea typeface="Noto Sans SC"/>
                <a:cs typeface="Noto Sans SC"/>
                <a:sym typeface="Noto Sans SC"/>
              </a:rPr>
              <a:t>向量化</a:t>
            </a:r>
            <a:endParaRPr lang="en-US" sz="1100" dirty="0"/>
          </a:p>
        </p:txBody>
      </p:sp>
      <p:sp>
        <p:nvSpPr>
          <p:cNvPr id="16" name="AutoShape 16"/>
          <p:cNvSpPr/>
          <p:nvPr/>
        </p:nvSpPr>
        <p:spPr>
          <a:xfrm>
            <a:off x="8128000" y="2667000"/>
            <a:ext cx="317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err="1">
                <a:solidFill>
                  <a:srgbClr val="3182CE"/>
                </a:solidFill>
                <a:latin typeface="Noto Sans SC"/>
                <a:ea typeface="Noto Sans SC"/>
                <a:cs typeface="Noto Sans SC"/>
                <a:sym typeface="Noto Sans SC"/>
              </a:rPr>
              <a:t>核心优化</a:t>
            </a:r>
            <a:r>
              <a:rPr lang="en-US" sz="1200" b="1" i="0" u="none" strike="noStrike" dirty="0">
                <a:solidFill>
                  <a:srgbClr val="3182CE"/>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全路径</a:t>
            </a:r>
            <a:r>
              <a:rPr lang="en-US" sz="1200" b="0" i="0" u="none" strike="noStrike" dirty="0">
                <a:solidFill>
                  <a:srgbClr val="4A5568"/>
                </a:solidFill>
                <a:latin typeface="Noto Sans SC"/>
                <a:ea typeface="Noto Sans SC"/>
                <a:cs typeface="Noto Sans SC"/>
                <a:sym typeface="Noto Sans SC"/>
              </a:rPr>
              <a:t>ARM NEON</a:t>
            </a:r>
            <a:r>
              <a:rPr lang="zh-CN" altLang="en-US" sz="1200" b="0" i="0" u="none" strike="noStrike" dirty="0">
                <a:solidFill>
                  <a:srgbClr val="4A5568"/>
                </a:solidFill>
                <a:latin typeface="Noto Sans SC"/>
                <a:ea typeface="Noto Sans SC"/>
                <a:cs typeface="Noto Sans SC"/>
                <a:sym typeface="Noto Sans SC"/>
              </a:rPr>
              <a:t>指令重写，融合乘加指令</a:t>
            </a:r>
            <a:r>
              <a:rPr lang="en-US" altLang="zh-CN" sz="1200" b="0" i="0" u="none" strike="noStrike" dirty="0">
                <a:solidFill>
                  <a:srgbClr val="4A5568"/>
                </a:solidFill>
                <a:latin typeface="Noto Sans SC"/>
                <a:ea typeface="Noto Sans SC"/>
                <a:cs typeface="Noto Sans SC"/>
                <a:sym typeface="Noto Sans SC"/>
              </a:rPr>
              <a:t>(</a:t>
            </a:r>
            <a:r>
              <a:rPr lang="en-US" sz="1200" b="0" i="0" u="none" strike="noStrike" dirty="0">
                <a:solidFill>
                  <a:srgbClr val="4A5568"/>
                </a:solidFill>
                <a:latin typeface="Noto Sans SC"/>
                <a:ea typeface="Noto Sans SC"/>
                <a:cs typeface="Noto Sans SC"/>
                <a:sym typeface="Noto Sans SC"/>
              </a:rPr>
              <a:t>vmlaq_f32)</a:t>
            </a:r>
            <a:endParaRPr lang="en-US" sz="1100" dirty="0"/>
          </a:p>
          <a:p>
            <a:pPr indent="0" algn="l">
              <a:lnSpc>
                <a:spcPct val="108333"/>
              </a:lnSpc>
            </a:pPr>
            <a:r>
              <a:rPr lang="en-US" sz="1200" b="1" i="0" u="none" strike="noStrike" dirty="0" err="1">
                <a:solidFill>
                  <a:srgbClr val="DD6B20"/>
                </a:solidFill>
                <a:latin typeface="Noto Sans SC"/>
                <a:ea typeface="Noto Sans SC"/>
                <a:cs typeface="Noto Sans SC"/>
                <a:sym typeface="Noto Sans SC"/>
              </a:rPr>
              <a:t>目标</a:t>
            </a:r>
            <a:r>
              <a:rPr lang="en-US" sz="1200" b="1" i="0" u="none" strike="noStrike" dirty="0">
                <a:solidFill>
                  <a:srgbClr val="DD6B20"/>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最大化利用</a:t>
            </a:r>
            <a:r>
              <a:rPr lang="en-US" altLang="zh-CN" sz="1200" b="0" i="0" u="none" strike="noStrike" dirty="0">
                <a:solidFill>
                  <a:srgbClr val="4A5568"/>
                </a:solidFill>
                <a:latin typeface="Noto Sans SC"/>
                <a:ea typeface="Noto Sans SC"/>
                <a:cs typeface="Noto Sans SC"/>
                <a:sym typeface="Noto Sans SC"/>
              </a:rPr>
              <a:t>CPU</a:t>
            </a:r>
            <a:r>
              <a:rPr lang="zh-CN" altLang="en-US" sz="1200" b="0" i="0" u="none" strike="noStrike" dirty="0">
                <a:solidFill>
                  <a:srgbClr val="4A5568"/>
                </a:solidFill>
                <a:latin typeface="Noto Sans SC"/>
                <a:ea typeface="Noto Sans SC"/>
                <a:cs typeface="Noto Sans SC"/>
                <a:sym typeface="Noto Sans SC"/>
              </a:rPr>
              <a:t>并行计算单元，</a:t>
            </a:r>
            <a:r>
              <a:rPr lang="en-US" altLang="zh-CN" sz="1200" b="0" i="0" u="none" strike="noStrike" dirty="0">
                <a:solidFill>
                  <a:srgbClr val="4A5568"/>
                </a:solidFill>
                <a:latin typeface="Noto Sans SC"/>
                <a:ea typeface="Noto Sans SC"/>
                <a:cs typeface="Noto Sans SC"/>
                <a:sym typeface="Noto Sans SC"/>
              </a:rPr>
              <a:t>4</a:t>
            </a:r>
            <a:r>
              <a:rPr lang="zh-CN" altLang="en-US" sz="1200" b="0" i="0" u="none" strike="noStrike" dirty="0">
                <a:solidFill>
                  <a:srgbClr val="4A5568"/>
                </a:solidFill>
                <a:latin typeface="Noto Sans SC"/>
                <a:ea typeface="Noto Sans SC"/>
                <a:cs typeface="Noto Sans SC"/>
                <a:sym typeface="Noto Sans SC"/>
              </a:rPr>
              <a:t>路并行处理</a:t>
            </a:r>
            <a:endParaRPr lang="en-US" sz="1200" b="0" i="0" u="none" strike="noStrike" dirty="0">
              <a:solidFill>
                <a:srgbClr val="4A5568"/>
              </a:solidFill>
              <a:latin typeface="Noto Sans SC"/>
              <a:ea typeface="Noto Sans SC"/>
              <a:cs typeface="Noto Sans SC"/>
              <a:sym typeface="Noto Sans SC"/>
            </a:endParaRPr>
          </a:p>
          <a:p>
            <a:pPr indent="0" algn="l">
              <a:lnSpc>
                <a:spcPct val="108333"/>
              </a:lnSpc>
            </a:pPr>
            <a:r>
              <a:rPr lang="en-US" sz="1200" b="1" i="0" u="none" strike="noStrike" dirty="0" err="1">
                <a:solidFill>
                  <a:srgbClr val="E53E3E"/>
                </a:solidFill>
                <a:latin typeface="Noto Sans SC"/>
                <a:ea typeface="Noto Sans SC"/>
                <a:cs typeface="Noto Sans SC"/>
                <a:sym typeface="Noto Sans SC"/>
              </a:rPr>
              <a:t>解决瓶颈</a:t>
            </a:r>
            <a:r>
              <a:rPr lang="en-US" sz="1200" b="1" i="0" u="none" strike="noStrike" dirty="0">
                <a:solidFill>
                  <a:srgbClr val="E53E3E"/>
                </a:solidFill>
                <a:latin typeface="Noto Sans SC"/>
                <a:ea typeface="Noto Sans SC"/>
                <a:cs typeface="Noto Sans SC"/>
                <a:sym typeface="Noto Sans SC"/>
              </a:rPr>
              <a:t>：</a:t>
            </a:r>
            <a:r>
              <a:rPr lang="zh-CN" altLang="en-US" sz="1200" b="0" i="0" u="none" strike="noStrike" dirty="0">
                <a:solidFill>
                  <a:srgbClr val="718096"/>
                </a:solidFill>
                <a:latin typeface="Noto Sans SC"/>
                <a:ea typeface="Noto Sans SC"/>
                <a:cs typeface="Noto Sans SC"/>
                <a:sym typeface="Noto Sans SC"/>
              </a:rPr>
              <a:t>标量计算路径、</a:t>
            </a:r>
            <a:r>
              <a:rPr lang="en-US" altLang="zh-CN" sz="1200" b="0" i="0" u="none" strike="noStrike" dirty="0">
                <a:solidFill>
                  <a:srgbClr val="718096"/>
                </a:solidFill>
                <a:latin typeface="Noto Sans SC"/>
                <a:ea typeface="Noto Sans SC"/>
                <a:cs typeface="Noto Sans SC"/>
                <a:sym typeface="Noto Sans SC"/>
              </a:rPr>
              <a:t>NEON</a:t>
            </a:r>
            <a:r>
              <a:rPr lang="zh-CN" altLang="en-US" sz="1200" b="0" i="0" u="none" strike="noStrike" dirty="0">
                <a:solidFill>
                  <a:srgbClr val="718096"/>
                </a:solidFill>
                <a:latin typeface="Noto Sans SC"/>
                <a:ea typeface="Noto Sans SC"/>
                <a:cs typeface="Noto Sans SC"/>
                <a:sym typeface="Noto Sans SC"/>
              </a:rPr>
              <a:t>使用不充分</a:t>
            </a:r>
            <a:endParaRPr lang="en-US" sz="1200" b="0" i="0" u="none" strike="noStrike" dirty="0">
              <a:solidFill>
                <a:srgbClr val="718096"/>
              </a:solidFill>
              <a:latin typeface="Noto Sans SC"/>
              <a:ea typeface="Noto Sans SC"/>
              <a:cs typeface="Noto Sans SC"/>
              <a:sym typeface="Noto Sans SC"/>
            </a:endParaRPr>
          </a:p>
        </p:txBody>
      </p:sp>
      <p:sp>
        <p:nvSpPr>
          <p:cNvPr id="17" name="AutoShape 17"/>
          <p:cNvSpPr/>
          <p:nvPr/>
        </p:nvSpPr>
        <p:spPr>
          <a:xfrm>
            <a:off x="1977743" y="4191000"/>
            <a:ext cx="3429000" cy="1905000"/>
          </a:xfrm>
          <a:prstGeom prst="roundRect">
            <a:avLst>
              <a:gd name="adj" fmla="val 5333"/>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1977743" y="4191000"/>
            <a:ext cx="3429000" cy="508000"/>
          </a:xfrm>
          <a:prstGeom prst="roundRect">
            <a:avLst>
              <a:gd name="adj" fmla="val 0"/>
            </a:avLst>
          </a:prstGeom>
          <a:solidFill>
            <a:srgbClr val="63B3ED">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2104743" y="4267200"/>
            <a:ext cx="317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FFFFFF"/>
                </a:solidFill>
                <a:latin typeface="Noto Sans SC"/>
                <a:ea typeface="Noto Sans SC"/>
                <a:cs typeface="Noto Sans SC"/>
                <a:sym typeface="Noto Sans SC"/>
              </a:rPr>
              <a:t>v3 ·</a:t>
            </a:r>
            <a:r>
              <a:rPr lang="zh-CN" altLang="en-US" sz="1600" b="1" i="0" u="none" strike="noStrike" dirty="0">
                <a:solidFill>
                  <a:srgbClr val="FFFFFF"/>
                </a:solidFill>
                <a:latin typeface="Noto Sans SC"/>
                <a:ea typeface="Noto Sans SC"/>
                <a:cs typeface="Noto Sans SC"/>
                <a:sym typeface="Noto Sans SC"/>
              </a:rPr>
              <a:t>缓存优化</a:t>
            </a:r>
            <a:endParaRPr lang="en-US" sz="1100" dirty="0"/>
          </a:p>
        </p:txBody>
      </p:sp>
      <p:sp>
        <p:nvSpPr>
          <p:cNvPr id="20" name="AutoShape 20"/>
          <p:cNvSpPr/>
          <p:nvPr/>
        </p:nvSpPr>
        <p:spPr>
          <a:xfrm>
            <a:off x="2104743" y="4826000"/>
            <a:ext cx="317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err="1">
                <a:solidFill>
                  <a:srgbClr val="3182CE"/>
                </a:solidFill>
                <a:latin typeface="Noto Sans SC"/>
                <a:ea typeface="Noto Sans SC"/>
                <a:cs typeface="Noto Sans SC"/>
                <a:sym typeface="Noto Sans SC"/>
              </a:rPr>
              <a:t>核心优化</a:t>
            </a:r>
            <a:r>
              <a:rPr lang="en-US" sz="1200" b="1" i="0" u="none" strike="noStrike" dirty="0">
                <a:solidFill>
                  <a:srgbClr val="3182CE"/>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连续内存访问模式，蝶形运算数据保持在同一缓存行</a:t>
            </a:r>
            <a:endParaRPr lang="en-US" sz="1100" dirty="0"/>
          </a:p>
          <a:p>
            <a:pPr indent="0" algn="l">
              <a:lnSpc>
                <a:spcPct val="108333"/>
              </a:lnSpc>
            </a:pPr>
            <a:r>
              <a:rPr lang="en-US" sz="1200" b="1" i="0" u="none" strike="noStrike" dirty="0" err="1">
                <a:solidFill>
                  <a:srgbClr val="DD6B20"/>
                </a:solidFill>
                <a:latin typeface="Noto Sans SC"/>
                <a:ea typeface="Noto Sans SC"/>
                <a:cs typeface="Noto Sans SC"/>
                <a:sym typeface="Noto Sans SC"/>
              </a:rPr>
              <a:t>目标</a:t>
            </a:r>
            <a:r>
              <a:rPr lang="en-US" sz="1200" b="1" i="0" u="none" strike="noStrike" dirty="0">
                <a:solidFill>
                  <a:srgbClr val="DD6B20"/>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提高缓存命中率</a:t>
            </a:r>
            <a:endParaRPr lang="en-US" sz="1200" b="0" i="0" u="none" strike="noStrike" dirty="0">
              <a:solidFill>
                <a:srgbClr val="4A5568"/>
              </a:solidFill>
              <a:latin typeface="Noto Sans SC"/>
              <a:ea typeface="Noto Sans SC"/>
              <a:cs typeface="Noto Sans SC"/>
              <a:sym typeface="Noto Sans SC"/>
            </a:endParaRPr>
          </a:p>
          <a:p>
            <a:pPr indent="0" algn="l">
              <a:lnSpc>
                <a:spcPct val="108333"/>
              </a:lnSpc>
            </a:pPr>
            <a:r>
              <a:rPr lang="en-US" sz="1200" b="1" i="0" u="none" strike="noStrike" dirty="0" err="1">
                <a:solidFill>
                  <a:srgbClr val="E53E3E"/>
                </a:solidFill>
                <a:latin typeface="Noto Sans SC"/>
                <a:ea typeface="Noto Sans SC"/>
                <a:cs typeface="Noto Sans SC"/>
                <a:sym typeface="Noto Sans SC"/>
              </a:rPr>
              <a:t>解决瓶颈</a:t>
            </a:r>
            <a:r>
              <a:rPr lang="en-US" sz="1200" b="1" i="0" u="none" strike="noStrike" dirty="0">
                <a:solidFill>
                  <a:srgbClr val="E53E3E"/>
                </a:solidFill>
                <a:latin typeface="Noto Sans SC"/>
                <a:ea typeface="Noto Sans SC"/>
                <a:cs typeface="Noto Sans SC"/>
                <a:sym typeface="Noto Sans SC"/>
              </a:rPr>
              <a:t>：</a:t>
            </a:r>
            <a:r>
              <a:rPr lang="zh-CN" altLang="en-US" sz="1200" b="0" i="0" u="none" strike="noStrike" dirty="0">
                <a:solidFill>
                  <a:srgbClr val="718096"/>
                </a:solidFill>
                <a:latin typeface="Noto Sans SC"/>
                <a:ea typeface="Noto Sans SC"/>
                <a:cs typeface="Noto Sans SC"/>
                <a:sym typeface="Noto Sans SC"/>
              </a:rPr>
              <a:t>跨步访问导致缓存未命中</a:t>
            </a:r>
            <a:endParaRPr lang="en-US" sz="1200" b="0" i="0" u="none" strike="noStrike" dirty="0">
              <a:solidFill>
                <a:srgbClr val="718096"/>
              </a:solidFill>
              <a:latin typeface="Noto Sans SC"/>
              <a:ea typeface="Noto Sans SC"/>
              <a:cs typeface="Noto Sans SC"/>
              <a:sym typeface="Noto Sans SC"/>
            </a:endParaRPr>
          </a:p>
        </p:txBody>
      </p:sp>
      <p:sp>
        <p:nvSpPr>
          <p:cNvPr id="21" name="AutoShape 21"/>
          <p:cNvSpPr/>
          <p:nvPr/>
        </p:nvSpPr>
        <p:spPr>
          <a:xfrm>
            <a:off x="6709063" y="4191000"/>
            <a:ext cx="3429000" cy="1905000"/>
          </a:xfrm>
          <a:prstGeom prst="roundRect">
            <a:avLst>
              <a:gd name="adj" fmla="val 5333"/>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2" name="AutoShape 22"/>
          <p:cNvSpPr/>
          <p:nvPr/>
        </p:nvSpPr>
        <p:spPr>
          <a:xfrm>
            <a:off x="6709063" y="4191000"/>
            <a:ext cx="3429000" cy="508000"/>
          </a:xfrm>
          <a:prstGeom prst="roundRect">
            <a:avLst>
              <a:gd name="adj" fmla="val 0"/>
            </a:avLst>
          </a:prstGeom>
          <a:solidFill>
            <a:srgbClr val="90CDF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836063" y="4267200"/>
            <a:ext cx="317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2D3748"/>
                </a:solidFill>
                <a:latin typeface="Noto Sans SC"/>
                <a:ea typeface="Noto Sans SC"/>
                <a:cs typeface="Noto Sans SC"/>
                <a:sym typeface="Noto Sans SC"/>
              </a:rPr>
              <a:t>v4 ·</a:t>
            </a:r>
            <a:r>
              <a:rPr lang="zh-CN" altLang="en-US" sz="1600" b="1" i="0" u="none" strike="noStrike" dirty="0">
                <a:solidFill>
                  <a:srgbClr val="2D3748"/>
                </a:solidFill>
                <a:latin typeface="Noto Sans SC"/>
                <a:ea typeface="Noto Sans SC"/>
                <a:cs typeface="Noto Sans SC"/>
                <a:sym typeface="Noto Sans SC"/>
              </a:rPr>
              <a:t>内存对齐 </a:t>
            </a:r>
            <a:r>
              <a:rPr lang="en-US" altLang="zh-CN" sz="1600" b="1" i="0" u="none" strike="noStrike" dirty="0">
                <a:solidFill>
                  <a:srgbClr val="2D3748"/>
                </a:solidFill>
                <a:latin typeface="Noto Sans SC"/>
                <a:ea typeface="Noto Sans SC"/>
                <a:cs typeface="Noto Sans SC"/>
                <a:sym typeface="Noto Sans SC"/>
              </a:rPr>
              <a:t>+ </a:t>
            </a:r>
            <a:r>
              <a:rPr lang="zh-CN" altLang="en-US" sz="1600" b="1" i="0" u="none" strike="noStrike" dirty="0">
                <a:solidFill>
                  <a:srgbClr val="2D3748"/>
                </a:solidFill>
                <a:latin typeface="Noto Sans SC"/>
                <a:ea typeface="Noto Sans SC"/>
                <a:cs typeface="Noto Sans SC"/>
                <a:sym typeface="Noto Sans SC"/>
              </a:rPr>
              <a:t>软件预取</a:t>
            </a:r>
            <a:endParaRPr lang="en-US" sz="1100" dirty="0"/>
          </a:p>
        </p:txBody>
      </p:sp>
      <p:sp>
        <p:nvSpPr>
          <p:cNvPr id="24" name="AutoShape 24"/>
          <p:cNvSpPr/>
          <p:nvPr/>
        </p:nvSpPr>
        <p:spPr>
          <a:xfrm>
            <a:off x="6836063" y="4826000"/>
            <a:ext cx="317500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1" i="0" u="none" strike="noStrike" dirty="0">
                <a:solidFill>
                  <a:srgbClr val="3182CE"/>
                </a:solidFill>
                <a:latin typeface="Noto Sans SC"/>
                <a:ea typeface="Noto Sans SC"/>
                <a:cs typeface="Noto Sans SC"/>
                <a:sym typeface="Noto Sans SC"/>
              </a:rPr>
              <a:t>核心优化：</a:t>
            </a:r>
            <a:r>
              <a:rPr lang="en-US" altLang="zh-CN" sz="1200" b="0" i="0" u="none" strike="noStrike" dirty="0">
                <a:solidFill>
                  <a:srgbClr val="4A5568"/>
                </a:solidFill>
                <a:latin typeface="Noto Sans SC"/>
                <a:ea typeface="Noto Sans SC"/>
                <a:cs typeface="Noto Sans SC"/>
                <a:sym typeface="Noto Sans SC"/>
              </a:rPr>
              <a:t>16</a:t>
            </a:r>
            <a:r>
              <a:rPr lang="zh-CN" altLang="en-US" sz="1200" b="0" i="0" u="none" strike="noStrike" dirty="0">
                <a:solidFill>
                  <a:srgbClr val="4A5568"/>
                </a:solidFill>
                <a:latin typeface="Noto Sans SC"/>
                <a:ea typeface="Noto Sans SC"/>
                <a:cs typeface="Noto Sans SC"/>
                <a:sym typeface="Noto Sans SC"/>
              </a:rPr>
              <a:t>字节对齐 </a:t>
            </a:r>
            <a:r>
              <a:rPr lang="en-US" altLang="zh-CN" sz="1200" b="0" i="0" u="none" strike="noStrike" dirty="0">
                <a:solidFill>
                  <a:srgbClr val="4A5568"/>
                </a:solidFill>
                <a:latin typeface="Noto Sans SC"/>
                <a:ea typeface="Noto Sans SC"/>
                <a:cs typeface="Noto Sans SC"/>
                <a:sym typeface="Noto Sans SC"/>
              </a:rPr>
              <a:t>+ __</a:t>
            </a:r>
            <a:r>
              <a:rPr lang="en-US" sz="1200" b="0" i="0" u="none" strike="noStrike" dirty="0" err="1">
                <a:solidFill>
                  <a:srgbClr val="4A5568"/>
                </a:solidFill>
                <a:latin typeface="Noto Sans SC"/>
                <a:ea typeface="Noto Sans SC"/>
                <a:cs typeface="Noto Sans SC"/>
                <a:sym typeface="Noto Sans SC"/>
              </a:rPr>
              <a:t>builtin_prefetch</a:t>
            </a:r>
            <a:r>
              <a:rPr lang="zh-CN" altLang="en-US" sz="1200" b="0" i="0" u="none" strike="noStrike" dirty="0">
                <a:solidFill>
                  <a:srgbClr val="4A5568"/>
                </a:solidFill>
                <a:latin typeface="Noto Sans SC"/>
                <a:ea typeface="Noto Sans SC"/>
                <a:cs typeface="Noto Sans SC"/>
                <a:sym typeface="Noto Sans SC"/>
              </a:rPr>
              <a:t>显式预取</a:t>
            </a:r>
            <a:endParaRPr lang="en-US" sz="1100" dirty="0"/>
          </a:p>
          <a:p>
            <a:pPr indent="0" algn="l">
              <a:lnSpc>
                <a:spcPct val="108333"/>
              </a:lnSpc>
            </a:pPr>
            <a:r>
              <a:rPr lang="en-US" sz="1200" b="1" i="0" u="none" strike="noStrike" dirty="0" err="1">
                <a:solidFill>
                  <a:srgbClr val="DD6B20"/>
                </a:solidFill>
                <a:latin typeface="Noto Sans SC"/>
                <a:ea typeface="Noto Sans SC"/>
                <a:cs typeface="Noto Sans SC"/>
                <a:sym typeface="Noto Sans SC"/>
              </a:rPr>
              <a:t>目标</a:t>
            </a:r>
            <a:r>
              <a:rPr lang="en-US" sz="1200" b="1" i="0" u="none" strike="noStrike" dirty="0">
                <a:solidFill>
                  <a:srgbClr val="DD6B20"/>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数据预加载至</a:t>
            </a:r>
            <a:r>
              <a:rPr lang="en-US" altLang="zh-CN" sz="1200" b="0" i="0" u="none" strike="noStrike" dirty="0">
                <a:solidFill>
                  <a:srgbClr val="4A5568"/>
                </a:solidFill>
                <a:latin typeface="Noto Sans SC"/>
                <a:ea typeface="Noto Sans SC"/>
                <a:cs typeface="Noto Sans SC"/>
                <a:sym typeface="Noto Sans SC"/>
              </a:rPr>
              <a:t>L1</a:t>
            </a:r>
            <a:r>
              <a:rPr lang="zh-CN" altLang="en-US" sz="1200" b="0" i="0" u="none" strike="noStrike" dirty="0">
                <a:solidFill>
                  <a:srgbClr val="4A5568"/>
                </a:solidFill>
                <a:latin typeface="Noto Sans SC"/>
                <a:ea typeface="Noto Sans SC"/>
                <a:cs typeface="Noto Sans SC"/>
                <a:sym typeface="Noto Sans SC"/>
              </a:rPr>
              <a:t>缓存，隐藏内存访问延迟</a:t>
            </a:r>
            <a:endParaRPr lang="en-US" sz="1200" b="0" i="0" u="none" strike="noStrike" dirty="0">
              <a:solidFill>
                <a:srgbClr val="4A5568"/>
              </a:solidFill>
              <a:latin typeface="Noto Sans SC"/>
              <a:ea typeface="Noto Sans SC"/>
              <a:cs typeface="Noto Sans SC"/>
              <a:sym typeface="Noto Sans SC"/>
            </a:endParaRPr>
          </a:p>
          <a:p>
            <a:pPr indent="0" algn="l">
              <a:lnSpc>
                <a:spcPct val="108333"/>
              </a:lnSpc>
            </a:pPr>
            <a:r>
              <a:rPr lang="en-US" sz="1200" b="1" i="0" u="none" strike="noStrike" dirty="0" err="1">
                <a:solidFill>
                  <a:srgbClr val="E53E3E"/>
                </a:solidFill>
                <a:latin typeface="Noto Sans SC"/>
                <a:ea typeface="Noto Sans SC"/>
                <a:cs typeface="Noto Sans SC"/>
                <a:sym typeface="Noto Sans SC"/>
              </a:rPr>
              <a:t>解决瓶颈</a:t>
            </a:r>
            <a:r>
              <a:rPr lang="en-US" sz="1200" b="1" i="0" u="none" strike="noStrike" dirty="0">
                <a:solidFill>
                  <a:srgbClr val="E53E3E"/>
                </a:solidFill>
                <a:latin typeface="Noto Sans SC"/>
                <a:ea typeface="Noto Sans SC"/>
                <a:cs typeface="Noto Sans SC"/>
                <a:sym typeface="Noto Sans SC"/>
              </a:rPr>
              <a:t>：</a:t>
            </a:r>
            <a:r>
              <a:rPr lang="zh-CN" altLang="en-US" sz="1200" b="0" i="0" u="none" strike="noStrike" dirty="0">
                <a:solidFill>
                  <a:srgbClr val="718096"/>
                </a:solidFill>
                <a:latin typeface="Noto Sans SC"/>
                <a:ea typeface="Noto Sans SC"/>
                <a:cs typeface="Noto Sans SC"/>
                <a:sym typeface="Noto Sans SC"/>
              </a:rPr>
              <a:t>主存访问延迟、内存带宽墙</a:t>
            </a:r>
            <a:endParaRPr lang="en-US" sz="1200" b="0" i="0" u="none" strike="noStrike" dirty="0">
              <a:solidFill>
                <a:srgbClr val="718096"/>
              </a:solidFill>
              <a:latin typeface="Noto Sans SC"/>
              <a:ea typeface="Noto Sans SC"/>
              <a:cs typeface="Noto Sans SC"/>
              <a:sym typeface="Noto Sans SC"/>
            </a:endParaRPr>
          </a:p>
        </p:txBody>
      </p:sp>
      <p:sp>
        <p:nvSpPr>
          <p:cNvPr id="29" name="AutoShape 29"/>
          <p:cNvSpPr/>
          <p:nvPr/>
        </p:nvSpPr>
        <p:spPr>
          <a:xfrm>
            <a:off x="762000" y="6223000"/>
            <a:ext cx="10668000" cy="508000"/>
          </a:xfrm>
          <a:prstGeom prst="roundRect">
            <a:avLst>
              <a:gd name="adj" fmla="val 25000"/>
            </a:avLst>
          </a:prstGeom>
          <a:solidFill>
            <a:srgbClr val="EDF2F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762000" y="6299200"/>
            <a:ext cx="1066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2D3748"/>
                </a:solidFill>
                <a:latin typeface="Noto Sans SC"/>
                <a:ea typeface="Noto Sans SC"/>
                <a:cs typeface="Noto Sans SC"/>
                <a:sym typeface="Noto Sans SC"/>
              </a:rPr>
              <a:t>💡 本页是整份PPT的“总纲”，后续页面将逐一展开介绍每个版本的优化细节。</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9D7CE-9A16-6A6D-B704-4AC2A8528206}"/>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5FE68CDD-D40F-BDBF-C819-6E5C067CC529}"/>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08643E0B-CFCA-A945-D8D8-38F5C5EEF657}"/>
              </a:ext>
            </a:extLst>
          </p:cNvPr>
          <p:cNvSpPr>
            <a:spLocks noGrp="1"/>
          </p:cNvSpPr>
          <p:nvPr>
            <p:ph type="title"/>
          </p:nvPr>
        </p:nvSpPr>
        <p:spPr/>
        <p:txBody>
          <a:bodyPr/>
          <a:lstStyle/>
          <a:p>
            <a:r>
              <a:rPr lang="zh-CN" altLang="en-US" dirty="0"/>
              <a:t>程序流程图</a:t>
            </a:r>
          </a:p>
        </p:txBody>
      </p:sp>
      <p:sp>
        <p:nvSpPr>
          <p:cNvPr id="60" name="文本框 59">
            <a:extLst>
              <a:ext uri="{FF2B5EF4-FFF2-40B4-BE49-F238E27FC236}">
                <a16:creationId xmlns:a16="http://schemas.microsoft.com/office/drawing/2014/main" id="{C1ACAEE7-57AA-3520-5F3C-BCF216956CB6}"/>
              </a:ext>
            </a:extLst>
          </p:cNvPr>
          <p:cNvSpPr txBox="1"/>
          <p:nvPr/>
        </p:nvSpPr>
        <p:spPr>
          <a:xfrm>
            <a:off x="384810" y="1046480"/>
            <a:ext cx="2646878"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顶层测试核心流程</a:t>
            </a:r>
          </a:p>
        </p:txBody>
      </p:sp>
      <p:pic>
        <p:nvPicPr>
          <p:cNvPr id="9" name="图片 8">
            <a:extLst>
              <a:ext uri="{FF2B5EF4-FFF2-40B4-BE49-F238E27FC236}">
                <a16:creationId xmlns:a16="http://schemas.microsoft.com/office/drawing/2014/main" id="{13B0D883-8734-0BF7-59C8-97CB20A42721}"/>
              </a:ext>
            </a:extLst>
          </p:cNvPr>
          <p:cNvPicPr>
            <a:picLocks noChangeAspect="1"/>
          </p:cNvPicPr>
          <p:nvPr/>
        </p:nvPicPr>
        <p:blipFill>
          <a:blip r:embed="rId3"/>
          <a:stretch>
            <a:fillRect/>
          </a:stretch>
        </p:blipFill>
        <p:spPr>
          <a:xfrm>
            <a:off x="0" y="2924873"/>
            <a:ext cx="12192000" cy="1008253"/>
          </a:xfrm>
          <a:prstGeom prst="rect">
            <a:avLst/>
          </a:prstGeom>
        </p:spPr>
      </p:pic>
    </p:spTree>
    <p:extLst>
      <p:ext uri="{BB962C8B-B14F-4D97-AF65-F5344CB8AC3E}">
        <p14:creationId xmlns:p14="http://schemas.microsoft.com/office/powerpoint/2010/main" val="2517377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27C52-A806-7AE0-60C4-B3997D91740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25CF0218-8875-1B27-CC20-7FC95818369D}"/>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CB0B3EE0-B3BA-E771-596B-A3F2B558DEB9}"/>
              </a:ext>
            </a:extLst>
          </p:cNvPr>
          <p:cNvSpPr>
            <a:spLocks noGrp="1"/>
          </p:cNvSpPr>
          <p:nvPr>
            <p:ph type="title"/>
          </p:nvPr>
        </p:nvSpPr>
        <p:spPr/>
        <p:txBody>
          <a:bodyPr/>
          <a:lstStyle/>
          <a:p>
            <a:r>
              <a:rPr lang="zh-CN" altLang="en-US" dirty="0"/>
              <a:t>接口函数</a:t>
            </a:r>
          </a:p>
        </p:txBody>
      </p:sp>
      <p:sp>
        <p:nvSpPr>
          <p:cNvPr id="60" name="文本框 59">
            <a:extLst>
              <a:ext uri="{FF2B5EF4-FFF2-40B4-BE49-F238E27FC236}">
                <a16:creationId xmlns:a16="http://schemas.microsoft.com/office/drawing/2014/main" id="{B66709E2-88F3-9D56-6416-B914393C055E}"/>
              </a:ext>
            </a:extLst>
          </p:cNvPr>
          <p:cNvSpPr txBox="1"/>
          <p:nvPr/>
        </p:nvSpPr>
        <p:spPr>
          <a:xfrm>
            <a:off x="384810" y="682795"/>
            <a:ext cx="1415772"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接口函数</a:t>
            </a:r>
          </a:p>
        </p:txBody>
      </p:sp>
      <p:graphicFrame>
        <p:nvGraphicFramePr>
          <p:cNvPr id="2" name="表格 1">
            <a:extLst>
              <a:ext uri="{FF2B5EF4-FFF2-40B4-BE49-F238E27FC236}">
                <a16:creationId xmlns:a16="http://schemas.microsoft.com/office/drawing/2014/main" id="{967E82F3-869B-AEF8-3D30-F06F4BA8688D}"/>
              </a:ext>
            </a:extLst>
          </p:cNvPr>
          <p:cNvGraphicFramePr>
            <a:graphicFrameLocks noGrp="1"/>
          </p:cNvGraphicFramePr>
          <p:nvPr>
            <p:extLst>
              <p:ext uri="{D42A27DB-BD31-4B8C-83A1-F6EECF244321}">
                <p14:modId xmlns:p14="http://schemas.microsoft.com/office/powerpoint/2010/main" val="2143697857"/>
              </p:ext>
            </p:extLst>
          </p:nvPr>
        </p:nvGraphicFramePr>
        <p:xfrm>
          <a:off x="384810" y="1597142"/>
          <a:ext cx="8437072" cy="3973958"/>
        </p:xfrm>
        <a:graphic>
          <a:graphicData uri="http://schemas.openxmlformats.org/drawingml/2006/table">
            <a:tbl>
              <a:tblPr firstRow="1" bandRow="1">
                <a:tableStyleId>{5C22544A-7EE6-4342-B048-85BDC9FD1C3A}</a:tableStyleId>
              </a:tblPr>
              <a:tblGrid>
                <a:gridCol w="4242807">
                  <a:extLst>
                    <a:ext uri="{9D8B030D-6E8A-4147-A177-3AD203B41FA5}">
                      <a16:colId xmlns:a16="http://schemas.microsoft.com/office/drawing/2014/main" val="2678204492"/>
                    </a:ext>
                  </a:extLst>
                </a:gridCol>
                <a:gridCol w="4194265">
                  <a:extLst>
                    <a:ext uri="{9D8B030D-6E8A-4147-A177-3AD203B41FA5}">
                      <a16:colId xmlns:a16="http://schemas.microsoft.com/office/drawing/2014/main" val="2301700994"/>
                    </a:ext>
                  </a:extLst>
                </a:gridCol>
              </a:tblGrid>
              <a:tr h="346898">
                <a:tc>
                  <a:txBody>
                    <a:bodyPr/>
                    <a:lstStyle/>
                    <a:p>
                      <a:r>
                        <a:rPr lang="zh-CN" altLang="en-US" sz="1800" b="0" i="0" kern="1200" dirty="0">
                          <a:solidFill>
                            <a:schemeClr val="lt1"/>
                          </a:solidFill>
                          <a:effectLst/>
                          <a:latin typeface="+mn-lt"/>
                          <a:ea typeface="+mn-ea"/>
                          <a:cs typeface="+mn-cs"/>
                        </a:rPr>
                        <a:t>函数</a:t>
                      </a:r>
                      <a:endParaRPr lang="zh-CN" altLang="en-US" dirty="0"/>
                    </a:p>
                  </a:txBody>
                  <a:tcPr/>
                </a:tc>
                <a:tc>
                  <a:txBody>
                    <a:bodyPr/>
                    <a:lstStyle/>
                    <a:p>
                      <a:r>
                        <a:rPr lang="zh-CN" altLang="en-US" sz="1800" b="0" i="0" kern="1200" dirty="0">
                          <a:solidFill>
                            <a:schemeClr val="lt1"/>
                          </a:solidFill>
                          <a:effectLst/>
                          <a:latin typeface="+mn-lt"/>
                          <a:ea typeface="+mn-ea"/>
                          <a:cs typeface="+mn-cs"/>
                        </a:rPr>
                        <a:t>作用</a:t>
                      </a:r>
                      <a:endParaRPr lang="zh-CN" altLang="en-US" dirty="0"/>
                    </a:p>
                  </a:txBody>
                  <a:tcPr/>
                </a:tc>
                <a:extLst>
                  <a:ext uri="{0D108BD9-81ED-4DB2-BD59-A6C34878D82A}">
                    <a16:rowId xmlns:a16="http://schemas.microsoft.com/office/drawing/2014/main" val="3514939563"/>
                  </a:ext>
                </a:extLst>
              </a:tr>
              <a:tr h="867245">
                <a:tc>
                  <a:txBody>
                    <a:bodyPr/>
                    <a:lstStyle/>
                    <a:p>
                      <a:r>
                        <a:rPr lang="en-US" altLang="zh-CN" sz="1800" b="0" i="0" kern="1200" dirty="0" err="1">
                          <a:solidFill>
                            <a:schemeClr val="dk1"/>
                          </a:solidFill>
                          <a:effectLst/>
                          <a:latin typeface="+mn-lt"/>
                          <a:ea typeface="+mn-ea"/>
                          <a:cs typeface="+mn-cs"/>
                        </a:rPr>
                        <a:t>RetCode_t</a:t>
                      </a:r>
                      <a:r>
                        <a:rPr lang="en-US" altLang="zh-CN" sz="1800" b="0" i="0" kern="1200" dirty="0">
                          <a:solidFill>
                            <a:schemeClr val="dk1"/>
                          </a:solidFill>
                          <a:effectLst/>
                          <a:latin typeface="+mn-lt"/>
                          <a:ea typeface="+mn-ea"/>
                          <a:cs typeface="+mn-cs"/>
                        </a:rPr>
                        <a:t> </a:t>
                      </a:r>
                      <a:r>
                        <a:rPr lang="en-US" altLang="zh-CN" sz="1800" b="0" i="0" kern="1200" dirty="0" err="1">
                          <a:solidFill>
                            <a:schemeClr val="dk1"/>
                          </a:solidFill>
                          <a:effectLst/>
                          <a:latin typeface="+mn-lt"/>
                          <a:ea typeface="+mn-ea"/>
                          <a:cs typeface="+mn-cs"/>
                        </a:rPr>
                        <a:t>fft_linux_iopointer</a:t>
                      </a:r>
                      <a:r>
                        <a:rPr lang="en-US" altLang="zh-CN" sz="1800" b="0" i="0" kern="1200" dirty="0">
                          <a:solidFill>
                            <a:schemeClr val="dk1"/>
                          </a:solidFill>
                          <a:effectLst/>
                          <a:latin typeface="+mn-lt"/>
                          <a:ea typeface="+mn-ea"/>
                          <a:cs typeface="+mn-cs"/>
                        </a:rPr>
                        <a:t>(int size, float *</a:t>
                      </a:r>
                      <a:r>
                        <a:rPr lang="en-US" altLang="zh-CN" sz="1800" b="0" i="0" kern="1200" dirty="0" err="1">
                          <a:solidFill>
                            <a:schemeClr val="dk1"/>
                          </a:solidFill>
                          <a:effectLst/>
                          <a:latin typeface="+mn-lt"/>
                          <a:ea typeface="+mn-ea"/>
                          <a:cs typeface="+mn-cs"/>
                        </a:rPr>
                        <a:t>input_real</a:t>
                      </a:r>
                      <a:r>
                        <a:rPr lang="en-US" altLang="zh-CN" sz="1800" b="0" i="0" kern="1200" dirty="0">
                          <a:solidFill>
                            <a:schemeClr val="dk1"/>
                          </a:solidFill>
                          <a:effectLst/>
                          <a:latin typeface="+mn-lt"/>
                          <a:ea typeface="+mn-ea"/>
                          <a:cs typeface="+mn-cs"/>
                        </a:rPr>
                        <a:t>, float *</a:t>
                      </a:r>
                      <a:r>
                        <a:rPr lang="en-US" altLang="zh-CN" sz="1800" b="0" i="0" kern="1200" dirty="0" err="1">
                          <a:solidFill>
                            <a:schemeClr val="dk1"/>
                          </a:solidFill>
                          <a:effectLst/>
                          <a:latin typeface="+mn-lt"/>
                          <a:ea typeface="+mn-ea"/>
                          <a:cs typeface="+mn-cs"/>
                        </a:rPr>
                        <a:t>input_imag</a:t>
                      </a:r>
                      <a:r>
                        <a:rPr lang="en-US" altLang="zh-CN" sz="1800" b="0" i="0" kern="1200" dirty="0">
                          <a:solidFill>
                            <a:schemeClr val="dk1"/>
                          </a:solidFill>
                          <a:effectLst/>
                          <a:latin typeface="+mn-lt"/>
                          <a:ea typeface="+mn-ea"/>
                          <a:cs typeface="+mn-cs"/>
                        </a:rPr>
                        <a:t>);</a:t>
                      </a:r>
                      <a:endParaRPr lang="zh-CN" altLang="en-US" dirty="0"/>
                    </a:p>
                  </a:txBody>
                  <a:tcPr/>
                </a:tc>
                <a:tc>
                  <a:txBody>
                    <a:bodyPr/>
                    <a:lstStyle/>
                    <a:p>
                      <a:r>
                        <a:rPr lang="zh-CN" altLang="en-US" sz="1800" b="0" i="0" kern="1200" dirty="0">
                          <a:solidFill>
                            <a:schemeClr val="dk1"/>
                          </a:solidFill>
                          <a:effectLst/>
                          <a:latin typeface="+mn-lt"/>
                          <a:ea typeface="+mn-ea"/>
                          <a:cs typeface="+mn-cs"/>
                        </a:rPr>
                        <a:t>检查输入合法性（指针非空 </a:t>
                      </a:r>
                      <a:r>
                        <a:rPr lang="en-US" altLang="zh-CN" sz="1800" b="0" i="0" kern="1200" dirty="0">
                          <a:solidFill>
                            <a:schemeClr val="dk1"/>
                          </a:solidFill>
                          <a:effectLst/>
                          <a:latin typeface="+mn-lt"/>
                          <a:ea typeface="+mn-ea"/>
                          <a:cs typeface="+mn-cs"/>
                        </a:rPr>
                        <a:t>+ size </a:t>
                      </a:r>
                      <a:r>
                        <a:rPr lang="zh-CN" altLang="en-US" sz="1800" b="0" i="0" kern="1200" dirty="0">
                          <a:solidFill>
                            <a:schemeClr val="dk1"/>
                          </a:solidFill>
                          <a:effectLst/>
                          <a:latin typeface="+mn-lt"/>
                          <a:ea typeface="+mn-ea"/>
                          <a:cs typeface="+mn-cs"/>
                        </a:rPr>
                        <a:t>为 </a:t>
                      </a:r>
                      <a:r>
                        <a:rPr lang="en-US" altLang="zh-CN" sz="1800" b="0" i="0" kern="1200" dirty="0">
                          <a:solidFill>
                            <a:schemeClr val="dk1"/>
                          </a:solidFill>
                          <a:effectLst/>
                          <a:latin typeface="+mn-lt"/>
                          <a:ea typeface="+mn-ea"/>
                          <a:cs typeface="+mn-cs"/>
                        </a:rPr>
                        <a:t>2 </a:t>
                      </a:r>
                      <a:r>
                        <a:rPr lang="zh-CN" altLang="en-US" sz="1800" b="0" i="0" kern="1200" dirty="0">
                          <a:solidFill>
                            <a:schemeClr val="dk1"/>
                          </a:solidFill>
                          <a:effectLst/>
                          <a:latin typeface="+mn-lt"/>
                          <a:ea typeface="+mn-ea"/>
                          <a:cs typeface="+mn-cs"/>
                        </a:rPr>
                        <a:t>的幂次），预计算旋转因子，执行 </a:t>
                      </a:r>
                      <a:r>
                        <a:rPr lang="en-US" altLang="zh-CN" sz="1800" b="0" i="0" kern="1200" dirty="0">
                          <a:solidFill>
                            <a:schemeClr val="dk1"/>
                          </a:solidFill>
                          <a:effectLst/>
                          <a:latin typeface="+mn-lt"/>
                          <a:ea typeface="+mn-ea"/>
                          <a:cs typeface="+mn-cs"/>
                        </a:rPr>
                        <a:t>FFT </a:t>
                      </a:r>
                      <a:r>
                        <a:rPr lang="zh-CN" altLang="en-US" sz="1800" b="0" i="0" kern="1200" dirty="0">
                          <a:solidFill>
                            <a:schemeClr val="dk1"/>
                          </a:solidFill>
                          <a:effectLst/>
                          <a:latin typeface="+mn-lt"/>
                          <a:ea typeface="+mn-ea"/>
                          <a:cs typeface="+mn-cs"/>
                        </a:rPr>
                        <a:t>变换，结果直接写回 </a:t>
                      </a:r>
                      <a:r>
                        <a:rPr lang="en-US" altLang="zh-CN" sz="1800" b="0" i="0" kern="1200" dirty="0">
                          <a:solidFill>
                            <a:schemeClr val="dk1"/>
                          </a:solidFill>
                          <a:effectLst/>
                          <a:latin typeface="+mn-lt"/>
                          <a:ea typeface="+mn-ea"/>
                          <a:cs typeface="+mn-cs"/>
                        </a:rPr>
                        <a:t>input </a:t>
                      </a:r>
                      <a:r>
                        <a:rPr lang="zh-CN" altLang="en-US" sz="1800" b="0" i="0" kern="1200" dirty="0">
                          <a:solidFill>
                            <a:schemeClr val="dk1"/>
                          </a:solidFill>
                          <a:effectLst/>
                          <a:latin typeface="+mn-lt"/>
                          <a:ea typeface="+mn-ea"/>
                          <a:cs typeface="+mn-cs"/>
                        </a:rPr>
                        <a:t>数组</a:t>
                      </a:r>
                      <a:endParaRPr lang="zh-CN" altLang="en-US" dirty="0"/>
                    </a:p>
                  </a:txBody>
                  <a:tcPr/>
                </a:tc>
                <a:extLst>
                  <a:ext uri="{0D108BD9-81ED-4DB2-BD59-A6C34878D82A}">
                    <a16:rowId xmlns:a16="http://schemas.microsoft.com/office/drawing/2014/main" val="3721032025"/>
                  </a:ext>
                </a:extLst>
              </a:tr>
              <a:tr h="1505078">
                <a:tc>
                  <a:txBody>
                    <a:bodyPr/>
                    <a:lstStyle/>
                    <a:p>
                      <a:r>
                        <a:rPr lang="en-US" altLang="zh-CN" sz="1800" b="0" i="0" kern="1200" dirty="0" err="1">
                          <a:solidFill>
                            <a:schemeClr val="dk1"/>
                          </a:solidFill>
                          <a:effectLst/>
                          <a:latin typeface="+mn-lt"/>
                          <a:ea typeface="+mn-ea"/>
                          <a:cs typeface="+mn-cs"/>
                        </a:rPr>
                        <a:t>RetCode_t</a:t>
                      </a:r>
                      <a:r>
                        <a:rPr lang="en-US" altLang="zh-CN" sz="1800" b="0" i="0" kern="1200" dirty="0">
                          <a:solidFill>
                            <a:schemeClr val="dk1"/>
                          </a:solidFill>
                          <a:effectLst/>
                          <a:latin typeface="+mn-lt"/>
                          <a:ea typeface="+mn-ea"/>
                          <a:cs typeface="+mn-cs"/>
                        </a:rPr>
                        <a:t> </a:t>
                      </a:r>
                      <a:r>
                        <a:rPr lang="en-US" altLang="zh-CN" sz="1800" b="0" i="0" kern="1200" dirty="0" err="1">
                          <a:solidFill>
                            <a:schemeClr val="dk1"/>
                          </a:solidFill>
                          <a:effectLst/>
                          <a:latin typeface="+mn-lt"/>
                          <a:ea typeface="+mn-ea"/>
                          <a:cs typeface="+mn-cs"/>
                        </a:rPr>
                        <a:t>fft_linux_ioself_profiling</a:t>
                      </a:r>
                      <a:r>
                        <a:rPr lang="en-US" altLang="zh-CN" sz="1800" b="0" i="0" kern="1200" dirty="0">
                          <a:solidFill>
                            <a:schemeClr val="dk1"/>
                          </a:solidFill>
                          <a:effectLst/>
                          <a:latin typeface="+mn-lt"/>
                          <a:ea typeface="+mn-ea"/>
                          <a:cs typeface="+mn-cs"/>
                        </a:rPr>
                        <a:t>(int size)</a:t>
                      </a:r>
                      <a:endParaRPr lang="zh-CN" altLang="en-US" dirty="0"/>
                    </a:p>
                  </a:txBody>
                  <a:tcPr/>
                </a:tc>
                <a:tc>
                  <a:txBody>
                    <a:bodyPr/>
                    <a:lstStyle/>
                    <a:p>
                      <a:r>
                        <a:rPr lang="zh-CN" altLang="en-US" sz="1800" b="0" i="0" kern="1200" dirty="0">
                          <a:solidFill>
                            <a:schemeClr val="dk1"/>
                          </a:solidFill>
                          <a:effectLst/>
                          <a:latin typeface="+mn-lt"/>
                          <a:ea typeface="+mn-ea"/>
                          <a:cs typeface="+mn-cs"/>
                        </a:rPr>
                        <a:t>自生成随机输入数据</a:t>
                      </a:r>
                      <a:r>
                        <a:rPr lang="en-US" altLang="zh-CN" sz="1800" b="0" i="0" kern="1200" dirty="0">
                          <a:solidFill>
                            <a:schemeClr val="dk1"/>
                          </a:solidFill>
                          <a:effectLst/>
                          <a:latin typeface="+mn-lt"/>
                          <a:ea typeface="+mn-ea"/>
                          <a:cs typeface="+mn-cs"/>
                        </a:rPr>
                        <a:t>(</a:t>
                      </a:r>
                      <a:r>
                        <a:rPr lang="zh-CN" altLang="en-US" sz="1800" b="0" i="0" kern="1200" dirty="0">
                          <a:solidFill>
                            <a:schemeClr val="dk1"/>
                          </a:solidFill>
                          <a:effectLst/>
                          <a:latin typeface="+mn-lt"/>
                          <a:ea typeface="+mn-ea"/>
                          <a:cs typeface="+mn-cs"/>
                        </a:rPr>
                        <a:t>实部随机，虚部为 </a:t>
                      </a:r>
                      <a:r>
                        <a:rPr lang="en-US" altLang="zh-CN" sz="1800" b="0" i="0" kern="1200" dirty="0">
                          <a:solidFill>
                            <a:schemeClr val="dk1"/>
                          </a:solidFill>
                          <a:effectLst/>
                          <a:latin typeface="+mn-lt"/>
                          <a:ea typeface="+mn-ea"/>
                          <a:cs typeface="+mn-cs"/>
                        </a:rPr>
                        <a:t>0)</a:t>
                      </a:r>
                      <a:r>
                        <a:rPr lang="zh-CN" altLang="en-US" sz="1800" b="0" i="0" kern="1200" dirty="0">
                          <a:solidFill>
                            <a:schemeClr val="dk1"/>
                          </a:solidFill>
                          <a:effectLst/>
                          <a:latin typeface="+mn-lt"/>
                          <a:ea typeface="+mn-ea"/>
                          <a:cs typeface="+mn-cs"/>
                        </a:rPr>
                        <a:t>，调用 </a:t>
                      </a:r>
                      <a:r>
                        <a:rPr lang="en-US" altLang="zh-CN" sz="1800" b="0" i="0" kern="1200" dirty="0" err="1">
                          <a:solidFill>
                            <a:schemeClr val="dk1"/>
                          </a:solidFill>
                          <a:effectLst/>
                          <a:latin typeface="+mn-lt"/>
                          <a:ea typeface="+mn-ea"/>
                          <a:cs typeface="+mn-cs"/>
                        </a:rPr>
                        <a:t>fft_linux_iopointer</a:t>
                      </a:r>
                      <a:r>
                        <a:rPr lang="en-US" altLang="zh-CN" sz="1800" b="0" i="0" kern="1200" dirty="0">
                          <a:solidFill>
                            <a:schemeClr val="dk1"/>
                          </a:solidFill>
                          <a:effectLst/>
                          <a:latin typeface="+mn-lt"/>
                          <a:ea typeface="+mn-ea"/>
                          <a:cs typeface="+mn-cs"/>
                        </a:rPr>
                        <a:t> </a:t>
                      </a:r>
                      <a:r>
                        <a:rPr lang="zh-CN" altLang="en-US" sz="1800" b="0" i="0" kern="1200" dirty="0">
                          <a:solidFill>
                            <a:schemeClr val="dk1"/>
                          </a:solidFill>
                          <a:effectLst/>
                          <a:latin typeface="+mn-lt"/>
                          <a:ea typeface="+mn-ea"/>
                          <a:cs typeface="+mn-cs"/>
                        </a:rPr>
                        <a:t>执行 </a:t>
                      </a:r>
                      <a:r>
                        <a:rPr lang="en-US" altLang="zh-CN" sz="1800" b="0" i="0" kern="1200" dirty="0">
                          <a:solidFill>
                            <a:schemeClr val="dk1"/>
                          </a:solidFill>
                          <a:effectLst/>
                          <a:latin typeface="+mn-lt"/>
                          <a:ea typeface="+mn-ea"/>
                          <a:cs typeface="+mn-cs"/>
                        </a:rPr>
                        <a:t>FFT</a:t>
                      </a:r>
                      <a:r>
                        <a:rPr lang="zh-CN" altLang="en-US" sz="1800" b="0" i="0" kern="1200" dirty="0">
                          <a:solidFill>
                            <a:schemeClr val="dk1"/>
                          </a:solidFill>
                          <a:effectLst/>
                          <a:latin typeface="+mn-lt"/>
                          <a:ea typeface="+mn-ea"/>
                          <a:cs typeface="+mn-cs"/>
                        </a:rPr>
                        <a:t>，用纳秒级精度计时并 </a:t>
                      </a:r>
                      <a:r>
                        <a:rPr lang="en-US" altLang="zh-CN" sz="1800" b="0" i="0" kern="1200" dirty="0" err="1">
                          <a:solidFill>
                            <a:schemeClr val="dk1"/>
                          </a:solidFill>
                          <a:effectLst/>
                          <a:latin typeface="+mn-lt"/>
                          <a:ea typeface="+mn-ea"/>
                          <a:cs typeface="+mn-cs"/>
                        </a:rPr>
                        <a:t>printf</a:t>
                      </a:r>
                      <a:r>
                        <a:rPr lang="en-US" altLang="zh-CN" sz="1800" b="0" i="0" kern="1200" dirty="0">
                          <a:solidFill>
                            <a:schemeClr val="dk1"/>
                          </a:solidFill>
                          <a:effectLst/>
                          <a:latin typeface="+mn-lt"/>
                          <a:ea typeface="+mn-ea"/>
                          <a:cs typeface="+mn-cs"/>
                        </a:rPr>
                        <a:t> </a:t>
                      </a:r>
                      <a:r>
                        <a:rPr lang="zh-CN" altLang="en-US" sz="1800" b="0" i="0" kern="1200" dirty="0">
                          <a:solidFill>
                            <a:schemeClr val="dk1"/>
                          </a:solidFill>
                          <a:effectLst/>
                          <a:latin typeface="+mn-lt"/>
                          <a:ea typeface="+mn-ea"/>
                          <a:cs typeface="+mn-cs"/>
                        </a:rPr>
                        <a:t>输出，再通过 </a:t>
                      </a:r>
                      <a:r>
                        <a:rPr lang="en-US" altLang="zh-CN" sz="1800" b="0" i="0" kern="1200" dirty="0">
                          <a:solidFill>
                            <a:schemeClr val="dk1"/>
                          </a:solidFill>
                          <a:effectLst/>
                          <a:latin typeface="+mn-lt"/>
                          <a:ea typeface="+mn-ea"/>
                          <a:cs typeface="+mn-cs"/>
                        </a:rPr>
                        <a:t>IFFT </a:t>
                      </a:r>
                      <a:r>
                        <a:rPr lang="zh-CN" altLang="en-US" sz="1800" b="0" i="0" kern="1200" dirty="0">
                          <a:solidFill>
                            <a:schemeClr val="dk1"/>
                          </a:solidFill>
                          <a:effectLst/>
                          <a:latin typeface="+mn-lt"/>
                          <a:ea typeface="+mn-ea"/>
                          <a:cs typeface="+mn-cs"/>
                        </a:rPr>
                        <a:t>验证正确性并打印最大误差。返回前释放所有内存。用于性能采样。</a:t>
                      </a:r>
                      <a:endParaRPr lang="zh-CN" altLang="en-US" dirty="0"/>
                    </a:p>
                  </a:txBody>
                  <a:tcPr/>
                </a:tc>
                <a:extLst>
                  <a:ext uri="{0D108BD9-81ED-4DB2-BD59-A6C34878D82A}">
                    <a16:rowId xmlns:a16="http://schemas.microsoft.com/office/drawing/2014/main" val="3014010326"/>
                  </a:ext>
                </a:extLst>
              </a:tr>
              <a:tr h="1127419">
                <a:tc>
                  <a:txBody>
                    <a:bodyPr/>
                    <a:lstStyle/>
                    <a:p>
                      <a:r>
                        <a:rPr lang="en-US" altLang="zh-CN" sz="1800" b="0" i="0" kern="1200" dirty="0" err="1">
                          <a:solidFill>
                            <a:schemeClr val="dk1"/>
                          </a:solidFill>
                          <a:effectLst/>
                          <a:latin typeface="+mn-lt"/>
                          <a:ea typeface="+mn-ea"/>
                          <a:cs typeface="+mn-cs"/>
                        </a:rPr>
                        <a:t>RetCode_t</a:t>
                      </a:r>
                      <a:r>
                        <a:rPr lang="en-US" altLang="zh-CN" sz="1800" b="0" i="0" kern="1200" dirty="0">
                          <a:solidFill>
                            <a:schemeClr val="dk1"/>
                          </a:solidFill>
                          <a:effectLst/>
                          <a:latin typeface="+mn-lt"/>
                          <a:ea typeface="+mn-ea"/>
                          <a:cs typeface="+mn-cs"/>
                        </a:rPr>
                        <a:t> </a:t>
                      </a:r>
                      <a:r>
                        <a:rPr lang="en-US" altLang="zh-CN" sz="1800" b="0" i="0" kern="1200" dirty="0" err="1">
                          <a:solidFill>
                            <a:schemeClr val="dk1"/>
                          </a:solidFill>
                          <a:effectLst/>
                          <a:latin typeface="+mn-lt"/>
                          <a:ea typeface="+mn-ea"/>
                          <a:cs typeface="+mn-cs"/>
                        </a:rPr>
                        <a:t>fft_linux_ioself</a:t>
                      </a:r>
                      <a:r>
                        <a:rPr lang="en-US" altLang="zh-CN" sz="1800" b="0" i="0" kern="1200" dirty="0">
                          <a:solidFill>
                            <a:schemeClr val="dk1"/>
                          </a:solidFill>
                          <a:effectLst/>
                          <a:latin typeface="+mn-lt"/>
                          <a:ea typeface="+mn-ea"/>
                          <a:cs typeface="+mn-cs"/>
                        </a:rPr>
                        <a:t>(int size)</a:t>
                      </a:r>
                      <a:endParaRPr lang="zh-CN" altLang="en-US" dirty="0"/>
                    </a:p>
                  </a:txBody>
                  <a:tcPr/>
                </a:tc>
                <a:tc>
                  <a:txBody>
                    <a:bodyPr/>
                    <a:lstStyle/>
                    <a:p>
                      <a:r>
                        <a:rPr lang="zh-CN" altLang="en-US" sz="1800" b="0" i="0" kern="1200" dirty="0">
                          <a:solidFill>
                            <a:schemeClr val="dk1"/>
                          </a:solidFill>
                          <a:effectLst/>
                          <a:latin typeface="+mn-lt"/>
                          <a:ea typeface="+mn-ea"/>
                          <a:cs typeface="+mn-cs"/>
                        </a:rPr>
                        <a:t>同上，自生成数据并调用 </a:t>
                      </a:r>
                      <a:r>
                        <a:rPr lang="en-US" altLang="zh-CN" sz="1800" b="0" i="0" kern="1200" dirty="0" err="1">
                          <a:solidFill>
                            <a:schemeClr val="dk1"/>
                          </a:solidFill>
                          <a:effectLst/>
                          <a:latin typeface="+mn-lt"/>
                          <a:ea typeface="+mn-ea"/>
                          <a:cs typeface="+mn-cs"/>
                        </a:rPr>
                        <a:t>fft_linux_iopointer</a:t>
                      </a:r>
                      <a:r>
                        <a:rPr lang="zh-CN" altLang="en-US" sz="1800" b="0" i="0" kern="1200" dirty="0">
                          <a:solidFill>
                            <a:schemeClr val="dk1"/>
                          </a:solidFill>
                          <a:effectLst/>
                          <a:latin typeface="+mn-lt"/>
                          <a:ea typeface="+mn-ea"/>
                          <a:cs typeface="+mn-cs"/>
                        </a:rPr>
                        <a:t>，但不计时、不 </a:t>
                      </a:r>
                      <a:r>
                        <a:rPr lang="en-US" altLang="zh-CN" sz="1800" b="0" i="0" kern="1200" dirty="0" err="1">
                          <a:solidFill>
                            <a:schemeClr val="dk1"/>
                          </a:solidFill>
                          <a:effectLst/>
                          <a:latin typeface="+mn-lt"/>
                          <a:ea typeface="+mn-ea"/>
                          <a:cs typeface="+mn-cs"/>
                        </a:rPr>
                        <a:t>printf</a:t>
                      </a:r>
                      <a:r>
                        <a:rPr lang="zh-CN" altLang="en-US" sz="1800" b="0" i="0" kern="1200" dirty="0">
                          <a:solidFill>
                            <a:schemeClr val="dk1"/>
                          </a:solidFill>
                          <a:effectLst/>
                          <a:latin typeface="+mn-lt"/>
                          <a:ea typeface="+mn-ea"/>
                          <a:cs typeface="+mn-cs"/>
                        </a:rPr>
                        <a:t>。用于调用者只测试功能、不关心性能的场景。</a:t>
                      </a:r>
                      <a:endParaRPr lang="zh-CN" altLang="en-US" dirty="0"/>
                    </a:p>
                  </a:txBody>
                  <a:tcPr/>
                </a:tc>
                <a:extLst>
                  <a:ext uri="{0D108BD9-81ED-4DB2-BD59-A6C34878D82A}">
                    <a16:rowId xmlns:a16="http://schemas.microsoft.com/office/drawing/2014/main" val="1753817395"/>
                  </a:ext>
                </a:extLst>
              </a:tr>
            </a:tbl>
          </a:graphicData>
        </a:graphic>
      </p:graphicFrame>
      <p:pic>
        <p:nvPicPr>
          <p:cNvPr id="7" name="图片 6">
            <a:extLst>
              <a:ext uri="{FF2B5EF4-FFF2-40B4-BE49-F238E27FC236}">
                <a16:creationId xmlns:a16="http://schemas.microsoft.com/office/drawing/2014/main" id="{8599336E-033E-6ADC-A1FE-F7D7CFBC0448}"/>
              </a:ext>
            </a:extLst>
          </p:cNvPr>
          <p:cNvPicPr>
            <a:picLocks noChangeAspect="1"/>
          </p:cNvPicPr>
          <p:nvPr/>
        </p:nvPicPr>
        <p:blipFill>
          <a:blip r:embed="rId3"/>
          <a:stretch>
            <a:fillRect/>
          </a:stretch>
        </p:blipFill>
        <p:spPr>
          <a:xfrm>
            <a:off x="8821882" y="1144460"/>
            <a:ext cx="3259791" cy="3195753"/>
          </a:xfrm>
          <a:prstGeom prst="rect">
            <a:avLst/>
          </a:prstGeom>
        </p:spPr>
      </p:pic>
      <p:sp>
        <p:nvSpPr>
          <p:cNvPr id="9" name="内容占位符 2">
            <a:extLst>
              <a:ext uri="{FF2B5EF4-FFF2-40B4-BE49-F238E27FC236}">
                <a16:creationId xmlns:a16="http://schemas.microsoft.com/office/drawing/2014/main" id="{508A667F-0DE0-852D-C1F4-6F90EF6D544D}"/>
              </a:ext>
            </a:extLst>
          </p:cNvPr>
          <p:cNvSpPr txBox="1">
            <a:spLocks/>
          </p:cNvSpPr>
          <p:nvPr/>
        </p:nvSpPr>
        <p:spPr>
          <a:xfrm>
            <a:off x="7062" y="5017750"/>
            <a:ext cx="11853545" cy="5974080"/>
          </a:xfr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00" b="0" i="0" u="none" strike="noStrike" kern="1200" cap="none" spc="0" normalizeH="0">
                <a:solidFill>
                  <a:schemeClr val="tx1"/>
                </a:solidFill>
                <a:uFillTx/>
                <a:latin typeface="Arial" panose="020B0604020202020204" pitchFamily="34" charset="0"/>
                <a:ea typeface="微软雅黑" panose="020B0503020204020204" charset="-122"/>
                <a:cs typeface="Arial"/>
                <a:sym typeface="Arial"/>
              </a:defRPr>
            </a:lvl1pPr>
            <a:lvl2pPr marR="0" lvl="1" algn="l" rtl="0">
              <a:lnSpc>
                <a:spcPct val="100000"/>
              </a:lnSpc>
              <a:spcBef>
                <a:spcPts val="0"/>
              </a:spcBef>
              <a:spcAft>
                <a:spcPts val="0"/>
              </a:spcAft>
              <a:buClr>
                <a:srgbClr val="000000"/>
              </a:buClr>
              <a:buFont typeface="Arial"/>
              <a:defRPr sz="1600" b="0" i="0" u="none" strike="noStrike" kern="1200" cap="none" spc="0" normalizeH="0">
                <a:solidFill>
                  <a:schemeClr val="tx1"/>
                </a:solidFill>
                <a:uFillTx/>
                <a:latin typeface="Arial" panose="020B0604020202020204" pitchFamily="34" charset="0"/>
                <a:ea typeface="微软雅黑" panose="020B0503020204020204" charset="-122"/>
                <a:cs typeface="Arial"/>
                <a:sym typeface="Arial"/>
              </a:defRPr>
            </a:lvl2pPr>
            <a:lvl3pPr marR="0" lvl="2" algn="l" rtl="0">
              <a:lnSpc>
                <a:spcPct val="100000"/>
              </a:lnSpc>
              <a:spcBef>
                <a:spcPts val="0"/>
              </a:spcBef>
              <a:spcAft>
                <a:spcPts val="0"/>
              </a:spcAft>
              <a:buClr>
                <a:srgbClr val="000000"/>
              </a:buClr>
              <a:buFont typeface="Arial"/>
              <a:defRPr sz="1400" b="0" i="0" u="none" strike="noStrike" kern="1200" cap="none" spc="0" normalizeH="0">
                <a:solidFill>
                  <a:schemeClr val="tx1"/>
                </a:solidFill>
                <a:uFillTx/>
                <a:latin typeface="+mn-lt"/>
                <a:ea typeface="微软雅黑" panose="020B0503020204020204" charset="-122"/>
                <a:cs typeface="Arial"/>
                <a:sym typeface="Arial"/>
              </a:defRPr>
            </a:lvl3pPr>
            <a:lvl4pPr marR="0" lvl="3" algn="l" rtl="0">
              <a:lnSpc>
                <a:spcPct val="100000"/>
              </a:lnSpc>
              <a:spcBef>
                <a:spcPts val="0"/>
              </a:spcBef>
              <a:spcAft>
                <a:spcPts val="0"/>
              </a:spcAft>
              <a:buClr>
                <a:srgbClr val="000000"/>
              </a:buClr>
              <a:buFont typeface="Arial"/>
              <a:defRPr sz="1400" b="0" i="0" u="none" strike="noStrike" kern="1200" cap="none" spc="0" normalizeH="0">
                <a:solidFill>
                  <a:schemeClr val="tx1"/>
                </a:solidFill>
                <a:uFillTx/>
                <a:latin typeface="+mn-lt"/>
                <a:ea typeface="微软雅黑" panose="020B0503020204020204" charset="-122"/>
                <a:cs typeface="Arial"/>
                <a:sym typeface="Arial"/>
              </a:defRPr>
            </a:lvl4pPr>
            <a:lvl5pPr marR="0" lvl="4" algn="l" rtl="0">
              <a:lnSpc>
                <a:spcPct val="100000"/>
              </a:lnSpc>
              <a:spcBef>
                <a:spcPts val="0"/>
              </a:spcBef>
              <a:spcAft>
                <a:spcPts val="0"/>
              </a:spcAft>
              <a:buClr>
                <a:srgbClr val="000000"/>
              </a:buClr>
              <a:buFont typeface="Arial"/>
              <a:defRPr sz="1400" b="0" i="0" u="none" strike="noStrike" kern="1200" cap="none" spc="0" normalizeH="0">
                <a:solidFill>
                  <a:schemeClr val="tx1"/>
                </a:solidFill>
                <a:uFillTx/>
                <a:latin typeface="+mn-lt"/>
                <a:ea typeface="微软雅黑" panose="020B0503020204020204" charset="-122"/>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altLang="zh-CN" sz="2400">
              <a:sym typeface="+mn-ea"/>
            </a:endParaRPr>
          </a:p>
          <a:p>
            <a:endParaRPr lang="zh-CN" altLang="en-US" sz="2400">
              <a:sym typeface="+mn-ea"/>
            </a:endParaRPr>
          </a:p>
          <a:p>
            <a:endParaRPr lang="zh-CN" altLang="en-US" sz="2400">
              <a:sym typeface="+mn-ea"/>
            </a:endParaRPr>
          </a:p>
          <a:p>
            <a:endParaRPr lang="zh-CN" altLang="en-US" sz="2400" dirty="0">
              <a:sym typeface="+mn-ea"/>
            </a:endParaRPr>
          </a:p>
        </p:txBody>
      </p:sp>
    </p:spTree>
    <p:extLst>
      <p:ext uri="{BB962C8B-B14F-4D97-AF65-F5344CB8AC3E}">
        <p14:creationId xmlns:p14="http://schemas.microsoft.com/office/powerpoint/2010/main" val="127839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7EB4-7381-3EA4-49F2-BB0ED3706509}"/>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3F8BC20A-8B89-BE73-162F-5DFF2EA98541}"/>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10EBDE92-7A0D-4DD5-E14A-629F425F7128}"/>
              </a:ext>
            </a:extLst>
          </p:cNvPr>
          <p:cNvSpPr>
            <a:spLocks noGrp="1"/>
          </p:cNvSpPr>
          <p:nvPr>
            <p:ph type="title"/>
          </p:nvPr>
        </p:nvSpPr>
        <p:spPr/>
        <p:txBody>
          <a:bodyPr/>
          <a:lstStyle/>
          <a:p>
            <a:r>
              <a:rPr lang="zh-CN" altLang="en-US" dirty="0"/>
              <a:t>时间函数</a:t>
            </a:r>
          </a:p>
        </p:txBody>
      </p:sp>
      <p:sp>
        <p:nvSpPr>
          <p:cNvPr id="60" name="文本框 59">
            <a:extLst>
              <a:ext uri="{FF2B5EF4-FFF2-40B4-BE49-F238E27FC236}">
                <a16:creationId xmlns:a16="http://schemas.microsoft.com/office/drawing/2014/main" id="{D6A179FE-EEE0-A7B3-608C-BBBE11B7F89E}"/>
              </a:ext>
            </a:extLst>
          </p:cNvPr>
          <p:cNvSpPr txBox="1"/>
          <p:nvPr/>
        </p:nvSpPr>
        <p:spPr>
          <a:xfrm>
            <a:off x="384810" y="1046480"/>
            <a:ext cx="1415772"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时间函数</a:t>
            </a:r>
          </a:p>
        </p:txBody>
      </p:sp>
      <p:graphicFrame>
        <p:nvGraphicFramePr>
          <p:cNvPr id="2" name="表格 1">
            <a:extLst>
              <a:ext uri="{FF2B5EF4-FFF2-40B4-BE49-F238E27FC236}">
                <a16:creationId xmlns:a16="http://schemas.microsoft.com/office/drawing/2014/main" id="{190D740D-58DB-6513-921F-70ACF91BBE46}"/>
              </a:ext>
            </a:extLst>
          </p:cNvPr>
          <p:cNvGraphicFramePr>
            <a:graphicFrameLocks noGrp="1"/>
          </p:cNvGraphicFramePr>
          <p:nvPr>
            <p:extLst>
              <p:ext uri="{D42A27DB-BD31-4B8C-83A1-F6EECF244321}">
                <p14:modId xmlns:p14="http://schemas.microsoft.com/office/powerpoint/2010/main" val="740082149"/>
              </p:ext>
            </p:extLst>
          </p:nvPr>
        </p:nvGraphicFramePr>
        <p:xfrm>
          <a:off x="384810" y="1774845"/>
          <a:ext cx="9284555" cy="1381760"/>
        </p:xfrm>
        <a:graphic>
          <a:graphicData uri="http://schemas.openxmlformats.org/drawingml/2006/table">
            <a:tbl>
              <a:tblPr firstRow="1" bandRow="1">
                <a:tableStyleId>{5C22544A-7EE6-4342-B048-85BDC9FD1C3A}</a:tableStyleId>
              </a:tblPr>
              <a:tblGrid>
                <a:gridCol w="4668986">
                  <a:extLst>
                    <a:ext uri="{9D8B030D-6E8A-4147-A177-3AD203B41FA5}">
                      <a16:colId xmlns:a16="http://schemas.microsoft.com/office/drawing/2014/main" val="2678204492"/>
                    </a:ext>
                  </a:extLst>
                </a:gridCol>
                <a:gridCol w="4615569">
                  <a:extLst>
                    <a:ext uri="{9D8B030D-6E8A-4147-A177-3AD203B41FA5}">
                      <a16:colId xmlns:a16="http://schemas.microsoft.com/office/drawing/2014/main" val="2301700994"/>
                    </a:ext>
                  </a:extLst>
                </a:gridCol>
              </a:tblGrid>
              <a:tr h="370840">
                <a:tc>
                  <a:txBody>
                    <a:bodyPr/>
                    <a:lstStyle/>
                    <a:p>
                      <a:r>
                        <a:rPr lang="zh-CN" altLang="en-US" sz="1800" b="0" i="0" kern="1200" dirty="0">
                          <a:solidFill>
                            <a:schemeClr val="lt1"/>
                          </a:solidFill>
                          <a:effectLst/>
                          <a:latin typeface="+mn-lt"/>
                          <a:ea typeface="+mn-ea"/>
                          <a:cs typeface="+mn-cs"/>
                        </a:rPr>
                        <a:t>函数</a:t>
                      </a:r>
                      <a:endParaRPr lang="zh-CN" altLang="en-US" dirty="0"/>
                    </a:p>
                  </a:txBody>
                  <a:tcPr/>
                </a:tc>
                <a:tc>
                  <a:txBody>
                    <a:bodyPr/>
                    <a:lstStyle/>
                    <a:p>
                      <a:r>
                        <a:rPr lang="zh-CN" altLang="en-US" sz="1800" b="0" i="0" kern="1200" dirty="0">
                          <a:solidFill>
                            <a:schemeClr val="lt1"/>
                          </a:solidFill>
                          <a:effectLst/>
                          <a:latin typeface="+mn-lt"/>
                          <a:ea typeface="+mn-ea"/>
                          <a:cs typeface="+mn-cs"/>
                        </a:rPr>
                        <a:t>作用</a:t>
                      </a:r>
                      <a:endParaRPr lang="zh-CN" altLang="en-US" dirty="0"/>
                    </a:p>
                  </a:txBody>
                  <a:tcPr/>
                </a:tc>
                <a:extLst>
                  <a:ext uri="{0D108BD9-81ED-4DB2-BD59-A6C34878D82A}">
                    <a16:rowId xmlns:a16="http://schemas.microsoft.com/office/drawing/2014/main" val="3514939563"/>
                  </a:ext>
                </a:extLst>
              </a:tr>
              <a:tr h="370840">
                <a:tc>
                  <a:txBody>
                    <a:bodyPr/>
                    <a:lstStyle/>
                    <a:p>
                      <a:r>
                        <a:rPr lang="en-US" altLang="zh-CN" sz="1800" b="0" i="0" kern="1200" dirty="0">
                          <a:solidFill>
                            <a:schemeClr val="dk1"/>
                          </a:solidFill>
                          <a:effectLst/>
                          <a:latin typeface="+mn-lt"/>
                          <a:ea typeface="+mn-ea"/>
                          <a:cs typeface="+mn-cs"/>
                        </a:rPr>
                        <a:t>int64_t timestamp(void);</a:t>
                      </a:r>
                      <a:endParaRPr lang="zh-CN" altLang="en-US" dirty="0"/>
                    </a:p>
                  </a:txBody>
                  <a:tcPr/>
                </a:tc>
                <a:tc>
                  <a:txBody>
                    <a:bodyPr/>
                    <a:lstStyle/>
                    <a:p>
                      <a:r>
                        <a:rPr lang="zh-CN" altLang="en-US" sz="1800" b="0" i="0" kern="1200" dirty="0">
                          <a:solidFill>
                            <a:schemeClr val="dk1"/>
                          </a:solidFill>
                          <a:effectLst/>
                          <a:latin typeface="+mn-lt"/>
                          <a:ea typeface="+mn-ea"/>
                          <a:cs typeface="+mn-cs"/>
                        </a:rPr>
                        <a:t>返回当前时间戳（纳秒）</a:t>
                      </a:r>
                      <a:endParaRPr lang="zh-CN" altLang="en-US" dirty="0"/>
                    </a:p>
                  </a:txBody>
                  <a:tcPr/>
                </a:tc>
                <a:extLst>
                  <a:ext uri="{0D108BD9-81ED-4DB2-BD59-A6C34878D82A}">
                    <a16:rowId xmlns:a16="http://schemas.microsoft.com/office/drawing/2014/main" val="3721032025"/>
                  </a:ext>
                </a:extLst>
              </a:tr>
              <a:tr h="370840">
                <a:tc>
                  <a:txBody>
                    <a:bodyPr/>
                    <a:lstStyle/>
                    <a:p>
                      <a:r>
                        <a:rPr lang="fr-FR" altLang="zh-CN" sz="1800" b="0" i="0" kern="1200" dirty="0">
                          <a:solidFill>
                            <a:schemeClr val="dk1"/>
                          </a:solidFill>
                          <a:effectLst/>
                          <a:latin typeface="+mn-lt"/>
                          <a:ea typeface="+mn-ea"/>
                          <a:cs typeface="+mn-cs"/>
                        </a:rPr>
                        <a:t>int64_t timestamp_diff(int64_t start, int64_t end);</a:t>
                      </a:r>
                      <a:endParaRPr lang="zh-CN" altLang="en-US" dirty="0"/>
                    </a:p>
                  </a:txBody>
                  <a:tcPr/>
                </a:tc>
                <a:tc>
                  <a:txBody>
                    <a:bodyPr/>
                    <a:lstStyle/>
                    <a:p>
                      <a:r>
                        <a:rPr lang="zh-CN" altLang="en-US" sz="1800" b="0" i="0" kern="1200" dirty="0">
                          <a:solidFill>
                            <a:schemeClr val="dk1"/>
                          </a:solidFill>
                          <a:effectLst/>
                          <a:latin typeface="+mn-lt"/>
                          <a:ea typeface="+mn-ea"/>
                          <a:cs typeface="+mn-cs"/>
                        </a:rPr>
                        <a:t>同返回时间差（纳秒）</a:t>
                      </a:r>
                      <a:endParaRPr lang="zh-CN" altLang="en-US" dirty="0"/>
                    </a:p>
                  </a:txBody>
                  <a:tcPr/>
                </a:tc>
                <a:extLst>
                  <a:ext uri="{0D108BD9-81ED-4DB2-BD59-A6C34878D82A}">
                    <a16:rowId xmlns:a16="http://schemas.microsoft.com/office/drawing/2014/main" val="1753817395"/>
                  </a:ext>
                </a:extLst>
              </a:tr>
            </a:tbl>
          </a:graphicData>
        </a:graphic>
      </p:graphicFrame>
    </p:spTree>
    <p:extLst>
      <p:ext uri="{BB962C8B-B14F-4D97-AF65-F5344CB8AC3E}">
        <p14:creationId xmlns:p14="http://schemas.microsoft.com/office/powerpoint/2010/main" val="1571245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42A0F-1CC0-4404-3526-E8696750047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9D011AA3-3EA9-AB33-EFAB-CDCA48DD75FF}"/>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DE8C1292-C218-6A00-3849-FB32B600B4BB}"/>
              </a:ext>
            </a:extLst>
          </p:cNvPr>
          <p:cNvSpPr>
            <a:spLocks noGrp="1"/>
          </p:cNvSpPr>
          <p:nvPr>
            <p:ph type="title"/>
          </p:nvPr>
        </p:nvSpPr>
        <p:spPr/>
        <p:txBody>
          <a:bodyPr/>
          <a:lstStyle/>
          <a:p>
            <a:r>
              <a:rPr lang="zh-CN" altLang="en-US" dirty="0"/>
              <a:t>源代码文件</a:t>
            </a:r>
          </a:p>
        </p:txBody>
      </p:sp>
      <p:graphicFrame>
        <p:nvGraphicFramePr>
          <p:cNvPr id="2" name="表格 1">
            <a:extLst>
              <a:ext uri="{FF2B5EF4-FFF2-40B4-BE49-F238E27FC236}">
                <a16:creationId xmlns:a16="http://schemas.microsoft.com/office/drawing/2014/main" id="{8B0EFD6F-7A7C-0187-53D6-71C4537AB1DA}"/>
              </a:ext>
            </a:extLst>
          </p:cNvPr>
          <p:cNvGraphicFramePr>
            <a:graphicFrameLocks noGrp="1"/>
          </p:cNvGraphicFramePr>
          <p:nvPr>
            <p:extLst>
              <p:ext uri="{D42A27DB-BD31-4B8C-83A1-F6EECF244321}">
                <p14:modId xmlns:p14="http://schemas.microsoft.com/office/powerpoint/2010/main" val="540946642"/>
              </p:ext>
            </p:extLst>
          </p:nvPr>
        </p:nvGraphicFramePr>
        <p:xfrm>
          <a:off x="384810" y="626225"/>
          <a:ext cx="10910108" cy="5582920"/>
        </p:xfrm>
        <a:graphic>
          <a:graphicData uri="http://schemas.openxmlformats.org/drawingml/2006/table">
            <a:tbl>
              <a:tblPr firstRow="1" bandRow="1">
                <a:tableStyleId>{5C22544A-7EE6-4342-B048-85BDC9FD1C3A}</a:tableStyleId>
              </a:tblPr>
              <a:tblGrid>
                <a:gridCol w="5455054">
                  <a:extLst>
                    <a:ext uri="{9D8B030D-6E8A-4147-A177-3AD203B41FA5}">
                      <a16:colId xmlns:a16="http://schemas.microsoft.com/office/drawing/2014/main" val="314870364"/>
                    </a:ext>
                  </a:extLst>
                </a:gridCol>
                <a:gridCol w="5455054">
                  <a:extLst>
                    <a:ext uri="{9D8B030D-6E8A-4147-A177-3AD203B41FA5}">
                      <a16:colId xmlns:a16="http://schemas.microsoft.com/office/drawing/2014/main" val="2249221725"/>
                    </a:ext>
                  </a:extLst>
                </a:gridCol>
              </a:tblGrid>
              <a:tr h="370840">
                <a:tc>
                  <a:txBody>
                    <a:bodyPr/>
                    <a:lstStyle/>
                    <a:p>
                      <a:r>
                        <a:rPr lang="zh-CN" altLang="en-US" sz="1800" b="0" i="0" kern="1200" dirty="0">
                          <a:solidFill>
                            <a:schemeClr val="lt1"/>
                          </a:solidFill>
                          <a:effectLst/>
                          <a:latin typeface="+mn-lt"/>
                          <a:ea typeface="+mn-ea"/>
                          <a:cs typeface="+mn-cs"/>
                        </a:rPr>
                        <a:t>文件名</a:t>
                      </a:r>
                      <a:endParaRPr lang="zh-CN" altLang="en-US" dirty="0"/>
                    </a:p>
                  </a:txBody>
                  <a:tcPr/>
                </a:tc>
                <a:tc>
                  <a:txBody>
                    <a:bodyPr/>
                    <a:lstStyle/>
                    <a:p>
                      <a:r>
                        <a:rPr lang="zh-CN" altLang="en-US" sz="1800" b="0" i="0" kern="1200" dirty="0">
                          <a:solidFill>
                            <a:schemeClr val="lt1"/>
                          </a:solidFill>
                          <a:effectLst/>
                          <a:latin typeface="+mn-lt"/>
                          <a:ea typeface="+mn-ea"/>
                          <a:cs typeface="+mn-cs"/>
                        </a:rPr>
                        <a:t>作用</a:t>
                      </a:r>
                      <a:endParaRPr lang="zh-CN" altLang="en-US" dirty="0"/>
                    </a:p>
                  </a:txBody>
                  <a:tcPr/>
                </a:tc>
                <a:extLst>
                  <a:ext uri="{0D108BD9-81ED-4DB2-BD59-A6C34878D82A}">
                    <a16:rowId xmlns:a16="http://schemas.microsoft.com/office/drawing/2014/main" val="4057850861"/>
                  </a:ext>
                </a:extLst>
              </a:tr>
              <a:tr h="370840">
                <a:tc>
                  <a:txBody>
                    <a:bodyPr/>
                    <a:lstStyle/>
                    <a:p>
                      <a:r>
                        <a:rPr lang="en-US" altLang="zh-CN" sz="1800" b="0" i="0" kern="1200" dirty="0" err="1">
                          <a:solidFill>
                            <a:schemeClr val="dk1"/>
                          </a:solidFill>
                          <a:effectLst/>
                          <a:latin typeface="+mn-lt"/>
                          <a:ea typeface="+mn-ea"/>
                          <a:cs typeface="+mn-cs"/>
                        </a:rPr>
                        <a:t>fft_a.h</a:t>
                      </a:r>
                      <a:endParaRPr lang="zh-CN" altLang="en-US" dirty="0"/>
                    </a:p>
                  </a:txBody>
                  <a:tcPr/>
                </a:tc>
                <a:tc>
                  <a:txBody>
                    <a:bodyPr/>
                    <a:lstStyle/>
                    <a:p>
                      <a:r>
                        <a:rPr lang="zh-CN" altLang="en-US" sz="1800" b="0" i="0" kern="1200" dirty="0">
                          <a:solidFill>
                            <a:schemeClr val="dk1"/>
                          </a:solidFill>
                          <a:effectLst/>
                          <a:latin typeface="+mn-lt"/>
                          <a:ea typeface="+mn-ea"/>
                          <a:cs typeface="+mn-cs"/>
                        </a:rPr>
                        <a:t>声明 </a:t>
                      </a:r>
                      <a:r>
                        <a:rPr lang="en-US" altLang="zh-CN" sz="1800" b="0" i="0" kern="1200" dirty="0" err="1">
                          <a:solidFill>
                            <a:schemeClr val="dk1"/>
                          </a:solidFill>
                          <a:effectLst/>
                          <a:latin typeface="+mn-lt"/>
                          <a:ea typeface="+mn-ea"/>
                          <a:cs typeface="+mn-cs"/>
                        </a:rPr>
                        <a:t>RetCode_t</a:t>
                      </a:r>
                      <a:r>
                        <a:rPr lang="en-US" altLang="zh-CN" sz="1800" b="0" i="0" kern="1200" dirty="0">
                          <a:solidFill>
                            <a:schemeClr val="dk1"/>
                          </a:solidFill>
                          <a:effectLst/>
                          <a:latin typeface="+mn-lt"/>
                          <a:ea typeface="+mn-ea"/>
                          <a:cs typeface="+mn-cs"/>
                        </a:rPr>
                        <a:t> </a:t>
                      </a:r>
                      <a:r>
                        <a:rPr lang="zh-CN" altLang="en-US" sz="1800" b="0" i="0" kern="1200" dirty="0">
                          <a:solidFill>
                            <a:schemeClr val="dk1"/>
                          </a:solidFill>
                          <a:effectLst/>
                          <a:latin typeface="+mn-lt"/>
                          <a:ea typeface="+mn-ea"/>
                          <a:cs typeface="+mn-cs"/>
                        </a:rPr>
                        <a:t>枚举（</a:t>
                      </a:r>
                      <a:r>
                        <a:rPr lang="en-US" altLang="zh-CN" sz="1800" b="0" i="0" kern="1200" dirty="0">
                          <a:solidFill>
                            <a:schemeClr val="dk1"/>
                          </a:solidFill>
                          <a:effectLst/>
                          <a:latin typeface="+mn-lt"/>
                          <a:ea typeface="+mn-ea"/>
                          <a:cs typeface="+mn-cs"/>
                        </a:rPr>
                        <a:t>K_RET_OK </a:t>
                      </a:r>
                      <a:r>
                        <a:rPr lang="zh-CN" altLang="en-US" sz="1800" b="0" i="0" kern="1200" dirty="0">
                          <a:solidFill>
                            <a:schemeClr val="dk1"/>
                          </a:solidFill>
                          <a:effectLst/>
                          <a:latin typeface="+mn-lt"/>
                          <a:ea typeface="+mn-ea"/>
                          <a:cs typeface="+mn-cs"/>
                        </a:rPr>
                        <a:t>等）、复数类型 </a:t>
                      </a:r>
                      <a:r>
                        <a:rPr lang="en-US" altLang="zh-CN" sz="1800" b="0" i="0" kern="1200" dirty="0">
                          <a:solidFill>
                            <a:schemeClr val="dk1"/>
                          </a:solidFill>
                          <a:effectLst/>
                          <a:latin typeface="+mn-lt"/>
                          <a:ea typeface="+mn-ea"/>
                          <a:cs typeface="+mn-cs"/>
                        </a:rPr>
                        <a:t>Complex</a:t>
                      </a:r>
                      <a:r>
                        <a:rPr lang="zh-CN" altLang="en-US" sz="1800" b="0" i="0" kern="1200" dirty="0">
                          <a:solidFill>
                            <a:schemeClr val="dk1"/>
                          </a:solidFill>
                          <a:effectLst/>
                          <a:latin typeface="+mn-lt"/>
                          <a:ea typeface="+mn-ea"/>
                          <a:cs typeface="+mn-cs"/>
                        </a:rPr>
                        <a:t>、所有 </a:t>
                      </a:r>
                      <a:r>
                        <a:rPr lang="en-US" altLang="zh-CN" sz="1800" b="0" i="0" kern="1200" dirty="0">
                          <a:solidFill>
                            <a:schemeClr val="dk1"/>
                          </a:solidFill>
                          <a:effectLst/>
                          <a:latin typeface="+mn-lt"/>
                          <a:ea typeface="+mn-ea"/>
                          <a:cs typeface="+mn-cs"/>
                        </a:rPr>
                        <a:t>FFT </a:t>
                      </a:r>
                      <a:r>
                        <a:rPr lang="zh-CN" altLang="en-US" sz="1800" b="0" i="0" kern="1200" dirty="0">
                          <a:solidFill>
                            <a:schemeClr val="dk1"/>
                          </a:solidFill>
                          <a:effectLst/>
                          <a:latin typeface="+mn-lt"/>
                          <a:ea typeface="+mn-ea"/>
                          <a:cs typeface="+mn-cs"/>
                        </a:rPr>
                        <a:t>接口函数（</a:t>
                      </a:r>
                      <a:r>
                        <a:rPr lang="en-US" altLang="zh-CN" sz="1800" b="0" i="0" kern="1200" dirty="0" err="1">
                          <a:solidFill>
                            <a:schemeClr val="dk1"/>
                          </a:solidFill>
                          <a:effectLst/>
                          <a:latin typeface="+mn-lt"/>
                          <a:ea typeface="+mn-ea"/>
                          <a:cs typeface="+mn-cs"/>
                        </a:rPr>
                        <a:t>fft_linux_iopointer</a:t>
                      </a:r>
                      <a:r>
                        <a:rPr lang="en-US" altLang="zh-CN" sz="1800" b="0" i="0" kern="1200" dirty="0">
                          <a:solidFill>
                            <a:schemeClr val="dk1"/>
                          </a:solidFill>
                          <a:effectLst/>
                          <a:latin typeface="+mn-lt"/>
                          <a:ea typeface="+mn-ea"/>
                          <a:cs typeface="+mn-cs"/>
                        </a:rPr>
                        <a:t> / </a:t>
                      </a:r>
                      <a:r>
                        <a:rPr lang="en-US" altLang="zh-CN" sz="1800" b="0" i="0" kern="1200" dirty="0" err="1">
                          <a:solidFill>
                            <a:schemeClr val="dk1"/>
                          </a:solidFill>
                          <a:effectLst/>
                          <a:latin typeface="+mn-lt"/>
                          <a:ea typeface="+mn-ea"/>
                          <a:cs typeface="+mn-cs"/>
                        </a:rPr>
                        <a:t>ioself_profiling</a:t>
                      </a:r>
                      <a:r>
                        <a:rPr lang="en-US" altLang="zh-CN" sz="1800" b="0" i="0" kern="1200" dirty="0">
                          <a:solidFill>
                            <a:schemeClr val="dk1"/>
                          </a:solidFill>
                          <a:effectLst/>
                          <a:latin typeface="+mn-lt"/>
                          <a:ea typeface="+mn-ea"/>
                          <a:cs typeface="+mn-cs"/>
                        </a:rPr>
                        <a:t> / </a:t>
                      </a:r>
                      <a:r>
                        <a:rPr lang="en-US" altLang="zh-CN" sz="1800" b="0" i="0" kern="1200" dirty="0" err="1">
                          <a:solidFill>
                            <a:schemeClr val="dk1"/>
                          </a:solidFill>
                          <a:effectLst/>
                          <a:latin typeface="+mn-lt"/>
                          <a:ea typeface="+mn-ea"/>
                          <a:cs typeface="+mn-cs"/>
                        </a:rPr>
                        <a:t>ioself</a:t>
                      </a:r>
                      <a:r>
                        <a:rPr lang="zh-CN" altLang="en-US" sz="1800" b="0" i="0" kern="1200" dirty="0">
                          <a:solidFill>
                            <a:schemeClr val="dk1"/>
                          </a:solidFill>
                          <a:effectLst/>
                          <a:latin typeface="+mn-lt"/>
                          <a:ea typeface="+mn-ea"/>
                          <a:cs typeface="+mn-cs"/>
                        </a:rPr>
                        <a:t>）、辅助函数（</a:t>
                      </a:r>
                      <a:r>
                        <a:rPr lang="en-US" altLang="zh-CN" sz="1800" b="0" i="0" kern="1200" dirty="0" err="1">
                          <a:solidFill>
                            <a:schemeClr val="dk1"/>
                          </a:solidFill>
                          <a:effectLst/>
                          <a:latin typeface="+mn-lt"/>
                          <a:ea typeface="+mn-ea"/>
                          <a:cs typeface="+mn-cs"/>
                        </a:rPr>
                        <a:t>preCompute</a:t>
                      </a:r>
                      <a:r>
                        <a:rPr lang="zh-CN" altLang="en-US" sz="1800" b="0" i="0" kern="1200" dirty="0">
                          <a:solidFill>
                            <a:schemeClr val="dk1"/>
                          </a:solidFill>
                          <a:effectLst/>
                          <a:latin typeface="+mn-lt"/>
                          <a:ea typeface="+mn-ea"/>
                          <a:cs typeface="+mn-cs"/>
                        </a:rPr>
                        <a:t>、</a:t>
                      </a:r>
                      <a:r>
                        <a:rPr lang="en-US" altLang="zh-CN" sz="1800" b="0" i="0" kern="1200" dirty="0" err="1">
                          <a:solidFill>
                            <a:schemeClr val="dk1"/>
                          </a:solidFill>
                          <a:effectLst/>
                          <a:latin typeface="+mn-lt"/>
                          <a:ea typeface="+mn-ea"/>
                          <a:cs typeface="+mn-cs"/>
                        </a:rPr>
                        <a:t>fft</a:t>
                      </a:r>
                      <a:r>
                        <a:rPr lang="zh-CN" altLang="en-US" sz="1800" b="0" i="0" kern="1200" dirty="0">
                          <a:solidFill>
                            <a:schemeClr val="dk1"/>
                          </a:solidFill>
                          <a:effectLst/>
                          <a:latin typeface="+mn-lt"/>
                          <a:ea typeface="+mn-ea"/>
                          <a:cs typeface="+mn-cs"/>
                        </a:rPr>
                        <a:t>、</a:t>
                      </a:r>
                      <a:r>
                        <a:rPr lang="en-US" altLang="zh-CN" sz="1800" b="0" i="0" kern="1200" dirty="0" err="1">
                          <a:solidFill>
                            <a:schemeClr val="dk1"/>
                          </a:solidFill>
                          <a:effectLst/>
                          <a:latin typeface="+mn-lt"/>
                          <a:ea typeface="+mn-ea"/>
                          <a:cs typeface="+mn-cs"/>
                        </a:rPr>
                        <a:t>ifft</a:t>
                      </a:r>
                      <a:r>
                        <a:rPr lang="zh-CN" altLang="en-US" sz="1800" b="0" i="0" kern="1200" dirty="0">
                          <a:solidFill>
                            <a:schemeClr val="dk1"/>
                          </a:solidFill>
                          <a:effectLst/>
                          <a:latin typeface="+mn-lt"/>
                          <a:ea typeface="+mn-ea"/>
                          <a:cs typeface="+mn-cs"/>
                        </a:rPr>
                        <a:t>）</a:t>
                      </a:r>
                      <a:endParaRPr lang="zh-CN" altLang="en-US" dirty="0"/>
                    </a:p>
                  </a:txBody>
                  <a:tcPr/>
                </a:tc>
                <a:extLst>
                  <a:ext uri="{0D108BD9-81ED-4DB2-BD59-A6C34878D82A}">
                    <a16:rowId xmlns:a16="http://schemas.microsoft.com/office/drawing/2014/main" val="3391412134"/>
                  </a:ext>
                </a:extLst>
              </a:tr>
              <a:tr h="370840">
                <a:tc>
                  <a:txBody>
                    <a:bodyPr/>
                    <a:lstStyle/>
                    <a:p>
                      <a:r>
                        <a:rPr lang="en-US" altLang="zh-CN" sz="1800" b="0" i="0" kern="1200" dirty="0" err="1">
                          <a:solidFill>
                            <a:schemeClr val="dk1"/>
                          </a:solidFill>
                          <a:effectLst/>
                          <a:latin typeface="+mn-lt"/>
                          <a:ea typeface="+mn-ea"/>
                          <a:cs typeface="+mn-cs"/>
                        </a:rPr>
                        <a:t>fft_a.c</a:t>
                      </a:r>
                      <a:endParaRPr lang="zh-CN" altLang="en-US" dirty="0"/>
                    </a:p>
                  </a:txBody>
                  <a:tcPr/>
                </a:tc>
                <a:tc>
                  <a:txBody>
                    <a:bodyPr/>
                    <a:lstStyle/>
                    <a:p>
                      <a:r>
                        <a:rPr lang="zh-CN" altLang="en-US" sz="1800" b="0" i="0" kern="1200" dirty="0">
                          <a:solidFill>
                            <a:schemeClr val="dk1"/>
                          </a:solidFill>
                          <a:effectLst/>
                          <a:latin typeface="+mn-lt"/>
                          <a:ea typeface="+mn-ea"/>
                          <a:cs typeface="+mn-cs"/>
                        </a:rPr>
                        <a:t>实现核心 </a:t>
                      </a:r>
                      <a:r>
                        <a:rPr lang="en-US" altLang="zh-CN" sz="1800" b="0" i="0" kern="1200" dirty="0">
                          <a:solidFill>
                            <a:schemeClr val="dk1"/>
                          </a:solidFill>
                          <a:effectLst/>
                          <a:latin typeface="+mn-lt"/>
                          <a:ea typeface="+mn-ea"/>
                          <a:cs typeface="+mn-cs"/>
                        </a:rPr>
                        <a:t>FFT </a:t>
                      </a:r>
                      <a:r>
                        <a:rPr lang="zh-CN" altLang="en-US" sz="1800" b="0" i="0" kern="1200" dirty="0">
                          <a:solidFill>
                            <a:schemeClr val="dk1"/>
                          </a:solidFill>
                          <a:effectLst/>
                          <a:latin typeface="+mn-lt"/>
                          <a:ea typeface="+mn-ea"/>
                          <a:cs typeface="+mn-cs"/>
                        </a:rPr>
                        <a:t>算法（预计算旋转因子 </a:t>
                      </a:r>
                      <a:r>
                        <a:rPr lang="en-US" altLang="zh-CN" sz="1800" b="0" i="0" kern="1200" dirty="0">
                          <a:solidFill>
                            <a:schemeClr val="dk1"/>
                          </a:solidFill>
                          <a:effectLst/>
                          <a:latin typeface="+mn-lt"/>
                          <a:ea typeface="+mn-ea"/>
                          <a:cs typeface="+mn-cs"/>
                        </a:rPr>
                        <a:t>+ </a:t>
                      </a:r>
                      <a:r>
                        <a:rPr lang="zh-CN" altLang="en-US" sz="1800" b="0" i="0" kern="1200" dirty="0">
                          <a:solidFill>
                            <a:schemeClr val="dk1"/>
                          </a:solidFill>
                          <a:effectLst/>
                          <a:latin typeface="+mn-lt"/>
                          <a:ea typeface="+mn-ea"/>
                          <a:cs typeface="+mn-cs"/>
                        </a:rPr>
                        <a:t>部分 </a:t>
                      </a:r>
                      <a:r>
                        <a:rPr lang="en-US" altLang="zh-CN" sz="1800" b="0" i="0" kern="1200" dirty="0">
                          <a:solidFill>
                            <a:schemeClr val="dk1"/>
                          </a:solidFill>
                          <a:effectLst/>
                          <a:latin typeface="+mn-lt"/>
                          <a:ea typeface="+mn-ea"/>
                          <a:cs typeface="+mn-cs"/>
                        </a:rPr>
                        <a:t>NEON</a:t>
                      </a:r>
                      <a:r>
                        <a:rPr lang="zh-CN" altLang="en-US" sz="1800" b="0" i="0" kern="1200" dirty="0">
                          <a:solidFill>
                            <a:schemeClr val="dk1"/>
                          </a:solidFill>
                          <a:effectLst/>
                          <a:latin typeface="+mn-lt"/>
                          <a:ea typeface="+mn-ea"/>
                          <a:cs typeface="+mn-cs"/>
                        </a:rPr>
                        <a:t>）、</a:t>
                      </a:r>
                      <a:r>
                        <a:rPr lang="en-US" altLang="zh-CN" sz="1800" b="0" i="0" kern="1200" dirty="0">
                          <a:solidFill>
                            <a:schemeClr val="dk1"/>
                          </a:solidFill>
                          <a:effectLst/>
                          <a:latin typeface="+mn-lt"/>
                          <a:ea typeface="+mn-ea"/>
                          <a:cs typeface="+mn-cs"/>
                        </a:rPr>
                        <a:t>IFFT</a:t>
                      </a:r>
                      <a:r>
                        <a:rPr lang="zh-CN" altLang="en-US" sz="1800" b="0" i="0" kern="1200" dirty="0">
                          <a:solidFill>
                            <a:schemeClr val="dk1"/>
                          </a:solidFill>
                          <a:effectLst/>
                          <a:latin typeface="+mn-lt"/>
                          <a:ea typeface="+mn-ea"/>
                          <a:cs typeface="+mn-cs"/>
                        </a:rPr>
                        <a:t>、三个标准接口函数（</a:t>
                      </a:r>
                      <a:r>
                        <a:rPr lang="en-US" altLang="zh-CN" sz="1800" b="0" i="0" kern="1200" dirty="0" err="1">
                          <a:solidFill>
                            <a:schemeClr val="dk1"/>
                          </a:solidFill>
                          <a:effectLst/>
                          <a:latin typeface="+mn-lt"/>
                          <a:ea typeface="+mn-ea"/>
                          <a:cs typeface="+mn-cs"/>
                        </a:rPr>
                        <a:t>iopointer</a:t>
                      </a:r>
                      <a:r>
                        <a:rPr lang="en-US" altLang="zh-CN" sz="1800" b="0" i="0" kern="1200" dirty="0">
                          <a:solidFill>
                            <a:schemeClr val="dk1"/>
                          </a:solidFill>
                          <a:effectLst/>
                          <a:latin typeface="+mn-lt"/>
                          <a:ea typeface="+mn-ea"/>
                          <a:cs typeface="+mn-cs"/>
                        </a:rPr>
                        <a:t> / </a:t>
                      </a:r>
                      <a:r>
                        <a:rPr lang="en-US" altLang="zh-CN" sz="1800" b="0" i="0" kern="1200" dirty="0" err="1">
                          <a:solidFill>
                            <a:schemeClr val="dk1"/>
                          </a:solidFill>
                          <a:effectLst/>
                          <a:latin typeface="+mn-lt"/>
                          <a:ea typeface="+mn-ea"/>
                          <a:cs typeface="+mn-cs"/>
                        </a:rPr>
                        <a:t>ioself_profiling</a:t>
                      </a:r>
                      <a:r>
                        <a:rPr lang="en-US" altLang="zh-CN" sz="1800" b="0" i="0" kern="1200" dirty="0">
                          <a:solidFill>
                            <a:schemeClr val="dk1"/>
                          </a:solidFill>
                          <a:effectLst/>
                          <a:latin typeface="+mn-lt"/>
                          <a:ea typeface="+mn-ea"/>
                          <a:cs typeface="+mn-cs"/>
                        </a:rPr>
                        <a:t> / </a:t>
                      </a:r>
                      <a:r>
                        <a:rPr lang="en-US" altLang="zh-CN" sz="1800" b="0" i="0" kern="1200" dirty="0" err="1">
                          <a:solidFill>
                            <a:schemeClr val="dk1"/>
                          </a:solidFill>
                          <a:effectLst/>
                          <a:latin typeface="+mn-lt"/>
                          <a:ea typeface="+mn-ea"/>
                          <a:cs typeface="+mn-cs"/>
                        </a:rPr>
                        <a:t>ioself</a:t>
                      </a:r>
                      <a:r>
                        <a:rPr lang="zh-CN" altLang="en-US" sz="1800" b="0" i="0" kern="1200" dirty="0">
                          <a:solidFill>
                            <a:schemeClr val="dk1"/>
                          </a:solidFill>
                          <a:effectLst/>
                          <a:latin typeface="+mn-lt"/>
                          <a:ea typeface="+mn-ea"/>
                          <a:cs typeface="+mn-cs"/>
                        </a:rPr>
                        <a:t>），以及复数运算辅助函数</a:t>
                      </a:r>
                      <a:endParaRPr lang="zh-CN" altLang="en-US" dirty="0"/>
                    </a:p>
                  </a:txBody>
                  <a:tcPr/>
                </a:tc>
                <a:extLst>
                  <a:ext uri="{0D108BD9-81ED-4DB2-BD59-A6C34878D82A}">
                    <a16:rowId xmlns:a16="http://schemas.microsoft.com/office/drawing/2014/main" val="980161730"/>
                  </a:ext>
                </a:extLst>
              </a:tr>
              <a:tr h="370840">
                <a:tc>
                  <a:txBody>
                    <a:bodyPr/>
                    <a:lstStyle/>
                    <a:p>
                      <a:r>
                        <a:rPr lang="en-US" altLang="zh-CN" sz="1800" b="0" i="0" kern="1200" dirty="0" err="1">
                          <a:solidFill>
                            <a:schemeClr val="dk1"/>
                          </a:solidFill>
                          <a:effectLst/>
                          <a:latin typeface="+mn-lt"/>
                          <a:ea typeface="+mn-ea"/>
                          <a:cs typeface="+mn-cs"/>
                        </a:rPr>
                        <a:t>call_test.c</a:t>
                      </a:r>
                      <a:endParaRPr lang="zh-CN" altLang="en-US" dirty="0"/>
                    </a:p>
                  </a:txBody>
                  <a:tcPr/>
                </a:tc>
                <a:tc>
                  <a:txBody>
                    <a:bodyPr/>
                    <a:lstStyle/>
                    <a:p>
                      <a:r>
                        <a:rPr lang="zh-CN" altLang="en-US" sz="1800" b="0" i="0" kern="1200" dirty="0">
                          <a:solidFill>
                            <a:schemeClr val="dk1"/>
                          </a:solidFill>
                          <a:effectLst/>
                          <a:latin typeface="+mn-lt"/>
                          <a:ea typeface="+mn-ea"/>
                          <a:cs typeface="+mn-cs"/>
                        </a:rPr>
                        <a:t>包含 </a:t>
                      </a:r>
                      <a:r>
                        <a:rPr lang="en-US" altLang="zh-CN" sz="1800" b="0" kern="1200" dirty="0">
                          <a:solidFill>
                            <a:schemeClr val="dk1"/>
                          </a:solidFill>
                          <a:effectLst/>
                          <a:latin typeface="+mn-lt"/>
                          <a:ea typeface="+mn-ea"/>
                          <a:cs typeface="+mn-cs"/>
                        </a:rPr>
                        <a:t>main()</a:t>
                      </a:r>
                      <a:r>
                        <a:rPr lang="en-US" altLang="zh-CN" sz="1800" b="0" i="0" kern="1200" dirty="0">
                          <a:solidFill>
                            <a:schemeClr val="dk1"/>
                          </a:solidFill>
                          <a:effectLst/>
                          <a:latin typeface="+mn-lt"/>
                          <a:ea typeface="+mn-ea"/>
                          <a:cs typeface="+mn-cs"/>
                        </a:rPr>
                        <a:t> </a:t>
                      </a:r>
                      <a:r>
                        <a:rPr lang="zh-CN" altLang="en-US" sz="1800" b="0" i="0" kern="1200" dirty="0">
                          <a:solidFill>
                            <a:schemeClr val="dk1"/>
                          </a:solidFill>
                          <a:effectLst/>
                          <a:latin typeface="+mn-lt"/>
                          <a:ea typeface="+mn-ea"/>
                          <a:cs typeface="+mn-cs"/>
                        </a:rPr>
                        <a:t>函数，调用 </a:t>
                      </a:r>
                      <a:r>
                        <a:rPr lang="en-US" altLang="zh-CN" sz="1800" b="0" i="0" kern="1200" dirty="0" err="1">
                          <a:solidFill>
                            <a:schemeClr val="dk1"/>
                          </a:solidFill>
                          <a:effectLst/>
                          <a:latin typeface="+mn-lt"/>
                          <a:ea typeface="+mn-ea"/>
                          <a:cs typeface="+mn-cs"/>
                        </a:rPr>
                        <a:t>fft_linux_iopointer</a:t>
                      </a:r>
                      <a:r>
                        <a:rPr lang="en-US" altLang="zh-CN" sz="1800" b="0" i="0" kern="1200" dirty="0">
                          <a:solidFill>
                            <a:schemeClr val="dk1"/>
                          </a:solidFill>
                          <a:effectLst/>
                          <a:latin typeface="+mn-lt"/>
                          <a:ea typeface="+mn-ea"/>
                          <a:cs typeface="+mn-cs"/>
                        </a:rPr>
                        <a:t> </a:t>
                      </a:r>
                      <a:r>
                        <a:rPr lang="zh-CN" altLang="en-US" sz="1800" b="0" i="0" kern="1200" dirty="0">
                          <a:solidFill>
                            <a:schemeClr val="dk1"/>
                          </a:solidFill>
                          <a:effectLst/>
                          <a:latin typeface="+mn-lt"/>
                          <a:ea typeface="+mn-ea"/>
                          <a:cs typeface="+mn-cs"/>
                        </a:rPr>
                        <a:t>执行指定规模的 </a:t>
                      </a:r>
                      <a:r>
                        <a:rPr lang="en-US" altLang="zh-CN" sz="1800" b="0" i="0" kern="1200" dirty="0">
                          <a:solidFill>
                            <a:schemeClr val="dk1"/>
                          </a:solidFill>
                          <a:effectLst/>
                          <a:latin typeface="+mn-lt"/>
                          <a:ea typeface="+mn-ea"/>
                          <a:cs typeface="+mn-cs"/>
                        </a:rPr>
                        <a:t>FFT + IFFT</a:t>
                      </a:r>
                      <a:r>
                        <a:rPr lang="zh-CN" altLang="en-US" sz="1800" b="0" i="0" kern="1200" dirty="0">
                          <a:solidFill>
                            <a:schemeClr val="dk1"/>
                          </a:solidFill>
                          <a:effectLst/>
                          <a:latin typeface="+mn-lt"/>
                          <a:ea typeface="+mn-ea"/>
                          <a:cs typeface="+mn-cs"/>
                        </a:rPr>
                        <a:t>，验证正确性并打印最大误差</a:t>
                      </a:r>
                      <a:endParaRPr lang="zh-CN" altLang="en-US" dirty="0"/>
                    </a:p>
                  </a:txBody>
                  <a:tcPr/>
                </a:tc>
                <a:extLst>
                  <a:ext uri="{0D108BD9-81ED-4DB2-BD59-A6C34878D82A}">
                    <a16:rowId xmlns:a16="http://schemas.microsoft.com/office/drawing/2014/main" val="2116186517"/>
                  </a:ext>
                </a:extLst>
              </a:tr>
              <a:tr h="370840">
                <a:tc>
                  <a:txBody>
                    <a:bodyPr/>
                    <a:lstStyle/>
                    <a:p>
                      <a:r>
                        <a:rPr lang="en-US" altLang="zh-CN" sz="1800" b="0" i="0" kern="1200" dirty="0" err="1">
                          <a:solidFill>
                            <a:schemeClr val="dk1"/>
                          </a:solidFill>
                          <a:effectLst/>
                          <a:latin typeface="+mn-lt"/>
                          <a:ea typeface="+mn-ea"/>
                          <a:cs typeface="+mn-cs"/>
                        </a:rPr>
                        <a:t>benchmark_main.c</a:t>
                      </a:r>
                      <a:endParaRPr lang="zh-CN" altLang="en-US" dirty="0"/>
                    </a:p>
                  </a:txBody>
                  <a:tcPr/>
                </a:tc>
                <a:tc>
                  <a:txBody>
                    <a:bodyPr/>
                    <a:lstStyle/>
                    <a:p>
                      <a:r>
                        <a:rPr lang="zh-CN" altLang="en-US" sz="1800" dirty="0">
                          <a:latin typeface="Arial (正文)"/>
                        </a:rPr>
                        <a:t>性能基准测试主程序，支持命令行参数（</a:t>
                      </a:r>
                      <a:r>
                        <a:rPr lang="en-US" altLang="zh-CN" sz="1800" dirty="0">
                          <a:latin typeface="Arial (正文)"/>
                        </a:rPr>
                        <a:t>--all / --sweep / --size</a:t>
                      </a:r>
                      <a:r>
                        <a:rPr lang="zh-CN" altLang="en-US" sz="1800" dirty="0">
                          <a:latin typeface="Arial (正文)"/>
                        </a:rPr>
                        <a:t>）</a:t>
                      </a:r>
                    </a:p>
                  </a:txBody>
                  <a:tcPr/>
                </a:tc>
                <a:extLst>
                  <a:ext uri="{0D108BD9-81ED-4DB2-BD59-A6C34878D82A}">
                    <a16:rowId xmlns:a16="http://schemas.microsoft.com/office/drawing/2014/main" val="354416983"/>
                  </a:ext>
                </a:extLst>
              </a:tr>
              <a:tr h="370840">
                <a:tc>
                  <a:txBody>
                    <a:bodyPr/>
                    <a:lstStyle/>
                    <a:p>
                      <a:r>
                        <a:rPr lang="en-US" altLang="zh-CN" sz="1800" b="0" i="0" kern="1200" dirty="0" err="1">
                          <a:solidFill>
                            <a:schemeClr val="dk1"/>
                          </a:solidFill>
                          <a:effectLst/>
                          <a:latin typeface="+mn-lt"/>
                          <a:ea typeface="+mn-ea"/>
                          <a:cs typeface="+mn-cs"/>
                        </a:rPr>
                        <a:t>fft_opt.h</a:t>
                      </a:r>
                      <a:endParaRPr lang="zh-CN" altLang="en-US" dirty="0"/>
                    </a:p>
                  </a:txBody>
                  <a:tcPr/>
                </a:tc>
                <a:tc>
                  <a:txBody>
                    <a:bodyPr/>
                    <a:lstStyle/>
                    <a:p>
                      <a:r>
                        <a:rPr lang="zh-CN" altLang="en-US" sz="1800" b="0" i="0" kern="1200" dirty="0">
                          <a:solidFill>
                            <a:schemeClr val="dk1"/>
                          </a:solidFill>
                          <a:effectLst/>
                          <a:latin typeface="+mn-lt"/>
                          <a:ea typeface="+mn-ea"/>
                          <a:cs typeface="+mn-cs"/>
                        </a:rPr>
                        <a:t>声明优化版本枚举 </a:t>
                      </a:r>
                      <a:r>
                        <a:rPr lang="en-US" altLang="zh-CN" sz="1800" b="0" i="0" kern="1200" dirty="0" err="1">
                          <a:solidFill>
                            <a:schemeClr val="dk1"/>
                          </a:solidFill>
                          <a:effectLst/>
                          <a:latin typeface="+mn-lt"/>
                          <a:ea typeface="+mn-ea"/>
                          <a:cs typeface="+mn-cs"/>
                        </a:rPr>
                        <a:t>FFT_Opt_Version</a:t>
                      </a:r>
                      <a:r>
                        <a:rPr lang="zh-CN" altLang="en-US" sz="1800" b="0" i="0" kern="1200" dirty="0">
                          <a:solidFill>
                            <a:schemeClr val="dk1"/>
                          </a:solidFill>
                          <a:effectLst/>
                          <a:latin typeface="+mn-lt"/>
                          <a:ea typeface="+mn-ea"/>
                          <a:cs typeface="+mn-cs"/>
                        </a:rPr>
                        <a:t>、性能统计结构 </a:t>
                      </a:r>
                      <a:r>
                        <a:rPr lang="en-US" altLang="zh-CN" sz="1800" b="0" i="0" kern="1200" dirty="0" err="1">
                          <a:solidFill>
                            <a:schemeClr val="dk1"/>
                          </a:solidFill>
                          <a:effectLst/>
                          <a:latin typeface="+mn-lt"/>
                          <a:ea typeface="+mn-ea"/>
                          <a:cs typeface="+mn-cs"/>
                        </a:rPr>
                        <a:t>FFT_Perf_Stats</a:t>
                      </a:r>
                      <a:r>
                        <a:rPr lang="zh-CN" altLang="en-US" sz="1800" b="0" i="0" kern="1200" dirty="0">
                          <a:solidFill>
                            <a:schemeClr val="dk1"/>
                          </a:solidFill>
                          <a:effectLst/>
                          <a:latin typeface="+mn-lt"/>
                          <a:ea typeface="+mn-ea"/>
                          <a:cs typeface="+mn-cs"/>
                        </a:rPr>
                        <a:t>、所有优化版本的 </a:t>
                      </a:r>
                      <a:r>
                        <a:rPr lang="en-US" altLang="zh-CN" sz="1800" b="0" i="0" kern="1200" dirty="0">
                          <a:solidFill>
                            <a:schemeClr val="dk1"/>
                          </a:solidFill>
                          <a:effectLst/>
                          <a:latin typeface="+mn-lt"/>
                          <a:ea typeface="+mn-ea"/>
                          <a:cs typeface="+mn-cs"/>
                        </a:rPr>
                        <a:t>FFT </a:t>
                      </a:r>
                      <a:r>
                        <a:rPr lang="zh-CN" altLang="en-US" sz="1800" b="0" i="0" kern="1200" dirty="0">
                          <a:solidFill>
                            <a:schemeClr val="dk1"/>
                          </a:solidFill>
                          <a:effectLst/>
                          <a:latin typeface="+mn-lt"/>
                          <a:ea typeface="+mn-ea"/>
                          <a:cs typeface="+mn-cs"/>
                        </a:rPr>
                        <a:t>函数和 </a:t>
                      </a:r>
                      <a:r>
                        <a:rPr lang="en-US" altLang="zh-CN" sz="1800" b="0" i="0" kern="1200" dirty="0">
                          <a:solidFill>
                            <a:schemeClr val="dk1"/>
                          </a:solidFill>
                          <a:effectLst/>
                          <a:latin typeface="+mn-lt"/>
                          <a:ea typeface="+mn-ea"/>
                          <a:cs typeface="+mn-cs"/>
                        </a:rPr>
                        <a:t>benchmark </a:t>
                      </a:r>
                      <a:r>
                        <a:rPr lang="zh-CN" altLang="en-US" sz="1800" b="0" i="0" kern="1200" dirty="0">
                          <a:solidFill>
                            <a:schemeClr val="dk1"/>
                          </a:solidFill>
                          <a:effectLst/>
                          <a:latin typeface="+mn-lt"/>
                          <a:ea typeface="+mn-ea"/>
                          <a:cs typeface="+mn-cs"/>
                        </a:rPr>
                        <a:t>函数</a:t>
                      </a:r>
                      <a:endParaRPr lang="zh-CN" altLang="en-US" dirty="0"/>
                    </a:p>
                  </a:txBody>
                  <a:tcPr/>
                </a:tc>
                <a:extLst>
                  <a:ext uri="{0D108BD9-81ED-4DB2-BD59-A6C34878D82A}">
                    <a16:rowId xmlns:a16="http://schemas.microsoft.com/office/drawing/2014/main" val="2240453870"/>
                  </a:ext>
                </a:extLst>
              </a:tr>
              <a:tr h="370840">
                <a:tc>
                  <a:txBody>
                    <a:bodyPr/>
                    <a:lstStyle/>
                    <a:p>
                      <a:r>
                        <a:rPr lang="en-US" altLang="zh-CN" sz="1800" dirty="0" err="1">
                          <a:latin typeface="Arial (正文)"/>
                        </a:rPr>
                        <a:t>fft_opt.c</a:t>
                      </a:r>
                      <a:endParaRPr lang="zh-CN" altLang="en-US" sz="1800" dirty="0">
                        <a:latin typeface="Arial (正文)"/>
                      </a:endParaRPr>
                    </a:p>
                  </a:txBody>
                  <a:tcPr/>
                </a:tc>
                <a:tc>
                  <a:txBody>
                    <a:bodyPr/>
                    <a:lstStyle/>
                    <a:p>
                      <a:r>
                        <a:rPr lang="zh-CN" altLang="en-US" sz="1800" dirty="0">
                          <a:latin typeface="Arial (正文)"/>
                        </a:rPr>
                        <a:t>实现原始版（</a:t>
                      </a:r>
                      <a:r>
                        <a:rPr lang="en-US" altLang="zh-CN" sz="1800" dirty="0">
                          <a:latin typeface="Arial (正文)"/>
                        </a:rPr>
                        <a:t>V0</a:t>
                      </a:r>
                      <a:r>
                        <a:rPr lang="zh-CN" altLang="en-US" sz="1800" dirty="0">
                          <a:latin typeface="Arial (正文)"/>
                        </a:rPr>
                        <a:t>）、查表法（</a:t>
                      </a:r>
                      <a:r>
                        <a:rPr lang="en-US" altLang="zh-CN" sz="1800" dirty="0">
                          <a:latin typeface="Arial (正文)"/>
                        </a:rPr>
                        <a:t>V2</a:t>
                      </a:r>
                      <a:r>
                        <a:rPr lang="zh-CN" altLang="en-US" sz="1800" dirty="0">
                          <a:latin typeface="Arial (正文)"/>
                        </a:rPr>
                        <a:t>）、增强 </a:t>
                      </a:r>
                      <a:r>
                        <a:rPr lang="en-US" altLang="zh-CN" sz="1800" dirty="0">
                          <a:latin typeface="Arial (正文)"/>
                        </a:rPr>
                        <a:t>NEON</a:t>
                      </a:r>
                      <a:r>
                        <a:rPr lang="zh-CN" altLang="en-US" sz="1800" dirty="0">
                          <a:latin typeface="Arial (正文)"/>
                        </a:rPr>
                        <a:t>（</a:t>
                      </a:r>
                      <a:r>
                        <a:rPr lang="en-US" altLang="zh-CN" sz="1800" dirty="0">
                          <a:latin typeface="Arial (正文)"/>
                        </a:rPr>
                        <a:t>V3</a:t>
                      </a:r>
                      <a:r>
                        <a:rPr lang="zh-CN" altLang="en-US" sz="1800" dirty="0">
                          <a:latin typeface="Arial (正文)"/>
                        </a:rPr>
                        <a:t>）三个优化版本，以及对应的 </a:t>
                      </a:r>
                      <a:r>
                        <a:rPr lang="en-US" altLang="zh-CN" sz="1800" dirty="0">
                          <a:latin typeface="Arial (正文)"/>
                        </a:rPr>
                        <a:t>benchmark </a:t>
                      </a:r>
                      <a:r>
                        <a:rPr lang="zh-CN" altLang="en-US" sz="1800" dirty="0">
                          <a:latin typeface="Arial (正文)"/>
                        </a:rPr>
                        <a:t>测试封装</a:t>
                      </a:r>
                    </a:p>
                  </a:txBody>
                  <a:tcPr/>
                </a:tc>
                <a:extLst>
                  <a:ext uri="{0D108BD9-81ED-4DB2-BD59-A6C34878D82A}">
                    <a16:rowId xmlns:a16="http://schemas.microsoft.com/office/drawing/2014/main" val="1969914718"/>
                  </a:ext>
                </a:extLst>
              </a:tr>
            </a:tbl>
          </a:graphicData>
        </a:graphic>
      </p:graphicFrame>
    </p:spTree>
    <p:extLst>
      <p:ext uri="{BB962C8B-B14F-4D97-AF65-F5344CB8AC3E}">
        <p14:creationId xmlns:p14="http://schemas.microsoft.com/office/powerpoint/2010/main" val="2602522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D3748"/>
                </a:solidFill>
                <a:latin typeface="Noto Sans SC"/>
                <a:ea typeface="Noto Sans SC"/>
                <a:cs typeface="Noto Sans SC"/>
                <a:sym typeface="Noto Sans SC"/>
              </a:rPr>
              <a:t>v</a:t>
            </a:r>
            <a:r>
              <a:rPr lang="en-US" sz="3200" b="1" dirty="0">
                <a:solidFill>
                  <a:srgbClr val="2D3748"/>
                </a:solidFill>
                <a:latin typeface="Noto Sans SC"/>
                <a:ea typeface="Noto Sans SC"/>
                <a:cs typeface="Noto Sans SC"/>
                <a:sym typeface="Noto Sans SC"/>
              </a:rPr>
              <a:t>1</a:t>
            </a:r>
            <a:r>
              <a:rPr lang="en-US" sz="3200" b="1" i="0" u="none" strike="noStrike" dirty="0">
                <a:solidFill>
                  <a:srgbClr val="2D3748"/>
                </a:solidFill>
                <a:latin typeface="Noto Sans SC"/>
                <a:ea typeface="Noto Sans SC"/>
                <a:cs typeface="Noto Sans SC"/>
                <a:sym typeface="Noto Sans SC"/>
              </a:rPr>
              <a:t>：</a:t>
            </a:r>
            <a:r>
              <a:rPr lang="zh-CN" altLang="en-US" sz="3200" b="1" i="0" u="none" strike="noStrike" dirty="0">
                <a:solidFill>
                  <a:srgbClr val="2D3748"/>
                </a:solidFill>
                <a:latin typeface="Noto Sans SC"/>
                <a:ea typeface="Noto Sans SC"/>
                <a:cs typeface="Noto Sans SC"/>
                <a:sym typeface="Noto Sans SC"/>
              </a:rPr>
              <a:t>查表法（</a:t>
            </a:r>
            <a:r>
              <a:rPr lang="en-US" sz="3200" b="1" i="0" u="none" strike="noStrike" dirty="0">
                <a:solidFill>
                  <a:srgbClr val="2D3748"/>
                </a:solidFill>
                <a:latin typeface="Noto Sans SC"/>
                <a:ea typeface="Noto Sans SC"/>
                <a:cs typeface="Noto Sans SC"/>
                <a:sym typeface="Noto Sans SC"/>
              </a:rPr>
              <a:t>Lookup Table）</a:t>
            </a:r>
            <a:endParaRPr lang="en-US" sz="1100" dirty="0"/>
          </a:p>
        </p:txBody>
      </p:sp>
      <p:sp>
        <p:nvSpPr>
          <p:cNvPr id="4" name="AutoShape 4"/>
          <p:cNvSpPr/>
          <p:nvPr/>
        </p:nvSpPr>
        <p:spPr>
          <a:xfrm>
            <a:off x="762000" y="1524000"/>
            <a:ext cx="5334000" cy="1714500"/>
          </a:xfrm>
          <a:prstGeom prst="roundRect">
            <a:avLst>
              <a:gd name="adj" fmla="val 5925"/>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714500"/>
            <a:ext cx="304800" cy="304800"/>
          </a:xfrm>
          <a:prstGeom prst="rect">
            <a:avLst/>
          </a:prstGeom>
        </p:spPr>
      </p:pic>
      <p:sp>
        <p:nvSpPr>
          <p:cNvPr id="6" name="AutoShape 6"/>
          <p:cNvSpPr/>
          <p:nvPr/>
        </p:nvSpPr>
        <p:spPr>
          <a:xfrm>
            <a:off x="1397000" y="1676400"/>
            <a:ext cx="444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a:ea typeface="Noto Sans SC"/>
                <a:cs typeface="Noto Sans SC"/>
                <a:sym typeface="Noto Sans SC"/>
              </a:rPr>
              <a:t>核心优化方法</a:t>
            </a:r>
            <a:endParaRPr lang="en-US" sz="1100"/>
          </a:p>
        </p:txBody>
      </p:sp>
      <p:sp>
        <p:nvSpPr>
          <p:cNvPr id="7" name="AutoShape 7"/>
          <p:cNvSpPr/>
          <p:nvPr/>
        </p:nvSpPr>
        <p:spPr>
          <a:xfrm>
            <a:off x="952500" y="2159000"/>
            <a:ext cx="4953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dirty="0">
                <a:solidFill>
                  <a:srgbClr val="4A5568"/>
                </a:solidFill>
                <a:latin typeface="Noto Sans SC"/>
                <a:ea typeface="Noto Sans SC"/>
                <a:cs typeface="Noto Sans SC"/>
                <a:sym typeface="Noto Sans SC"/>
              </a:rPr>
              <a:t>•</a:t>
            </a:r>
            <a:r>
              <a:rPr lang="zh-CN" altLang="en-US" sz="1300" b="1" i="0" u="none" strike="noStrike" dirty="0">
                <a:solidFill>
                  <a:srgbClr val="4A5568"/>
                </a:solidFill>
                <a:latin typeface="Noto Sans SC"/>
                <a:ea typeface="Noto Sans SC"/>
                <a:cs typeface="Noto Sans SC"/>
                <a:sym typeface="Noto Sans SC"/>
              </a:rPr>
              <a:t>预计算 </a:t>
            </a:r>
            <a:r>
              <a:rPr lang="en-US" sz="1300" b="1" i="0" u="none" strike="noStrike" dirty="0">
                <a:solidFill>
                  <a:srgbClr val="4A5568"/>
                </a:solidFill>
                <a:latin typeface="Noto Sans SC"/>
                <a:ea typeface="Noto Sans SC"/>
                <a:cs typeface="Noto Sans SC"/>
                <a:sym typeface="Noto Sans SC"/>
              </a:rPr>
              <a:t>sin/cos </a:t>
            </a:r>
            <a:r>
              <a:rPr lang="zh-CN" altLang="en-US" sz="1300" b="1" i="0" u="none" strike="noStrike" dirty="0">
                <a:solidFill>
                  <a:srgbClr val="4A5568"/>
                </a:solidFill>
                <a:latin typeface="Noto Sans SC"/>
                <a:ea typeface="Noto Sans SC"/>
                <a:cs typeface="Noto Sans SC"/>
                <a:sym typeface="Noto Sans SC"/>
              </a:rPr>
              <a:t>查找表</a:t>
            </a:r>
            <a:r>
              <a:rPr lang="en-US" sz="1300" b="1" i="0" u="none" strike="noStrike" dirty="0">
                <a:solidFill>
                  <a:srgbClr val="4A5568"/>
                </a:solidFill>
                <a:latin typeface="Noto Sans SC"/>
                <a:ea typeface="Noto Sans SC"/>
                <a:cs typeface="Noto Sans SC"/>
                <a:sym typeface="Noto Sans SC"/>
              </a:rPr>
              <a:t>：</a:t>
            </a:r>
            <a:r>
              <a:rPr lang="en-US" altLang="zh-CN" sz="1300" b="0" i="0" u="none" strike="noStrike" dirty="0">
                <a:solidFill>
                  <a:srgbClr val="4A5568"/>
                </a:solidFill>
                <a:latin typeface="Noto Sans SC"/>
                <a:ea typeface="Noto Sans SC"/>
                <a:cs typeface="Noto Sans SC"/>
                <a:sym typeface="Noto Sans SC"/>
              </a:rPr>
              <a:t>FFT </a:t>
            </a:r>
            <a:r>
              <a:rPr lang="zh-CN" altLang="en-US" sz="1300" b="0" i="0" u="none" strike="noStrike" dirty="0">
                <a:solidFill>
                  <a:srgbClr val="4A5568"/>
                </a:solidFill>
                <a:latin typeface="Noto Sans SC"/>
                <a:ea typeface="Noto Sans SC"/>
                <a:cs typeface="Noto Sans SC"/>
                <a:sym typeface="Noto Sans SC"/>
              </a:rPr>
              <a:t>计算前一次性生成完整的旋转因子表</a:t>
            </a:r>
            <a:endParaRPr lang="en-US" sz="1100" dirty="0"/>
          </a:p>
          <a:p>
            <a:pPr indent="0" algn="l">
              <a:lnSpc>
                <a:spcPct val="108333"/>
              </a:lnSpc>
            </a:pPr>
            <a:r>
              <a:rPr lang="en-US" sz="1300" b="0" i="0" u="none" strike="noStrike" dirty="0">
                <a:solidFill>
                  <a:srgbClr val="4A5568"/>
                </a:solidFill>
                <a:latin typeface="Noto Sans SC"/>
                <a:ea typeface="Noto Sans SC"/>
                <a:cs typeface="Noto Sans SC"/>
                <a:sym typeface="Noto Sans SC"/>
              </a:rPr>
              <a:t>•</a:t>
            </a:r>
            <a:r>
              <a:rPr lang="zh-CN" altLang="en-US" sz="1300" b="1" i="0" u="none" strike="noStrike" dirty="0">
                <a:solidFill>
                  <a:srgbClr val="4A5568"/>
                </a:solidFill>
                <a:latin typeface="Noto Sans SC"/>
                <a:ea typeface="Noto Sans SC"/>
                <a:cs typeface="Noto Sans SC"/>
                <a:sym typeface="Noto Sans SC"/>
              </a:rPr>
              <a:t>运行时直接数组索引访问</a:t>
            </a:r>
            <a:r>
              <a:rPr lang="en-US" sz="1300" b="1" i="0" u="none" strike="noStrike" dirty="0">
                <a:solidFill>
                  <a:srgbClr val="4A5568"/>
                </a:solidFill>
                <a:latin typeface="Noto Sans SC"/>
                <a:ea typeface="Noto Sans SC"/>
                <a:cs typeface="Noto Sans SC"/>
                <a:sym typeface="Noto Sans SC"/>
              </a:rPr>
              <a:t>：</a:t>
            </a:r>
            <a:r>
              <a:rPr lang="en-US" sz="1300" b="0" i="0" u="none" strike="noStrike" dirty="0" err="1">
                <a:solidFill>
                  <a:srgbClr val="4A5568"/>
                </a:solidFill>
                <a:latin typeface="Noto Sans SC"/>
                <a:ea typeface="Noto Sans SC"/>
                <a:cs typeface="Noto Sans SC"/>
                <a:sym typeface="Noto Sans SC"/>
              </a:rPr>
              <a:t>在</a:t>
            </a:r>
            <a:r>
              <a:rPr lang="en-US" altLang="zh-CN" sz="1300" b="0" i="0" u="none" strike="noStrike" dirty="0" err="1">
                <a:solidFill>
                  <a:srgbClr val="4A5568"/>
                </a:solidFill>
                <a:latin typeface="Noto Sans SC"/>
                <a:ea typeface="Noto Sans SC"/>
                <a:cs typeface="Noto Sans SC"/>
                <a:sym typeface="Noto Sans SC"/>
              </a:rPr>
              <a:t>O</a:t>
            </a:r>
            <a:r>
              <a:rPr lang="en-US" altLang="zh-CN" sz="1300" b="0" i="0" u="none" strike="noStrike" dirty="0">
                <a:solidFill>
                  <a:srgbClr val="4A5568"/>
                </a:solidFill>
                <a:latin typeface="Noto Sans SC"/>
                <a:ea typeface="Noto Sans SC"/>
                <a:cs typeface="Noto Sans SC"/>
                <a:sym typeface="Noto Sans SC"/>
              </a:rPr>
              <a:t>(1) </a:t>
            </a:r>
            <a:r>
              <a:rPr lang="zh-CN" altLang="en-US" sz="1300" b="0" i="0" u="none" strike="noStrike" dirty="0">
                <a:solidFill>
                  <a:srgbClr val="4A5568"/>
                </a:solidFill>
                <a:latin typeface="Noto Sans SC"/>
                <a:ea typeface="Noto Sans SC"/>
                <a:cs typeface="Noto Sans SC"/>
                <a:sym typeface="Noto Sans SC"/>
              </a:rPr>
              <a:t>时间复杂度，替代实时三角函数调用</a:t>
            </a:r>
            <a:endParaRPr lang="en-US" altLang="zh-CN" sz="1300" b="0" i="0" u="none" strike="noStrike" dirty="0">
              <a:solidFill>
                <a:srgbClr val="4A5568"/>
              </a:solidFill>
              <a:latin typeface="Noto Sans SC"/>
              <a:ea typeface="Noto Sans SC"/>
              <a:cs typeface="Noto Sans SC"/>
              <a:sym typeface="Noto Sans SC"/>
            </a:endParaRPr>
          </a:p>
          <a:p>
            <a:pPr>
              <a:lnSpc>
                <a:spcPct val="108333"/>
              </a:lnSpc>
            </a:pPr>
            <a:r>
              <a:rPr lang="en-US" altLang="zh-CN" sz="1300" dirty="0">
                <a:solidFill>
                  <a:srgbClr val="4A5568"/>
                </a:solidFill>
                <a:latin typeface="Noto Sans SC"/>
                <a:ea typeface="Noto Sans SC"/>
                <a:cs typeface="Noto Sans SC"/>
                <a:sym typeface="Noto Sans SC"/>
              </a:rPr>
              <a:t>•</a:t>
            </a:r>
            <a:r>
              <a:rPr lang="zh-CN" altLang="en-US" sz="1300" b="1" dirty="0">
                <a:solidFill>
                  <a:srgbClr val="4A5568"/>
                </a:solidFill>
                <a:latin typeface="Noto Sans SC"/>
                <a:ea typeface="Noto Sans SC"/>
                <a:cs typeface="Noto Sans SC"/>
                <a:sym typeface="Noto Sans SC"/>
              </a:rPr>
              <a:t>使用 </a:t>
            </a:r>
            <a:r>
              <a:rPr lang="en-US" altLang="zh-CN" sz="1300" b="1" dirty="0">
                <a:solidFill>
                  <a:srgbClr val="4A5568"/>
                </a:solidFill>
                <a:latin typeface="Noto Sans SC"/>
                <a:ea typeface="Noto Sans SC"/>
                <a:cs typeface="Noto Sans SC"/>
                <a:sym typeface="Noto Sans SC"/>
              </a:rPr>
              <a:t>float </a:t>
            </a:r>
            <a:r>
              <a:rPr lang="zh-CN" altLang="en-US" sz="1300" b="1" dirty="0">
                <a:solidFill>
                  <a:srgbClr val="4A5568"/>
                </a:solidFill>
                <a:latin typeface="Noto Sans SC"/>
                <a:ea typeface="Noto Sans SC"/>
                <a:cs typeface="Noto Sans SC"/>
                <a:sym typeface="Noto Sans SC"/>
              </a:rPr>
              <a:t>类型存储查找表</a:t>
            </a:r>
            <a:r>
              <a:rPr lang="en-US" altLang="zh-CN" sz="1300" b="1" dirty="0">
                <a:solidFill>
                  <a:srgbClr val="4A5568"/>
                </a:solidFill>
                <a:latin typeface="Noto Sans SC"/>
                <a:ea typeface="Noto Sans SC"/>
                <a:cs typeface="Noto Sans SC"/>
                <a:sym typeface="Noto Sans SC"/>
              </a:rPr>
              <a:t>：</a:t>
            </a:r>
            <a:r>
              <a:rPr lang="zh-CN" altLang="en-US" sz="1300" dirty="0">
                <a:solidFill>
                  <a:srgbClr val="4A5568"/>
                </a:solidFill>
                <a:latin typeface="Noto Sans SC"/>
                <a:ea typeface="Noto Sans SC"/>
                <a:cs typeface="Noto Sans SC"/>
                <a:sym typeface="Noto Sans SC"/>
              </a:rPr>
              <a:t>相比 </a:t>
            </a:r>
            <a:r>
              <a:rPr lang="en-US" altLang="zh-CN" sz="1300" dirty="0">
                <a:solidFill>
                  <a:srgbClr val="4A5568"/>
                </a:solidFill>
                <a:latin typeface="Noto Sans SC"/>
                <a:ea typeface="Noto Sans SC"/>
                <a:cs typeface="Noto Sans SC"/>
                <a:sym typeface="Noto Sans SC"/>
              </a:rPr>
              <a:t>double </a:t>
            </a:r>
            <a:r>
              <a:rPr lang="zh-CN" altLang="en-US" sz="1300" dirty="0">
                <a:solidFill>
                  <a:srgbClr val="4A5568"/>
                </a:solidFill>
                <a:latin typeface="Noto Sans SC"/>
                <a:ea typeface="Noto Sans SC"/>
                <a:cs typeface="Noto Sans SC"/>
                <a:sym typeface="Noto Sans SC"/>
              </a:rPr>
              <a:t>节省一半内存，提升缓存命中率</a:t>
            </a:r>
            <a:endParaRPr lang="en-US" altLang="zh-CN" sz="1300" dirty="0">
              <a:solidFill>
                <a:srgbClr val="4A5568"/>
              </a:solidFill>
              <a:latin typeface="Noto Sans SC"/>
              <a:ea typeface="Noto Sans SC"/>
              <a:cs typeface="Noto Sans SC"/>
              <a:sym typeface="Noto Sans SC"/>
            </a:endParaRPr>
          </a:p>
          <a:p>
            <a:pPr indent="0" algn="l">
              <a:lnSpc>
                <a:spcPct val="108333"/>
              </a:lnSpc>
            </a:pPr>
            <a:endParaRPr lang="en-US" sz="1300" b="0" i="0" u="none" strike="noStrike" dirty="0">
              <a:solidFill>
                <a:srgbClr val="4A5568"/>
              </a:solidFill>
              <a:latin typeface="Noto Sans SC"/>
              <a:ea typeface="Noto Sans SC"/>
              <a:cs typeface="Noto Sans SC"/>
              <a:sym typeface="Noto Sans SC"/>
            </a:endParaRPr>
          </a:p>
        </p:txBody>
      </p:sp>
      <p:sp>
        <p:nvSpPr>
          <p:cNvPr id="8" name="AutoShape 8"/>
          <p:cNvSpPr/>
          <p:nvPr/>
        </p:nvSpPr>
        <p:spPr>
          <a:xfrm>
            <a:off x="762000" y="3429000"/>
            <a:ext cx="5334000" cy="1714500"/>
          </a:xfrm>
          <a:prstGeom prst="roundRect">
            <a:avLst>
              <a:gd name="adj" fmla="val 5925"/>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619500"/>
            <a:ext cx="304800" cy="304800"/>
          </a:xfrm>
          <a:prstGeom prst="rect">
            <a:avLst/>
          </a:prstGeom>
        </p:spPr>
      </p:pic>
      <p:sp>
        <p:nvSpPr>
          <p:cNvPr id="10" name="AutoShape 10"/>
          <p:cNvSpPr/>
          <p:nvPr/>
        </p:nvSpPr>
        <p:spPr>
          <a:xfrm>
            <a:off x="1397000" y="3581400"/>
            <a:ext cx="444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D3748"/>
                </a:solidFill>
                <a:latin typeface="Noto Sans SC"/>
                <a:ea typeface="Noto Sans SC"/>
                <a:cs typeface="Noto Sans SC"/>
                <a:sym typeface="Noto Sans SC"/>
              </a:rPr>
              <a:t>优化收益与目标</a:t>
            </a:r>
            <a:endParaRPr lang="en-US" sz="1100"/>
          </a:p>
        </p:txBody>
      </p:sp>
      <p:sp>
        <p:nvSpPr>
          <p:cNvPr id="11" name="AutoShape 11"/>
          <p:cNvSpPr/>
          <p:nvPr/>
        </p:nvSpPr>
        <p:spPr>
          <a:xfrm>
            <a:off x="952500" y="4064000"/>
            <a:ext cx="4953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dirty="0">
                <a:solidFill>
                  <a:srgbClr val="4A5568"/>
                </a:solidFill>
                <a:latin typeface="Noto Sans SC"/>
                <a:ea typeface="Noto Sans SC"/>
                <a:cs typeface="Noto Sans SC"/>
                <a:sym typeface="Noto Sans SC"/>
              </a:rPr>
              <a:t>•</a:t>
            </a:r>
            <a:r>
              <a:rPr lang="zh-CN" altLang="en-US" sz="1300" b="1" i="0" u="none" strike="noStrike" dirty="0">
                <a:solidFill>
                  <a:srgbClr val="4A5568"/>
                </a:solidFill>
                <a:latin typeface="Noto Sans SC"/>
                <a:ea typeface="Noto Sans SC"/>
                <a:cs typeface="Noto Sans SC"/>
                <a:sym typeface="Noto Sans SC"/>
              </a:rPr>
              <a:t>消除三角函数调用</a:t>
            </a:r>
            <a:r>
              <a:rPr lang="en-US" sz="1300" b="1" i="0" u="none" strike="noStrike" dirty="0">
                <a:solidFill>
                  <a:srgbClr val="4A5568"/>
                </a:solidFill>
                <a:latin typeface="Noto Sans SC"/>
                <a:ea typeface="Noto Sans SC"/>
                <a:cs typeface="Noto Sans SC"/>
                <a:sym typeface="Noto Sans SC"/>
              </a:rPr>
              <a:t>：</a:t>
            </a:r>
            <a:r>
              <a:rPr lang="en-US" altLang="zh-CN" sz="1300" b="0" i="0" u="none" strike="noStrike" dirty="0" err="1">
                <a:solidFill>
                  <a:srgbClr val="4A5568"/>
                </a:solidFill>
                <a:latin typeface="Noto Sans SC"/>
                <a:ea typeface="Noto Sans SC"/>
                <a:cs typeface="Noto Sans SC"/>
                <a:sym typeface="Noto Sans SC"/>
              </a:rPr>
              <a:t>sinf</a:t>
            </a:r>
            <a:r>
              <a:rPr lang="en-US" altLang="zh-CN" sz="1300" b="0" i="0" u="none" strike="noStrike" dirty="0">
                <a:solidFill>
                  <a:srgbClr val="4A5568"/>
                </a:solidFill>
                <a:latin typeface="Noto Sans SC"/>
                <a:ea typeface="Noto Sans SC"/>
                <a:cs typeface="Noto Sans SC"/>
                <a:sym typeface="Noto Sans SC"/>
              </a:rPr>
              <a:t>()/</a:t>
            </a:r>
            <a:r>
              <a:rPr lang="en-US" altLang="zh-CN" sz="1300" b="0" i="0" u="none" strike="noStrike" dirty="0" err="1">
                <a:solidFill>
                  <a:srgbClr val="4A5568"/>
                </a:solidFill>
                <a:latin typeface="Noto Sans SC"/>
                <a:ea typeface="Noto Sans SC"/>
                <a:cs typeface="Noto Sans SC"/>
                <a:sym typeface="Noto Sans SC"/>
              </a:rPr>
              <a:t>cosf</a:t>
            </a:r>
            <a:r>
              <a:rPr lang="en-US" altLang="zh-CN" sz="1300" b="0" i="0" u="none" strike="noStrike" dirty="0">
                <a:solidFill>
                  <a:srgbClr val="4A5568"/>
                </a:solidFill>
                <a:latin typeface="Noto Sans SC"/>
                <a:ea typeface="Noto Sans SC"/>
                <a:cs typeface="Noto Sans SC"/>
                <a:sym typeface="Noto Sans SC"/>
              </a:rPr>
              <a:t>() </a:t>
            </a:r>
            <a:r>
              <a:rPr lang="zh-CN" altLang="en-US" sz="1300" b="0" i="0" u="none" strike="noStrike" dirty="0">
                <a:solidFill>
                  <a:srgbClr val="4A5568"/>
                </a:solidFill>
                <a:latin typeface="Noto Sans SC"/>
                <a:ea typeface="Noto Sans SC"/>
                <a:cs typeface="Noto Sans SC"/>
                <a:sym typeface="Noto Sans SC"/>
              </a:rPr>
              <a:t>数十个 </a:t>
            </a:r>
            <a:r>
              <a:rPr lang="en-US" altLang="zh-CN" sz="1300" b="0" i="0" u="none" strike="noStrike" dirty="0">
                <a:solidFill>
                  <a:srgbClr val="4A5568"/>
                </a:solidFill>
                <a:latin typeface="Noto Sans SC"/>
                <a:ea typeface="Noto Sans SC"/>
                <a:cs typeface="Noto Sans SC"/>
                <a:sym typeface="Noto Sans SC"/>
              </a:rPr>
              <a:t>CPU </a:t>
            </a:r>
            <a:r>
              <a:rPr lang="zh-CN" altLang="en-US" sz="1300" b="0" i="0" u="none" strike="noStrike" dirty="0">
                <a:solidFill>
                  <a:srgbClr val="4A5568"/>
                </a:solidFill>
                <a:latin typeface="Noto Sans SC"/>
                <a:ea typeface="Noto Sans SC"/>
                <a:cs typeface="Noto Sans SC"/>
                <a:sym typeface="Noto Sans SC"/>
              </a:rPr>
              <a:t>周期 → 数组访问 </a:t>
            </a:r>
            <a:r>
              <a:rPr lang="en-US" altLang="zh-CN" sz="1300" b="0" i="0" u="none" strike="noStrike" dirty="0">
                <a:solidFill>
                  <a:srgbClr val="4A5568"/>
                </a:solidFill>
                <a:latin typeface="Noto Sans SC"/>
                <a:ea typeface="Noto Sans SC"/>
                <a:cs typeface="Noto Sans SC"/>
                <a:sym typeface="Noto Sans SC"/>
              </a:rPr>
              <a:t>1~2 </a:t>
            </a:r>
            <a:r>
              <a:rPr lang="zh-CN" altLang="en-US" sz="1300" b="0" i="0" u="none" strike="noStrike" dirty="0">
                <a:solidFill>
                  <a:srgbClr val="4A5568"/>
                </a:solidFill>
                <a:latin typeface="Noto Sans SC"/>
                <a:ea typeface="Noto Sans SC"/>
                <a:cs typeface="Noto Sans SC"/>
                <a:sym typeface="Noto Sans SC"/>
              </a:rPr>
              <a:t>个周期</a:t>
            </a:r>
            <a:endParaRPr lang="en-US" sz="1100" dirty="0"/>
          </a:p>
          <a:p>
            <a:pPr indent="0" algn="l">
              <a:lnSpc>
                <a:spcPct val="108333"/>
              </a:lnSpc>
            </a:pPr>
            <a:r>
              <a:rPr lang="en-US" sz="1300" b="0" i="0" u="none" strike="noStrike" dirty="0">
                <a:solidFill>
                  <a:srgbClr val="4A5568"/>
                </a:solidFill>
                <a:latin typeface="Noto Sans SC"/>
                <a:ea typeface="Noto Sans SC"/>
                <a:cs typeface="Noto Sans SC"/>
                <a:sym typeface="Noto Sans SC"/>
              </a:rPr>
              <a:t>•</a:t>
            </a:r>
            <a:r>
              <a:rPr lang="zh-CN" altLang="en-US" sz="1300" b="1" i="0" u="none" strike="noStrike" dirty="0">
                <a:solidFill>
                  <a:srgbClr val="4A5568"/>
                </a:solidFill>
                <a:latin typeface="Noto Sans SC"/>
                <a:ea typeface="Noto Sans SC"/>
                <a:cs typeface="Noto Sans SC"/>
                <a:sym typeface="Noto Sans SC"/>
              </a:rPr>
              <a:t>空间换时间</a:t>
            </a:r>
            <a:r>
              <a:rPr lang="en-US" sz="1300" b="1" i="0" u="none" strike="noStrike" dirty="0">
                <a:solidFill>
                  <a:srgbClr val="4A5568"/>
                </a:solidFill>
                <a:latin typeface="Noto Sans SC"/>
                <a:ea typeface="Noto Sans SC"/>
                <a:cs typeface="Noto Sans SC"/>
                <a:sym typeface="Noto Sans SC"/>
              </a:rPr>
              <a:t>：</a:t>
            </a:r>
            <a:r>
              <a:rPr lang="en-US" sz="1300" b="0" i="0" u="none" strike="noStrike" dirty="0" err="1">
                <a:solidFill>
                  <a:srgbClr val="4A5568"/>
                </a:solidFill>
                <a:latin typeface="Noto Sans SC"/>
                <a:ea typeface="Noto Sans SC"/>
                <a:cs typeface="Noto Sans SC"/>
                <a:sym typeface="Noto Sans SC"/>
              </a:rPr>
              <a:t>为</a:t>
            </a:r>
            <a:r>
              <a:rPr lang="en-US" altLang="zh-CN" sz="1300" b="0" i="0" u="none" strike="noStrike" dirty="0" err="1">
                <a:solidFill>
                  <a:srgbClr val="4A5568"/>
                </a:solidFill>
                <a:latin typeface="Noto Sans SC"/>
                <a:ea typeface="Noto Sans SC"/>
                <a:cs typeface="Noto Sans SC"/>
                <a:sym typeface="Noto Sans SC"/>
              </a:rPr>
              <a:t>N</a:t>
            </a:r>
            <a:r>
              <a:rPr lang="en-US" altLang="zh-CN" sz="1300" b="0" i="0" u="none" strike="noStrike" dirty="0">
                <a:solidFill>
                  <a:srgbClr val="4A5568"/>
                </a:solidFill>
                <a:latin typeface="Noto Sans SC"/>
                <a:ea typeface="Noto Sans SC"/>
                <a:cs typeface="Noto Sans SC"/>
                <a:sym typeface="Noto Sans SC"/>
              </a:rPr>
              <a:t>=4096 </a:t>
            </a:r>
            <a:r>
              <a:rPr lang="zh-CN" altLang="en-US" sz="1300" b="0" i="0" u="none" strike="noStrike" dirty="0">
                <a:solidFill>
                  <a:srgbClr val="4A5568"/>
                </a:solidFill>
                <a:latin typeface="Noto Sans SC"/>
                <a:ea typeface="Noto Sans SC"/>
                <a:cs typeface="Noto Sans SC"/>
                <a:sym typeface="Noto Sans SC"/>
              </a:rPr>
              <a:t>时查找表仅需约 </a:t>
            </a:r>
            <a:r>
              <a:rPr lang="en-US" altLang="zh-CN" sz="1300" b="0" i="0" u="none" strike="noStrike" dirty="0">
                <a:solidFill>
                  <a:srgbClr val="4A5568"/>
                </a:solidFill>
                <a:latin typeface="Noto Sans SC"/>
                <a:ea typeface="Noto Sans SC"/>
                <a:cs typeface="Noto Sans SC"/>
                <a:sym typeface="Noto Sans SC"/>
              </a:rPr>
              <a:t>32KB </a:t>
            </a:r>
            <a:r>
              <a:rPr lang="zh-CN" altLang="en-US" sz="1300" b="0" i="0" u="none" strike="noStrike" dirty="0">
                <a:solidFill>
                  <a:srgbClr val="4A5568"/>
                </a:solidFill>
                <a:latin typeface="Noto Sans SC"/>
                <a:ea typeface="Noto Sans SC"/>
                <a:cs typeface="Noto Sans SC"/>
                <a:sym typeface="Noto Sans SC"/>
              </a:rPr>
              <a:t>内存</a:t>
            </a:r>
            <a:endParaRPr lang="en-US" altLang="zh-CN" sz="1300" b="0" i="0" u="none" strike="noStrike" dirty="0">
              <a:solidFill>
                <a:srgbClr val="4A5568"/>
              </a:solidFill>
              <a:latin typeface="Noto Sans SC"/>
              <a:ea typeface="Noto Sans SC"/>
              <a:cs typeface="Noto Sans SC"/>
              <a:sym typeface="Noto Sans SC"/>
            </a:endParaRPr>
          </a:p>
          <a:p>
            <a:pPr>
              <a:lnSpc>
                <a:spcPct val="108333"/>
              </a:lnSpc>
            </a:pPr>
            <a:r>
              <a:rPr lang="en-US" altLang="zh-CN" sz="1300" dirty="0">
                <a:solidFill>
                  <a:srgbClr val="4A5568"/>
                </a:solidFill>
                <a:latin typeface="Noto Sans SC"/>
                <a:ea typeface="Noto Sans SC"/>
                <a:cs typeface="Noto Sans SC"/>
                <a:sym typeface="Noto Sans SC"/>
              </a:rPr>
              <a:t>•</a:t>
            </a:r>
            <a:r>
              <a:rPr lang="zh-CN" altLang="en-US" sz="1300" b="1" dirty="0">
                <a:solidFill>
                  <a:srgbClr val="4A5568"/>
                </a:solidFill>
                <a:latin typeface="Noto Sans SC"/>
                <a:ea typeface="Noto Sans SC"/>
                <a:cs typeface="Noto Sans SC"/>
                <a:sym typeface="Noto Sans SC"/>
              </a:rPr>
              <a:t>缓存友好</a:t>
            </a:r>
            <a:r>
              <a:rPr lang="en-US" altLang="zh-CN" sz="1300" b="1" dirty="0">
                <a:solidFill>
                  <a:srgbClr val="4A5568"/>
                </a:solidFill>
                <a:latin typeface="Noto Sans SC"/>
                <a:ea typeface="Noto Sans SC"/>
                <a:cs typeface="Noto Sans SC"/>
                <a:sym typeface="Noto Sans SC"/>
              </a:rPr>
              <a:t>：</a:t>
            </a:r>
            <a:r>
              <a:rPr lang="en-US" altLang="zh-CN" sz="1300" dirty="0" err="1">
                <a:solidFill>
                  <a:srgbClr val="4A5568"/>
                </a:solidFill>
                <a:latin typeface="Noto Sans SC"/>
                <a:ea typeface="Noto Sans SC"/>
                <a:cs typeface="Noto Sans SC"/>
                <a:sym typeface="Noto Sans SC"/>
              </a:rPr>
              <a:t>为float</a:t>
            </a:r>
            <a:r>
              <a:rPr lang="en-US" altLang="zh-CN" sz="1300" dirty="0">
                <a:solidFill>
                  <a:srgbClr val="4A5568"/>
                </a:solidFill>
                <a:latin typeface="Noto Sans SC"/>
                <a:ea typeface="Noto Sans SC"/>
                <a:cs typeface="Noto Sans SC"/>
                <a:sym typeface="Noto Sans SC"/>
              </a:rPr>
              <a:t> </a:t>
            </a:r>
            <a:r>
              <a:rPr lang="zh-CN" altLang="en-US" sz="1300" dirty="0">
                <a:solidFill>
                  <a:srgbClr val="4A5568"/>
                </a:solidFill>
                <a:latin typeface="Noto Sans SC"/>
                <a:ea typeface="Noto Sans SC"/>
                <a:cs typeface="Noto Sans SC"/>
                <a:sym typeface="Noto Sans SC"/>
              </a:rPr>
              <a:t>类型表更小，更容易整体放入 </a:t>
            </a:r>
            <a:r>
              <a:rPr lang="en-US" altLang="zh-CN" sz="1300" dirty="0">
                <a:solidFill>
                  <a:srgbClr val="4A5568"/>
                </a:solidFill>
                <a:latin typeface="Noto Sans SC"/>
                <a:ea typeface="Noto Sans SC"/>
                <a:cs typeface="Noto Sans SC"/>
                <a:sym typeface="Noto Sans SC"/>
              </a:rPr>
              <a:t>L1/L2 </a:t>
            </a:r>
            <a:r>
              <a:rPr lang="zh-CN" altLang="en-US" sz="1300" dirty="0">
                <a:solidFill>
                  <a:srgbClr val="4A5568"/>
                </a:solidFill>
                <a:latin typeface="Noto Sans SC"/>
                <a:ea typeface="Noto Sans SC"/>
                <a:cs typeface="Noto Sans SC"/>
                <a:sym typeface="Noto Sans SC"/>
              </a:rPr>
              <a:t>缓存</a:t>
            </a:r>
          </a:p>
        </p:txBody>
      </p:sp>
      <p:sp>
        <p:nvSpPr>
          <p:cNvPr id="12" name="AutoShape 12"/>
          <p:cNvSpPr/>
          <p:nvPr/>
        </p:nvSpPr>
        <p:spPr>
          <a:xfrm>
            <a:off x="762000" y="5270500"/>
            <a:ext cx="5334000" cy="1206500"/>
          </a:xfrm>
          <a:prstGeom prst="roundRect">
            <a:avLst>
              <a:gd name="adj" fmla="val 8421"/>
            </a:avLst>
          </a:prstGeom>
          <a:solidFill>
            <a:srgbClr val="FEF3C7">
              <a:alpha val="100000"/>
            </a:srgbClr>
          </a:solidFill>
          <a:ln w="12700" cap="flat" cmpd="sng">
            <a:solidFill>
              <a:srgbClr val="FCD34D">
                <a:alpha val="10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461000"/>
            <a:ext cx="304800" cy="304800"/>
          </a:xfrm>
          <a:prstGeom prst="rect">
            <a:avLst/>
          </a:prstGeom>
        </p:spPr>
      </p:pic>
      <p:sp>
        <p:nvSpPr>
          <p:cNvPr id="14" name="AutoShape 14"/>
          <p:cNvSpPr/>
          <p:nvPr/>
        </p:nvSpPr>
        <p:spPr>
          <a:xfrm>
            <a:off x="1397000" y="5435600"/>
            <a:ext cx="4572000" cy="825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1" i="0" u="none" strike="noStrike">
                <a:solidFill>
                  <a:srgbClr val="92400E"/>
                </a:solidFill>
                <a:latin typeface="Noto Sans SC"/>
                <a:ea typeface="Noto Sans SC"/>
                <a:cs typeface="Noto Sans SC"/>
                <a:sym typeface="Noto Sans SC"/>
              </a:rPr>
              <a:t>注意：</a:t>
            </a:r>
            <a:r>
              <a:rPr lang="en-US" sz="1300" b="0" i="0" u="none" strike="noStrike">
                <a:solidFill>
                  <a:srgbClr val="92400E"/>
                </a:solidFill>
                <a:latin typeface="Noto Sans SC"/>
                <a:ea typeface="Noto Sans SC"/>
                <a:cs typeface="Noto Sans SC"/>
                <a:sym typeface="Noto Sans SC"/>
              </a:rPr>
              <a:t>内存对齐的实际性能收益，受数据规模、编译器优化等级及 CPU 缓存策略影响，v3 版本不一定在所有场景下都显著优于 v2。</a:t>
            </a:r>
            <a:endParaRPr lang="en-US" sz="1100"/>
          </a:p>
        </p:txBody>
      </p:sp>
      <p:pic>
        <p:nvPicPr>
          <p:cNvPr id="18" name="图片 17">
            <a:extLst>
              <a:ext uri="{FF2B5EF4-FFF2-40B4-BE49-F238E27FC236}">
                <a16:creationId xmlns:a16="http://schemas.microsoft.com/office/drawing/2014/main" id="{27401DAB-D7B8-33F2-63F7-E0B7C33C4107}"/>
              </a:ext>
            </a:extLst>
          </p:cNvPr>
          <p:cNvPicPr>
            <a:picLocks noChangeAspect="1"/>
          </p:cNvPicPr>
          <p:nvPr/>
        </p:nvPicPr>
        <p:blipFill>
          <a:blip r:embed="rId7"/>
          <a:stretch>
            <a:fillRect/>
          </a:stretch>
        </p:blipFill>
        <p:spPr>
          <a:xfrm>
            <a:off x="6369958" y="662168"/>
            <a:ext cx="5405361" cy="59146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887C6-B85C-6BF8-4911-4B1C065EB6D2}"/>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7DF9AE2F-95BA-249E-ED5A-2D4D3275A52C}"/>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A03F098F-99F0-5A31-AC40-265B0F013DC5}"/>
              </a:ext>
            </a:extLst>
          </p:cNvPr>
          <p:cNvSpPr>
            <a:spLocks noGrp="1"/>
          </p:cNvSpPr>
          <p:nvPr>
            <p:ph type="title"/>
          </p:nvPr>
        </p:nvSpPr>
        <p:spPr/>
        <p:txBody>
          <a:bodyPr/>
          <a:lstStyle/>
          <a:p>
            <a:r>
              <a:rPr lang="zh-CN" altLang="en-US" dirty="0"/>
              <a:t>程序流程图</a:t>
            </a:r>
          </a:p>
        </p:txBody>
      </p:sp>
      <p:sp>
        <p:nvSpPr>
          <p:cNvPr id="60" name="文本框 59">
            <a:extLst>
              <a:ext uri="{FF2B5EF4-FFF2-40B4-BE49-F238E27FC236}">
                <a16:creationId xmlns:a16="http://schemas.microsoft.com/office/drawing/2014/main" id="{5CEC3E0C-F0F3-E9F2-181F-88932C4856B3}"/>
              </a:ext>
            </a:extLst>
          </p:cNvPr>
          <p:cNvSpPr txBox="1"/>
          <p:nvPr/>
        </p:nvSpPr>
        <p:spPr>
          <a:xfrm>
            <a:off x="384810" y="1046480"/>
            <a:ext cx="1754006"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V1:  </a:t>
            </a:r>
            <a:r>
              <a:rPr lang="zh-CN" altLang="en-US" sz="2400" dirty="0">
                <a:latin typeface="微软雅黑" panose="020B0503020204020204" pitchFamily="34" charset="-122"/>
                <a:ea typeface="微软雅黑" panose="020B0503020204020204" pitchFamily="34" charset="-122"/>
              </a:rPr>
              <a:t>查表法</a:t>
            </a:r>
          </a:p>
        </p:txBody>
      </p:sp>
      <p:pic>
        <p:nvPicPr>
          <p:cNvPr id="7" name="图片 6">
            <a:extLst>
              <a:ext uri="{FF2B5EF4-FFF2-40B4-BE49-F238E27FC236}">
                <a16:creationId xmlns:a16="http://schemas.microsoft.com/office/drawing/2014/main" id="{DBCCE270-64B7-C52B-DCEA-462A85242B39}"/>
              </a:ext>
            </a:extLst>
          </p:cNvPr>
          <p:cNvPicPr>
            <a:picLocks noChangeAspect="1"/>
          </p:cNvPicPr>
          <p:nvPr/>
        </p:nvPicPr>
        <p:blipFill>
          <a:blip r:embed="rId3"/>
          <a:stretch>
            <a:fillRect/>
          </a:stretch>
        </p:blipFill>
        <p:spPr>
          <a:xfrm>
            <a:off x="183516" y="2488557"/>
            <a:ext cx="11824970" cy="1848586"/>
          </a:xfrm>
          <a:prstGeom prst="rect">
            <a:avLst/>
          </a:prstGeom>
        </p:spPr>
      </p:pic>
    </p:spTree>
    <p:extLst>
      <p:ext uri="{BB962C8B-B14F-4D97-AF65-F5344CB8AC3E}">
        <p14:creationId xmlns:p14="http://schemas.microsoft.com/office/powerpoint/2010/main" val="1030031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D3748"/>
                </a:solidFill>
                <a:latin typeface="Noto Sans SC"/>
                <a:ea typeface="Noto Sans SC"/>
                <a:cs typeface="Noto Sans SC"/>
                <a:sym typeface="Noto Sans SC"/>
              </a:rPr>
              <a:t>v2：ARM NEON SIMD </a:t>
            </a:r>
            <a:r>
              <a:rPr lang="zh-CN" altLang="en-US" sz="3200" b="1" i="0" u="none" strike="noStrike" dirty="0">
                <a:solidFill>
                  <a:srgbClr val="2D3748"/>
                </a:solidFill>
                <a:latin typeface="Noto Sans SC"/>
                <a:ea typeface="Noto Sans SC"/>
                <a:cs typeface="Noto Sans SC"/>
                <a:sym typeface="Noto Sans SC"/>
              </a:rPr>
              <a:t>向量化</a:t>
            </a:r>
            <a:endParaRPr lang="en-US" sz="1100" dirty="0"/>
          </a:p>
        </p:txBody>
      </p:sp>
      <p:sp>
        <p:nvSpPr>
          <p:cNvPr id="6" name="AutoShape 6"/>
          <p:cNvSpPr/>
          <p:nvPr/>
        </p:nvSpPr>
        <p:spPr>
          <a:xfrm>
            <a:off x="5842000" y="1778000"/>
            <a:ext cx="5588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7" name="AutoShape 7"/>
          <p:cNvSpPr/>
          <p:nvPr/>
        </p:nvSpPr>
        <p:spPr>
          <a:xfrm>
            <a:off x="5842000" y="1968500"/>
            <a:ext cx="76200" cy="1143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096000" y="1930400"/>
            <a:ext cx="5080000" cy="1219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2D3748"/>
                </a:solidFill>
                <a:latin typeface="Noto Sans SC"/>
                <a:ea typeface="Noto Sans SC"/>
                <a:cs typeface="Noto Sans SC"/>
                <a:sym typeface="Noto Sans SC"/>
              </a:rPr>
              <a:t>01 / </a:t>
            </a:r>
            <a:r>
              <a:rPr lang="en-US" sz="1800" b="1" i="0" u="none" strike="noStrike" dirty="0" err="1">
                <a:solidFill>
                  <a:srgbClr val="2D3748"/>
                </a:solidFill>
                <a:latin typeface="Noto Sans SC"/>
                <a:ea typeface="Noto Sans SC"/>
                <a:cs typeface="Noto Sans SC"/>
                <a:sym typeface="Noto Sans SC"/>
              </a:rPr>
              <a:t>核心优化方法</a:t>
            </a:r>
            <a:endParaRPr lang="en-US" sz="1100" dirty="0"/>
          </a:p>
          <a:p>
            <a:pPr indent="0" algn="l">
              <a:lnSpc>
                <a:spcPct val="116666"/>
              </a:lnSpc>
              <a:spcBef>
                <a:spcPts val="800"/>
              </a:spcBef>
            </a:pPr>
            <a:r>
              <a:rPr lang="en-US" sz="1200" b="0" i="0" u="none" strike="noStrike" dirty="0">
                <a:solidFill>
                  <a:srgbClr val="475569"/>
                </a:solidFill>
                <a:latin typeface="Noto Sans SC"/>
                <a:ea typeface="Noto Sans SC"/>
                <a:cs typeface="Noto Sans SC"/>
                <a:sym typeface="Noto Sans SC"/>
              </a:rPr>
              <a:t>•</a:t>
            </a:r>
            <a:r>
              <a:rPr lang="zh-CN" altLang="en-US" sz="1200" b="1" i="0" u="none" strike="noStrike" dirty="0">
                <a:solidFill>
                  <a:srgbClr val="475569"/>
                </a:solidFill>
                <a:latin typeface="Noto Sans SC"/>
                <a:ea typeface="Noto Sans SC"/>
                <a:cs typeface="Noto Sans SC"/>
                <a:sym typeface="Noto Sans SC"/>
              </a:rPr>
              <a:t>全路径 </a:t>
            </a:r>
            <a:r>
              <a:rPr lang="en-US" altLang="zh-CN" sz="1200" b="1" i="0" u="none" strike="noStrike" dirty="0">
                <a:solidFill>
                  <a:srgbClr val="475569"/>
                </a:solidFill>
                <a:latin typeface="Noto Sans SC"/>
                <a:ea typeface="Noto Sans SC"/>
                <a:cs typeface="Noto Sans SC"/>
                <a:sym typeface="Noto Sans SC"/>
              </a:rPr>
              <a:t>NEON </a:t>
            </a:r>
            <a:r>
              <a:rPr lang="zh-CN" altLang="en-US" sz="1200" b="1" i="0" u="none" strike="noStrike" dirty="0">
                <a:solidFill>
                  <a:srgbClr val="475569"/>
                </a:solidFill>
                <a:latin typeface="Noto Sans SC"/>
                <a:ea typeface="Noto Sans SC"/>
                <a:cs typeface="Noto Sans SC"/>
                <a:sym typeface="Noto Sans SC"/>
              </a:rPr>
              <a:t>指令重写</a:t>
            </a:r>
            <a:r>
              <a:rPr lang="en-US" sz="1200" b="1" i="0" u="none" strike="noStrike" dirty="0">
                <a:solidFill>
                  <a:srgbClr val="475569"/>
                </a:solidFill>
                <a:latin typeface="Noto Sans SC"/>
                <a:ea typeface="Noto Sans SC"/>
                <a:cs typeface="Noto Sans SC"/>
                <a:sym typeface="Noto Sans SC"/>
              </a:rPr>
              <a:t>：</a:t>
            </a:r>
            <a:r>
              <a:rPr lang="zh-CN" altLang="en-US" sz="1200" b="0" i="0" u="none" strike="noStrike" dirty="0">
                <a:solidFill>
                  <a:srgbClr val="475569"/>
                </a:solidFill>
                <a:latin typeface="Noto Sans SC"/>
                <a:ea typeface="Noto Sans SC"/>
                <a:cs typeface="Noto Sans SC"/>
                <a:sym typeface="Noto Sans SC"/>
              </a:rPr>
              <a:t>所有</a:t>
            </a:r>
            <a:r>
              <a:rPr lang="en-US" sz="1200" b="0" i="0" u="none" strike="noStrike" dirty="0">
                <a:solidFill>
                  <a:srgbClr val="475569"/>
                </a:solidFill>
                <a:latin typeface="Noto Sans SC"/>
                <a:ea typeface="Noto Sans SC"/>
                <a:cs typeface="Noto Sans SC"/>
                <a:sym typeface="Noto Sans SC"/>
              </a:rPr>
              <a:t>le &gt; 4</a:t>
            </a:r>
            <a:r>
              <a:rPr lang="zh-CN" altLang="en-US" sz="1200" b="0" i="0" u="none" strike="noStrike" dirty="0">
                <a:solidFill>
                  <a:srgbClr val="475569"/>
                </a:solidFill>
                <a:latin typeface="Noto Sans SC"/>
                <a:ea typeface="Noto Sans SC"/>
                <a:cs typeface="Noto Sans SC"/>
                <a:sym typeface="Noto Sans SC"/>
              </a:rPr>
              <a:t>的蝶形运算均使用 </a:t>
            </a:r>
            <a:r>
              <a:rPr lang="en-US" altLang="zh-CN" sz="1200" b="0" i="0" u="none" strike="noStrike" dirty="0">
                <a:solidFill>
                  <a:srgbClr val="475569"/>
                </a:solidFill>
                <a:latin typeface="Noto Sans SC"/>
                <a:ea typeface="Noto Sans SC"/>
                <a:cs typeface="Noto Sans SC"/>
                <a:sym typeface="Noto Sans SC"/>
              </a:rPr>
              <a:t>128 </a:t>
            </a:r>
            <a:r>
              <a:rPr lang="zh-CN" altLang="en-US" sz="1200" b="0" i="0" u="none" strike="noStrike" dirty="0">
                <a:solidFill>
                  <a:srgbClr val="475569"/>
                </a:solidFill>
                <a:latin typeface="Noto Sans SC"/>
                <a:ea typeface="Noto Sans SC"/>
                <a:cs typeface="Noto Sans SC"/>
                <a:sym typeface="Noto Sans SC"/>
              </a:rPr>
              <a:t>位 </a:t>
            </a:r>
            <a:r>
              <a:rPr lang="en-US" sz="1200" b="0" i="0" u="none" strike="noStrike" dirty="0">
                <a:solidFill>
                  <a:srgbClr val="475569"/>
                </a:solidFill>
                <a:latin typeface="Noto Sans SC"/>
                <a:ea typeface="Noto Sans SC"/>
                <a:cs typeface="Noto Sans SC"/>
                <a:sym typeface="Noto Sans SC"/>
              </a:rPr>
              <a:t>NEON </a:t>
            </a:r>
            <a:r>
              <a:rPr lang="zh-CN" altLang="en-US" sz="1200" b="0" i="0" u="none" strike="noStrike" dirty="0">
                <a:solidFill>
                  <a:srgbClr val="475569"/>
                </a:solidFill>
                <a:latin typeface="Noto Sans SC"/>
                <a:ea typeface="Noto Sans SC"/>
                <a:cs typeface="Noto Sans SC"/>
                <a:sym typeface="Noto Sans SC"/>
              </a:rPr>
              <a:t>指令</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475569"/>
                </a:solidFill>
                <a:latin typeface="Noto Sans SC"/>
                <a:ea typeface="Noto Sans SC"/>
                <a:cs typeface="Noto Sans SC"/>
                <a:sym typeface="Noto Sans SC"/>
              </a:rPr>
              <a:t>•</a:t>
            </a:r>
            <a:r>
              <a:rPr lang="zh-CN" altLang="en-US" sz="1200" b="1" i="0" u="none" strike="noStrike" dirty="0">
                <a:solidFill>
                  <a:srgbClr val="475569"/>
                </a:solidFill>
                <a:latin typeface="Noto Sans SC"/>
                <a:ea typeface="Noto Sans SC"/>
                <a:cs typeface="Noto Sans SC"/>
                <a:sym typeface="Noto Sans SC"/>
              </a:rPr>
              <a:t>融合乘加指令</a:t>
            </a:r>
            <a:r>
              <a:rPr lang="en-US" sz="1200" b="1" i="0" u="none" strike="noStrike" dirty="0">
                <a:solidFill>
                  <a:srgbClr val="475569"/>
                </a:solidFill>
                <a:latin typeface="Noto Sans SC"/>
                <a:ea typeface="Noto Sans SC"/>
                <a:cs typeface="Noto Sans SC"/>
                <a:sym typeface="Noto Sans SC"/>
              </a:rPr>
              <a:t>：</a:t>
            </a:r>
            <a:r>
              <a:rPr lang="zh-CN" altLang="en-US" sz="1200" b="0" i="0" u="none" strike="noStrike" dirty="0">
                <a:solidFill>
                  <a:srgbClr val="475569"/>
                </a:solidFill>
                <a:latin typeface="Noto Sans SC"/>
                <a:ea typeface="Noto Sans SC"/>
                <a:cs typeface="Noto Sans SC"/>
                <a:sym typeface="Noto Sans SC"/>
              </a:rPr>
              <a:t>使用 </a:t>
            </a:r>
            <a:r>
              <a:rPr lang="en-US" altLang="zh-CN" sz="1200" b="0" i="0" u="none" strike="noStrike" dirty="0">
                <a:solidFill>
                  <a:srgbClr val="475569"/>
                </a:solidFill>
                <a:latin typeface="Noto Sans SC"/>
                <a:ea typeface="Noto Sans SC"/>
                <a:cs typeface="Noto Sans SC"/>
                <a:sym typeface="Noto Sans SC"/>
              </a:rPr>
              <a:t>vmlaq_f32 / vmlsq_f32 </a:t>
            </a:r>
            <a:r>
              <a:rPr lang="zh-CN" altLang="en-US" sz="1200" b="0" i="0" u="none" strike="noStrike" dirty="0">
                <a:solidFill>
                  <a:srgbClr val="475569"/>
                </a:solidFill>
                <a:latin typeface="Noto Sans SC"/>
                <a:ea typeface="Noto Sans SC"/>
                <a:cs typeface="Noto Sans SC"/>
                <a:sym typeface="Noto Sans SC"/>
              </a:rPr>
              <a:t>替代先乘后加，减少指令数和流水线停顿</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475569"/>
                </a:solidFill>
                <a:latin typeface="Noto Sans SC"/>
                <a:ea typeface="Noto Sans SC"/>
                <a:cs typeface="Noto Sans SC"/>
                <a:sym typeface="Noto Sans SC"/>
              </a:rPr>
              <a:t>•</a:t>
            </a:r>
            <a:r>
              <a:rPr lang="en-US" altLang="zh-CN" sz="1200" b="1" i="0" u="none" strike="noStrike" dirty="0">
                <a:solidFill>
                  <a:srgbClr val="475569"/>
                </a:solidFill>
                <a:latin typeface="Noto Sans SC"/>
                <a:ea typeface="Noto Sans SC"/>
                <a:cs typeface="Noto Sans SC"/>
                <a:sym typeface="Noto Sans SC"/>
              </a:rPr>
              <a:t>4 </a:t>
            </a:r>
            <a:r>
              <a:rPr lang="zh-CN" altLang="en-US" sz="1200" b="1" i="0" u="none" strike="noStrike" dirty="0">
                <a:solidFill>
                  <a:srgbClr val="475569"/>
                </a:solidFill>
                <a:latin typeface="Noto Sans SC"/>
                <a:ea typeface="Noto Sans SC"/>
                <a:cs typeface="Noto Sans SC"/>
                <a:sym typeface="Noto Sans SC"/>
              </a:rPr>
              <a:t>路并行处理</a:t>
            </a:r>
            <a:r>
              <a:rPr lang="en-US" sz="1200" b="1" i="0" u="none" strike="noStrike" dirty="0">
                <a:solidFill>
                  <a:srgbClr val="475569"/>
                </a:solidFill>
                <a:latin typeface="Noto Sans SC"/>
                <a:ea typeface="Noto Sans SC"/>
                <a:cs typeface="Noto Sans SC"/>
                <a:sym typeface="Noto Sans SC"/>
              </a:rPr>
              <a:t>：</a:t>
            </a:r>
            <a:r>
              <a:rPr lang="en-US" altLang="zh-CN" sz="1200" b="0" i="0" u="none" strike="noStrike" dirty="0">
                <a:solidFill>
                  <a:srgbClr val="475569"/>
                </a:solidFill>
                <a:latin typeface="Noto Sans SC"/>
                <a:ea typeface="Noto Sans SC"/>
                <a:cs typeface="Noto Sans SC"/>
                <a:sym typeface="Noto Sans SC"/>
              </a:rPr>
              <a:t>k += 4 </a:t>
            </a:r>
            <a:r>
              <a:rPr lang="zh-CN" altLang="en-US" sz="1200" b="0" i="0" u="none" strike="noStrike" dirty="0">
                <a:solidFill>
                  <a:srgbClr val="475569"/>
                </a:solidFill>
                <a:latin typeface="Noto Sans SC"/>
                <a:ea typeface="Noto Sans SC"/>
                <a:cs typeface="Noto Sans SC"/>
                <a:sym typeface="Noto Sans SC"/>
              </a:rPr>
              <a:t>步进，单次处理 </a:t>
            </a:r>
            <a:r>
              <a:rPr lang="en-US" altLang="zh-CN" sz="1200" b="0" i="0" u="none" strike="noStrike" dirty="0">
                <a:solidFill>
                  <a:srgbClr val="475569"/>
                </a:solidFill>
                <a:latin typeface="Noto Sans SC"/>
                <a:ea typeface="Noto Sans SC"/>
                <a:cs typeface="Noto Sans SC"/>
                <a:sym typeface="Noto Sans SC"/>
              </a:rPr>
              <a:t>4 </a:t>
            </a:r>
            <a:r>
              <a:rPr lang="zh-CN" altLang="en-US" sz="1200" b="0" i="0" u="none" strike="noStrike" dirty="0">
                <a:solidFill>
                  <a:srgbClr val="475569"/>
                </a:solidFill>
                <a:latin typeface="Noto Sans SC"/>
                <a:ea typeface="Noto Sans SC"/>
                <a:cs typeface="Noto Sans SC"/>
                <a:sym typeface="Noto Sans SC"/>
              </a:rPr>
              <a:t>个 </a:t>
            </a:r>
            <a:r>
              <a:rPr lang="en-US" altLang="zh-CN" sz="1200" b="0" i="0" u="none" strike="noStrike" dirty="0">
                <a:solidFill>
                  <a:srgbClr val="475569"/>
                </a:solidFill>
                <a:latin typeface="Noto Sans SC"/>
                <a:ea typeface="Noto Sans SC"/>
                <a:cs typeface="Noto Sans SC"/>
                <a:sym typeface="Noto Sans SC"/>
              </a:rPr>
              <a:t>float </a:t>
            </a:r>
            <a:r>
              <a:rPr lang="zh-CN" altLang="en-US" sz="1200" b="0" i="0" u="none" strike="noStrike" dirty="0">
                <a:solidFill>
                  <a:srgbClr val="475569"/>
                </a:solidFill>
                <a:latin typeface="Noto Sans SC"/>
                <a:ea typeface="Noto Sans SC"/>
                <a:cs typeface="Noto Sans SC"/>
                <a:sym typeface="Noto Sans SC"/>
              </a:rPr>
              <a:t>复数蝶形运算</a:t>
            </a:r>
            <a:endParaRPr lang="en-US" sz="1200" b="0" i="0" u="none" strike="noStrike" dirty="0">
              <a:solidFill>
                <a:srgbClr val="475569"/>
              </a:solidFill>
              <a:latin typeface="Noto Sans SC"/>
              <a:ea typeface="Noto Sans SC"/>
              <a:cs typeface="Noto Sans SC"/>
              <a:sym typeface="Noto Sans SC"/>
            </a:endParaRPr>
          </a:p>
        </p:txBody>
      </p:sp>
      <p:sp>
        <p:nvSpPr>
          <p:cNvPr id="9" name="AutoShape 9"/>
          <p:cNvSpPr/>
          <p:nvPr/>
        </p:nvSpPr>
        <p:spPr>
          <a:xfrm>
            <a:off x="5842000" y="3556000"/>
            <a:ext cx="5588000" cy="1524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5842000" y="3746500"/>
            <a:ext cx="76200" cy="114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096000" y="3708400"/>
            <a:ext cx="5080000" cy="12192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2D3748"/>
                </a:solidFill>
                <a:latin typeface="Noto Sans SC"/>
                <a:ea typeface="Noto Sans SC"/>
                <a:cs typeface="Noto Sans SC"/>
                <a:sym typeface="Noto Sans SC"/>
              </a:rPr>
              <a:t>02 / </a:t>
            </a:r>
            <a:r>
              <a:rPr lang="en-US" sz="1800" b="1" i="0" u="none" strike="noStrike" dirty="0" err="1">
                <a:solidFill>
                  <a:srgbClr val="2D3748"/>
                </a:solidFill>
                <a:latin typeface="Noto Sans SC"/>
                <a:ea typeface="Noto Sans SC"/>
                <a:cs typeface="Noto Sans SC"/>
                <a:sym typeface="Noto Sans SC"/>
              </a:rPr>
              <a:t>体系结构价值分析</a:t>
            </a:r>
            <a:endParaRPr lang="en-US" sz="1100" dirty="0"/>
          </a:p>
          <a:p>
            <a:pPr indent="0" algn="l">
              <a:lnSpc>
                <a:spcPct val="116666"/>
              </a:lnSpc>
              <a:spcBef>
                <a:spcPts val="800"/>
              </a:spcBef>
            </a:pPr>
            <a:r>
              <a:rPr lang="en-US" sz="1200" b="0" i="0" u="none" strike="noStrike" dirty="0">
                <a:solidFill>
                  <a:srgbClr val="475569"/>
                </a:solidFill>
                <a:latin typeface="Noto Sans SC"/>
                <a:ea typeface="Noto Sans SC"/>
                <a:cs typeface="Noto Sans SC"/>
                <a:sym typeface="Noto Sans SC"/>
              </a:rPr>
              <a:t>•</a:t>
            </a:r>
            <a:r>
              <a:rPr lang="zh-CN" altLang="en-US" sz="1200" b="1" i="0" u="none" strike="noStrike" dirty="0">
                <a:solidFill>
                  <a:srgbClr val="475569"/>
                </a:solidFill>
                <a:latin typeface="Noto Sans SC"/>
                <a:ea typeface="Noto Sans SC"/>
                <a:cs typeface="Noto Sans SC"/>
                <a:sym typeface="Noto Sans SC"/>
              </a:rPr>
              <a:t>数据级并行</a:t>
            </a:r>
            <a:r>
              <a:rPr lang="en-US" sz="1200" b="1" i="0" u="none" strike="noStrike" dirty="0">
                <a:solidFill>
                  <a:srgbClr val="475569"/>
                </a:solidFill>
                <a:latin typeface="Noto Sans SC"/>
                <a:ea typeface="Noto Sans SC"/>
                <a:cs typeface="Noto Sans SC"/>
                <a:sym typeface="Noto Sans SC"/>
              </a:rPr>
              <a:t>：</a:t>
            </a:r>
            <a:r>
              <a:rPr lang="en-US" altLang="zh-CN" sz="1200" b="0" i="0" u="none" strike="noStrike" dirty="0">
                <a:solidFill>
                  <a:srgbClr val="475569"/>
                </a:solidFill>
                <a:latin typeface="Noto Sans SC"/>
                <a:ea typeface="Noto Sans SC"/>
                <a:cs typeface="Noto Sans SC"/>
                <a:sym typeface="Noto Sans SC"/>
              </a:rPr>
              <a:t>128</a:t>
            </a:r>
            <a:r>
              <a:rPr lang="zh-CN" altLang="en-US" sz="1200" b="0" i="0" u="none" strike="noStrike" dirty="0">
                <a:solidFill>
                  <a:srgbClr val="475569"/>
                </a:solidFill>
                <a:latin typeface="Noto Sans SC"/>
                <a:ea typeface="Noto Sans SC"/>
                <a:cs typeface="Noto Sans SC"/>
                <a:sym typeface="Noto Sans SC"/>
              </a:rPr>
              <a:t>位寄存器一次处理 </a:t>
            </a:r>
            <a:r>
              <a:rPr lang="en-US" altLang="zh-CN" sz="1200" b="0" i="0" u="none" strike="noStrike" dirty="0">
                <a:solidFill>
                  <a:srgbClr val="475569"/>
                </a:solidFill>
                <a:latin typeface="Noto Sans SC"/>
                <a:ea typeface="Noto Sans SC"/>
                <a:cs typeface="Noto Sans SC"/>
                <a:sym typeface="Noto Sans SC"/>
              </a:rPr>
              <a:t>4 </a:t>
            </a:r>
            <a:r>
              <a:rPr lang="zh-CN" altLang="en-US" sz="1200" b="0" i="0" u="none" strike="noStrike" dirty="0">
                <a:solidFill>
                  <a:srgbClr val="475569"/>
                </a:solidFill>
                <a:latin typeface="Noto Sans SC"/>
                <a:ea typeface="Noto Sans SC"/>
                <a:cs typeface="Noto Sans SC"/>
                <a:sym typeface="Noto Sans SC"/>
              </a:rPr>
              <a:t>个 </a:t>
            </a:r>
            <a:r>
              <a:rPr lang="en-US" altLang="zh-CN" sz="1200" b="0" i="0" u="none" strike="noStrike" dirty="0">
                <a:solidFill>
                  <a:srgbClr val="475569"/>
                </a:solidFill>
                <a:latin typeface="Noto Sans SC"/>
                <a:ea typeface="Noto Sans SC"/>
                <a:cs typeface="Noto Sans SC"/>
                <a:sym typeface="Noto Sans SC"/>
              </a:rPr>
              <a:t>float</a:t>
            </a:r>
            <a:r>
              <a:rPr lang="zh-CN" altLang="en-US" sz="1200" b="0" i="0" u="none" strike="noStrike" dirty="0">
                <a:solidFill>
                  <a:srgbClr val="475569"/>
                </a:solidFill>
                <a:latin typeface="Noto Sans SC"/>
                <a:ea typeface="Noto Sans SC"/>
                <a:cs typeface="Noto Sans SC"/>
                <a:sym typeface="Noto Sans SC"/>
              </a:rPr>
              <a:t>，理论 </a:t>
            </a:r>
            <a:r>
              <a:rPr lang="en-US" altLang="zh-CN" sz="1200" b="0" i="0" u="none" strike="noStrike" dirty="0">
                <a:solidFill>
                  <a:srgbClr val="475569"/>
                </a:solidFill>
                <a:latin typeface="Noto Sans SC"/>
                <a:ea typeface="Noto Sans SC"/>
                <a:cs typeface="Noto Sans SC"/>
                <a:sym typeface="Noto Sans SC"/>
              </a:rPr>
              <a:t>4 </a:t>
            </a:r>
            <a:r>
              <a:rPr lang="zh-CN" altLang="en-US" sz="1200" b="0" i="0" u="none" strike="noStrike" dirty="0">
                <a:solidFill>
                  <a:srgbClr val="475569"/>
                </a:solidFill>
                <a:latin typeface="Noto Sans SC"/>
                <a:ea typeface="Noto Sans SC"/>
                <a:cs typeface="Noto Sans SC"/>
                <a:sym typeface="Noto Sans SC"/>
              </a:rPr>
              <a:t>倍加速</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475569"/>
                </a:solidFill>
                <a:latin typeface="Noto Sans SC"/>
                <a:ea typeface="Noto Sans SC"/>
                <a:cs typeface="Noto Sans SC"/>
                <a:sym typeface="Noto Sans SC"/>
              </a:rPr>
              <a:t>•</a:t>
            </a:r>
            <a:r>
              <a:rPr lang="zh-CN" altLang="en-US" sz="1200" b="1" i="0" u="none" strike="noStrike" dirty="0">
                <a:solidFill>
                  <a:srgbClr val="475569"/>
                </a:solidFill>
                <a:latin typeface="Noto Sans SC"/>
                <a:ea typeface="Noto Sans SC"/>
                <a:cs typeface="Noto Sans SC"/>
                <a:sym typeface="Noto Sans SC"/>
              </a:rPr>
              <a:t>融合乘加指令</a:t>
            </a:r>
            <a:r>
              <a:rPr lang="en-US" sz="1200" b="1" i="0" u="none" strike="noStrike" dirty="0">
                <a:solidFill>
                  <a:srgbClr val="475569"/>
                </a:solidFill>
                <a:latin typeface="Noto Sans SC"/>
                <a:ea typeface="Noto Sans SC"/>
                <a:cs typeface="Noto Sans SC"/>
                <a:sym typeface="Noto Sans SC"/>
              </a:rPr>
              <a:t>：</a:t>
            </a:r>
            <a:r>
              <a:rPr lang="en-US" altLang="zh-CN" sz="1200" b="0" i="0" u="none" strike="noStrike" dirty="0" err="1">
                <a:solidFill>
                  <a:srgbClr val="475569"/>
                </a:solidFill>
                <a:latin typeface="Noto Sans SC"/>
                <a:ea typeface="Noto Sans SC"/>
                <a:cs typeface="Noto Sans SC"/>
                <a:sym typeface="Noto Sans SC"/>
              </a:rPr>
              <a:t>vmlaq</a:t>
            </a:r>
            <a:r>
              <a:rPr lang="en-US" altLang="zh-CN" sz="1200" b="0" i="0" u="none" strike="noStrike" dirty="0">
                <a:solidFill>
                  <a:srgbClr val="475569"/>
                </a:solidFill>
                <a:latin typeface="Noto Sans SC"/>
                <a:ea typeface="Noto Sans SC"/>
                <a:cs typeface="Noto Sans SC"/>
                <a:sym typeface="Noto Sans SC"/>
              </a:rPr>
              <a:t>/</a:t>
            </a:r>
            <a:r>
              <a:rPr lang="en-US" altLang="zh-CN" sz="1200" b="0" i="0" u="none" strike="noStrike" dirty="0" err="1">
                <a:solidFill>
                  <a:srgbClr val="475569"/>
                </a:solidFill>
                <a:latin typeface="Noto Sans SC"/>
                <a:ea typeface="Noto Sans SC"/>
                <a:cs typeface="Noto Sans SC"/>
                <a:sym typeface="Noto Sans SC"/>
              </a:rPr>
              <a:t>vmlsq</a:t>
            </a:r>
            <a:r>
              <a:rPr lang="en-US" altLang="zh-CN" sz="1200" b="0" i="0" u="none" strike="noStrike" dirty="0">
                <a:solidFill>
                  <a:srgbClr val="475569"/>
                </a:solidFill>
                <a:latin typeface="Noto Sans SC"/>
                <a:ea typeface="Noto Sans SC"/>
                <a:cs typeface="Noto Sans SC"/>
                <a:sym typeface="Noto Sans SC"/>
              </a:rPr>
              <a:t> </a:t>
            </a:r>
            <a:r>
              <a:rPr lang="zh-CN" altLang="en-US" sz="1200" b="0" i="0" u="none" strike="noStrike" dirty="0">
                <a:solidFill>
                  <a:srgbClr val="475569"/>
                </a:solidFill>
                <a:latin typeface="Noto Sans SC"/>
                <a:ea typeface="Noto Sans SC"/>
                <a:cs typeface="Noto Sans SC"/>
                <a:sym typeface="Noto Sans SC"/>
              </a:rPr>
              <a:t>减少指令发射数量，降低流水线停顿</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475569"/>
                </a:solidFill>
                <a:latin typeface="Noto Sans SC"/>
                <a:ea typeface="Noto Sans SC"/>
                <a:cs typeface="Noto Sans SC"/>
                <a:sym typeface="Noto Sans SC"/>
              </a:rPr>
              <a:t>•</a:t>
            </a:r>
            <a:r>
              <a:rPr lang="zh-CN" altLang="en-US" sz="1200" b="1" i="0" u="none" strike="noStrike" dirty="0">
                <a:solidFill>
                  <a:srgbClr val="475569"/>
                </a:solidFill>
                <a:latin typeface="Noto Sans SC"/>
                <a:ea typeface="Noto Sans SC"/>
                <a:cs typeface="Noto Sans SC"/>
                <a:sym typeface="Noto Sans SC"/>
              </a:rPr>
              <a:t>独立执行单元</a:t>
            </a:r>
            <a:r>
              <a:rPr lang="en-US" sz="1200" b="1" i="0" u="none" strike="noStrike" dirty="0">
                <a:solidFill>
                  <a:srgbClr val="475569"/>
                </a:solidFill>
                <a:latin typeface="Noto Sans SC"/>
                <a:ea typeface="Noto Sans SC"/>
                <a:cs typeface="Noto Sans SC"/>
                <a:sym typeface="Noto Sans SC"/>
              </a:rPr>
              <a:t>：</a:t>
            </a:r>
            <a:r>
              <a:rPr lang="en-US" sz="1200" b="0" i="0" u="none" strike="noStrike" dirty="0">
                <a:solidFill>
                  <a:srgbClr val="475569"/>
                </a:solidFill>
                <a:latin typeface="Noto Sans SC"/>
                <a:ea typeface="Noto Sans SC"/>
                <a:cs typeface="Noto Sans SC"/>
                <a:sym typeface="Noto Sans SC"/>
              </a:rPr>
              <a:t>Cortex-A53 </a:t>
            </a:r>
            <a:r>
              <a:rPr lang="zh-CN" altLang="en-US" sz="1200" b="0" i="0" u="none" strike="noStrike" dirty="0">
                <a:solidFill>
                  <a:srgbClr val="475569"/>
                </a:solidFill>
                <a:latin typeface="Noto Sans SC"/>
                <a:ea typeface="Noto Sans SC"/>
                <a:cs typeface="Noto Sans SC"/>
                <a:sym typeface="Noto Sans SC"/>
              </a:rPr>
              <a:t>的 </a:t>
            </a:r>
            <a:r>
              <a:rPr lang="en-US" sz="1200" b="0" i="0" u="none" strike="noStrike" dirty="0">
                <a:solidFill>
                  <a:srgbClr val="475569"/>
                </a:solidFill>
                <a:latin typeface="Noto Sans SC"/>
                <a:ea typeface="Noto Sans SC"/>
                <a:cs typeface="Noto Sans SC"/>
                <a:sym typeface="Noto Sans SC"/>
              </a:rPr>
              <a:t>NEON/FP </a:t>
            </a:r>
            <a:r>
              <a:rPr lang="zh-CN" altLang="en-US" sz="1200" b="0" i="0" u="none" strike="noStrike" dirty="0">
                <a:solidFill>
                  <a:srgbClr val="475569"/>
                </a:solidFill>
                <a:latin typeface="Noto Sans SC"/>
                <a:ea typeface="Noto Sans SC"/>
                <a:cs typeface="Noto Sans SC"/>
                <a:sym typeface="Noto Sans SC"/>
              </a:rPr>
              <a:t>单元可与 </a:t>
            </a:r>
            <a:r>
              <a:rPr lang="en-US" sz="1200" b="0" i="0" u="none" strike="noStrike" dirty="0">
                <a:solidFill>
                  <a:srgbClr val="475569"/>
                </a:solidFill>
                <a:latin typeface="Noto Sans SC"/>
                <a:ea typeface="Noto Sans SC"/>
                <a:cs typeface="Noto Sans SC"/>
                <a:sym typeface="Noto Sans SC"/>
              </a:rPr>
              <a:t>ALU </a:t>
            </a:r>
            <a:r>
              <a:rPr lang="zh-CN" altLang="en-US" sz="1200" b="0" i="0" u="none" strike="noStrike" dirty="0">
                <a:solidFill>
                  <a:srgbClr val="475569"/>
                </a:solidFill>
                <a:latin typeface="Noto Sans SC"/>
                <a:ea typeface="Noto Sans SC"/>
                <a:cs typeface="Noto Sans SC"/>
                <a:sym typeface="Noto Sans SC"/>
              </a:rPr>
              <a:t>并行发射指令</a:t>
            </a:r>
            <a:endParaRPr lang="en-US" sz="1200" b="0" i="0" u="none" strike="noStrike" dirty="0">
              <a:solidFill>
                <a:srgbClr val="475569"/>
              </a:solidFill>
              <a:latin typeface="Noto Sans SC"/>
              <a:ea typeface="Noto Sans SC"/>
              <a:cs typeface="Noto Sans SC"/>
              <a:sym typeface="Noto Sans SC"/>
            </a:endParaRPr>
          </a:p>
        </p:txBody>
      </p:sp>
      <p:sp>
        <p:nvSpPr>
          <p:cNvPr id="12" name="AutoShape 12"/>
          <p:cNvSpPr/>
          <p:nvPr/>
        </p:nvSpPr>
        <p:spPr>
          <a:xfrm>
            <a:off x="5842000" y="5207000"/>
            <a:ext cx="5588000" cy="11430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5842000" y="5397500"/>
            <a:ext cx="76200" cy="7620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096000" y="5334000"/>
            <a:ext cx="5080000" cy="889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dirty="0">
                <a:solidFill>
                  <a:srgbClr val="2D3748"/>
                </a:solidFill>
                <a:latin typeface="Noto Sans SC"/>
                <a:ea typeface="Noto Sans SC"/>
                <a:cs typeface="Noto Sans SC"/>
                <a:sym typeface="Noto Sans SC"/>
              </a:rPr>
              <a:t>03 / </a:t>
            </a:r>
            <a:r>
              <a:rPr lang="en-US" sz="1600" b="1" i="0" u="none" strike="noStrike" dirty="0" err="1">
                <a:solidFill>
                  <a:srgbClr val="2D3748"/>
                </a:solidFill>
                <a:latin typeface="Noto Sans SC"/>
                <a:ea typeface="Noto Sans SC"/>
                <a:cs typeface="Noto Sans SC"/>
                <a:sym typeface="Noto Sans SC"/>
              </a:rPr>
              <a:t>兼容性保障</a:t>
            </a:r>
            <a:endParaRPr lang="en-US" sz="1100" dirty="0"/>
          </a:p>
          <a:p>
            <a:pPr indent="0" algn="l">
              <a:lnSpc>
                <a:spcPct val="116666"/>
              </a:lnSpc>
              <a:spcBef>
                <a:spcPts val="600"/>
              </a:spcBef>
            </a:pPr>
            <a:r>
              <a:rPr lang="zh-CN" altLang="en-US" sz="1200" b="0" i="0" u="none" strike="noStrike" dirty="0">
                <a:solidFill>
                  <a:srgbClr val="475569"/>
                </a:solidFill>
                <a:latin typeface="Noto Sans SC"/>
                <a:ea typeface="Noto Sans SC"/>
                <a:cs typeface="Noto Sans SC"/>
                <a:sym typeface="Noto Sans SC"/>
              </a:rPr>
              <a:t>代码保留了 </a:t>
            </a:r>
            <a:r>
              <a:rPr lang="en-US" altLang="zh-CN" sz="1200" b="0" i="0" u="none" strike="noStrike" dirty="0">
                <a:solidFill>
                  <a:srgbClr val="475569"/>
                </a:solidFill>
                <a:latin typeface="Noto Sans SC"/>
                <a:ea typeface="Noto Sans SC"/>
                <a:cs typeface="Noto Sans SC"/>
                <a:sym typeface="Noto Sans SC"/>
              </a:rPr>
              <a:t>le ≤ 4 </a:t>
            </a:r>
            <a:r>
              <a:rPr lang="zh-CN" altLang="en-US" sz="1200" b="0" i="0" u="none" strike="noStrike" dirty="0">
                <a:solidFill>
                  <a:srgbClr val="475569"/>
                </a:solidFill>
                <a:latin typeface="Noto Sans SC"/>
                <a:ea typeface="Noto Sans SC"/>
                <a:cs typeface="Noto Sans SC"/>
                <a:sym typeface="Noto Sans SC"/>
              </a:rPr>
              <a:t>的标量计算路径，确保在不支持 </a:t>
            </a:r>
            <a:r>
              <a:rPr lang="en-US" altLang="zh-CN" sz="1200" b="0" i="0" u="none" strike="noStrike" dirty="0">
                <a:solidFill>
                  <a:srgbClr val="475569"/>
                </a:solidFill>
                <a:latin typeface="Noto Sans SC"/>
                <a:ea typeface="Noto Sans SC"/>
                <a:cs typeface="Noto Sans SC"/>
                <a:sym typeface="Noto Sans SC"/>
              </a:rPr>
              <a:t>NEON </a:t>
            </a:r>
            <a:r>
              <a:rPr lang="zh-CN" altLang="en-US" sz="1200" b="0" i="0" u="none" strike="noStrike" dirty="0">
                <a:solidFill>
                  <a:srgbClr val="475569"/>
                </a:solidFill>
                <a:latin typeface="Noto Sans SC"/>
                <a:ea typeface="Noto Sans SC"/>
                <a:cs typeface="Noto Sans SC"/>
                <a:sym typeface="Noto Sans SC"/>
              </a:rPr>
              <a:t>的环境中依然可正常运行。</a:t>
            </a:r>
            <a:endParaRPr lang="en-US" sz="1200" b="0" i="0" u="none" strike="noStrike" dirty="0">
              <a:solidFill>
                <a:srgbClr val="475569"/>
              </a:solidFill>
              <a:latin typeface="Noto Sans SC"/>
              <a:ea typeface="Noto Sans SC"/>
              <a:cs typeface="Noto Sans SC"/>
              <a:sym typeface="Noto Sans SC"/>
            </a:endParaRPr>
          </a:p>
        </p:txBody>
      </p:sp>
      <p:pic>
        <p:nvPicPr>
          <p:cNvPr id="21" name="图片 20">
            <a:extLst>
              <a:ext uri="{FF2B5EF4-FFF2-40B4-BE49-F238E27FC236}">
                <a16:creationId xmlns:a16="http://schemas.microsoft.com/office/drawing/2014/main" id="{889AB3EA-AA34-FCD9-A303-37A96B6A7DAC}"/>
              </a:ext>
            </a:extLst>
          </p:cNvPr>
          <p:cNvPicPr>
            <a:picLocks noChangeAspect="1"/>
          </p:cNvPicPr>
          <p:nvPr/>
        </p:nvPicPr>
        <p:blipFill>
          <a:blip r:embed="rId4"/>
          <a:stretch>
            <a:fillRect/>
          </a:stretch>
        </p:blipFill>
        <p:spPr>
          <a:xfrm>
            <a:off x="565667" y="1143000"/>
            <a:ext cx="4345025" cy="55153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8D911-2B40-A144-FA3C-BC5DA72829C2}"/>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EE69ACA7-EF06-6377-E6CC-508068F00534}"/>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5F4C1997-DE72-5FDD-E805-F218A30DFA5F}"/>
              </a:ext>
            </a:extLst>
          </p:cNvPr>
          <p:cNvSpPr>
            <a:spLocks noGrp="1"/>
          </p:cNvSpPr>
          <p:nvPr>
            <p:ph type="title"/>
          </p:nvPr>
        </p:nvSpPr>
        <p:spPr/>
        <p:txBody>
          <a:bodyPr/>
          <a:lstStyle/>
          <a:p>
            <a:r>
              <a:rPr lang="zh-CN" altLang="en-US" dirty="0"/>
              <a:t>程序流程图</a:t>
            </a:r>
          </a:p>
        </p:txBody>
      </p:sp>
      <p:sp>
        <p:nvSpPr>
          <p:cNvPr id="60" name="文本框 59">
            <a:extLst>
              <a:ext uri="{FF2B5EF4-FFF2-40B4-BE49-F238E27FC236}">
                <a16:creationId xmlns:a16="http://schemas.microsoft.com/office/drawing/2014/main" id="{79C5BD63-81EB-F6BC-7AA8-6FFCC7D91049}"/>
              </a:ext>
            </a:extLst>
          </p:cNvPr>
          <p:cNvSpPr txBox="1"/>
          <p:nvPr/>
        </p:nvSpPr>
        <p:spPr>
          <a:xfrm>
            <a:off x="384810" y="1046480"/>
            <a:ext cx="452078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V2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ARM NEON SIMD </a:t>
            </a:r>
            <a:r>
              <a:rPr lang="zh-CN" altLang="en-US" sz="2400" dirty="0">
                <a:latin typeface="微软雅黑" panose="020B0503020204020204" pitchFamily="34" charset="-122"/>
                <a:ea typeface="微软雅黑" panose="020B0503020204020204" pitchFamily="34" charset="-122"/>
              </a:rPr>
              <a:t>向量化</a:t>
            </a:r>
          </a:p>
        </p:txBody>
      </p:sp>
      <p:pic>
        <p:nvPicPr>
          <p:cNvPr id="6" name="图片 5">
            <a:extLst>
              <a:ext uri="{FF2B5EF4-FFF2-40B4-BE49-F238E27FC236}">
                <a16:creationId xmlns:a16="http://schemas.microsoft.com/office/drawing/2014/main" id="{6B441F0B-C323-6C1F-8A8F-EDE38A39D399}"/>
              </a:ext>
            </a:extLst>
          </p:cNvPr>
          <p:cNvPicPr>
            <a:picLocks noChangeAspect="1"/>
          </p:cNvPicPr>
          <p:nvPr/>
        </p:nvPicPr>
        <p:blipFill>
          <a:blip r:embed="rId3"/>
          <a:stretch>
            <a:fillRect/>
          </a:stretch>
        </p:blipFill>
        <p:spPr>
          <a:xfrm>
            <a:off x="0" y="2932606"/>
            <a:ext cx="12192000" cy="992788"/>
          </a:xfrm>
          <a:prstGeom prst="rect">
            <a:avLst/>
          </a:prstGeom>
        </p:spPr>
      </p:pic>
    </p:spTree>
    <p:extLst>
      <p:ext uri="{BB962C8B-B14F-4D97-AF65-F5344CB8AC3E}">
        <p14:creationId xmlns:p14="http://schemas.microsoft.com/office/powerpoint/2010/main" val="2926440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D3748"/>
                </a:solidFill>
                <a:latin typeface="Noto Sans SC"/>
                <a:ea typeface="Noto Sans SC"/>
                <a:cs typeface="Noto Sans SC"/>
                <a:sym typeface="Noto Sans SC"/>
              </a:rPr>
              <a:t>v3：</a:t>
            </a:r>
            <a:r>
              <a:rPr lang="zh-CN" altLang="en-US" sz="3200" b="1" i="0" u="none" strike="noStrike" dirty="0">
                <a:solidFill>
                  <a:srgbClr val="2D3748"/>
                </a:solidFill>
                <a:latin typeface="Noto Sans SC"/>
                <a:ea typeface="Noto Sans SC"/>
                <a:cs typeface="Noto Sans SC"/>
                <a:sym typeface="Noto Sans SC"/>
              </a:rPr>
              <a:t>缓存友好优化</a:t>
            </a:r>
            <a:endParaRPr lang="en-US" sz="1100" dirty="0"/>
          </a:p>
        </p:txBody>
      </p:sp>
      <p:sp>
        <p:nvSpPr>
          <p:cNvPr id="4" name="AutoShape 4"/>
          <p:cNvSpPr/>
          <p:nvPr/>
        </p:nvSpPr>
        <p:spPr>
          <a:xfrm>
            <a:off x="762000" y="1524000"/>
            <a:ext cx="5207000" cy="1587500"/>
          </a:xfrm>
          <a:prstGeom prst="roundRect">
            <a:avLst>
              <a:gd name="adj" fmla="val 6400"/>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714500"/>
            <a:ext cx="304800" cy="304800"/>
          </a:xfrm>
          <a:prstGeom prst="rect">
            <a:avLst/>
          </a:prstGeom>
        </p:spPr>
      </p:pic>
      <p:sp>
        <p:nvSpPr>
          <p:cNvPr id="6" name="AutoShape 6"/>
          <p:cNvSpPr/>
          <p:nvPr/>
        </p:nvSpPr>
        <p:spPr>
          <a:xfrm>
            <a:off x="1397000" y="1919472"/>
            <a:ext cx="4318000" cy="1206500"/>
          </a:xfrm>
          <a:prstGeom prst="rect">
            <a:avLst/>
          </a:prstGeom>
          <a:noFill/>
          <a:ln w="12700" cap="flat" cmpd="sng">
            <a:noFill/>
            <a:prstDash val="solid"/>
            <a:round/>
          </a:ln>
        </p:spPr>
        <p:txBody>
          <a:bodyPr vert="horz" wrap="square" lIns="0" tIns="0" rIns="0" bIns="0" rtlCol="0" anchor="ctr" anchorCtr="0"/>
          <a:lstStyle/>
          <a:p>
            <a:pPr indent="0" algn="l">
              <a:defRPr/>
            </a:pPr>
            <a:r>
              <a:rPr lang="zh-CN" altLang="en-US" sz="1600" b="1" i="0" u="none" strike="noStrike" dirty="0">
                <a:solidFill>
                  <a:srgbClr val="2D3748"/>
                </a:solidFill>
                <a:latin typeface="Noto Sans SC"/>
                <a:ea typeface="Noto Sans SC"/>
                <a:cs typeface="Noto Sans SC"/>
                <a:sym typeface="Noto Sans SC"/>
              </a:rPr>
              <a:t>核心优化方法</a:t>
            </a:r>
            <a:endParaRPr lang="en-US" sz="1100" dirty="0"/>
          </a:p>
          <a:p>
            <a:pPr indent="0" algn="l">
              <a:spcBef>
                <a:spcPts val="800"/>
              </a:spcBef>
            </a:pPr>
            <a:r>
              <a:rPr lang="en-US" sz="1200" b="0" i="0" u="none" strike="noStrike" dirty="0">
                <a:solidFill>
                  <a:srgbClr val="4A5568"/>
                </a:solidFill>
                <a:latin typeface="Noto Sans SC"/>
                <a:ea typeface="Noto Sans SC"/>
                <a:cs typeface="Noto Sans SC"/>
                <a:sym typeface="Noto Sans SC"/>
              </a:rPr>
              <a:t>•</a:t>
            </a:r>
            <a:r>
              <a:rPr lang="zh-CN" altLang="en-US" sz="1200" b="1" i="0" u="none" strike="noStrike" dirty="0">
                <a:solidFill>
                  <a:srgbClr val="4A5568"/>
                </a:solidFill>
                <a:latin typeface="Noto Sans SC"/>
                <a:ea typeface="Noto Sans SC"/>
                <a:cs typeface="Noto Sans SC"/>
                <a:sym typeface="Noto Sans SC"/>
              </a:rPr>
              <a:t>连续内存访问</a:t>
            </a:r>
            <a:r>
              <a:rPr lang="zh-CN" altLang="en-US" sz="1200" b="0" i="0" u="none" strike="noStrike" dirty="0">
                <a:solidFill>
                  <a:srgbClr val="4A5568"/>
                </a:solidFill>
                <a:latin typeface="Noto Sans SC"/>
                <a:ea typeface="Noto Sans SC"/>
                <a:cs typeface="Noto Sans SC"/>
                <a:sym typeface="Noto Sans SC"/>
              </a:rPr>
              <a:t>：蝶形运算中上蝶数据 </a:t>
            </a:r>
            <a:r>
              <a:rPr lang="en-US" altLang="zh-CN" sz="1200" b="0" i="0" u="none" strike="noStrike" dirty="0">
                <a:solidFill>
                  <a:srgbClr val="4A5568"/>
                </a:solidFill>
                <a:latin typeface="Noto Sans SC"/>
                <a:ea typeface="Noto Sans SC"/>
                <a:cs typeface="Noto Sans SC"/>
                <a:sym typeface="Noto Sans SC"/>
              </a:rPr>
              <a:t>x[</a:t>
            </a:r>
            <a:r>
              <a:rPr lang="en-US" altLang="zh-CN" sz="1200" b="0" i="0" u="none" strike="noStrike" dirty="0" err="1">
                <a:solidFill>
                  <a:srgbClr val="4A5568"/>
                </a:solidFill>
                <a:latin typeface="Noto Sans SC"/>
                <a:ea typeface="Noto Sans SC"/>
                <a:cs typeface="Noto Sans SC"/>
                <a:sym typeface="Noto Sans SC"/>
              </a:rPr>
              <a:t>j+k</a:t>
            </a:r>
            <a:r>
              <a:rPr lang="en-US" altLang="zh-CN" sz="1200" b="0" i="0" u="none" strike="noStrike" dirty="0">
                <a:solidFill>
                  <a:srgbClr val="4A5568"/>
                </a:solidFill>
                <a:latin typeface="Noto Sans SC"/>
                <a:ea typeface="Noto Sans SC"/>
                <a:cs typeface="Noto Sans SC"/>
                <a:sym typeface="Noto Sans SC"/>
              </a:rPr>
              <a:t>] </a:t>
            </a:r>
            <a:r>
              <a:rPr lang="zh-CN" altLang="en-US" sz="1200" b="0" i="0" u="none" strike="noStrike" dirty="0">
                <a:solidFill>
                  <a:srgbClr val="4A5568"/>
                </a:solidFill>
                <a:latin typeface="Noto Sans SC"/>
                <a:ea typeface="Noto Sans SC"/>
                <a:cs typeface="Noto Sans SC"/>
                <a:sym typeface="Noto Sans SC"/>
              </a:rPr>
              <a:t>与下蝶数据 </a:t>
            </a:r>
            <a:r>
              <a:rPr lang="en-US" altLang="zh-CN" sz="1200" b="0" i="0" u="none" strike="noStrike" dirty="0">
                <a:solidFill>
                  <a:srgbClr val="4A5568"/>
                </a:solidFill>
                <a:latin typeface="Noto Sans SC"/>
                <a:ea typeface="Noto Sans SC"/>
                <a:cs typeface="Noto Sans SC"/>
                <a:sym typeface="Noto Sans SC"/>
              </a:rPr>
              <a:t>x[j+k+le2] </a:t>
            </a:r>
            <a:r>
              <a:rPr lang="zh-CN" altLang="en-US" sz="1200" b="0" i="0" u="none" strike="noStrike" dirty="0">
                <a:solidFill>
                  <a:srgbClr val="4A5568"/>
                </a:solidFill>
                <a:latin typeface="Noto Sans SC"/>
                <a:ea typeface="Noto Sans SC"/>
                <a:cs typeface="Noto Sans SC"/>
                <a:sym typeface="Noto Sans SC"/>
              </a:rPr>
              <a:t>保持连续读取</a:t>
            </a:r>
            <a:endParaRPr lang="en-US" altLang="zh-CN" sz="1200" b="0" i="0" u="none" strike="noStrike" dirty="0">
              <a:solidFill>
                <a:srgbClr val="4A5568"/>
              </a:solidFill>
              <a:latin typeface="Noto Sans SC"/>
              <a:ea typeface="Noto Sans SC"/>
              <a:cs typeface="Noto Sans SC"/>
              <a:sym typeface="Noto Sans SC"/>
            </a:endParaRPr>
          </a:p>
          <a:p>
            <a:pPr>
              <a:spcBef>
                <a:spcPts val="800"/>
              </a:spcBef>
            </a:pPr>
            <a:r>
              <a:rPr lang="en-US" altLang="zh-CN" sz="1200" dirty="0">
                <a:solidFill>
                  <a:srgbClr val="4A5568"/>
                </a:solidFill>
                <a:latin typeface="Noto Sans SC"/>
                <a:ea typeface="Noto Sans SC"/>
                <a:cs typeface="Noto Sans SC"/>
                <a:sym typeface="Noto Sans SC"/>
              </a:rPr>
              <a:t>•</a:t>
            </a:r>
            <a:r>
              <a:rPr lang="zh-CN" altLang="en-US" sz="1200" b="1" i="0" u="none" strike="noStrike" dirty="0">
                <a:solidFill>
                  <a:srgbClr val="4A5568"/>
                </a:solidFill>
                <a:latin typeface="Noto Sans SC"/>
                <a:ea typeface="Noto Sans SC"/>
                <a:cs typeface="Noto Sans SC"/>
                <a:sym typeface="Noto Sans SC"/>
              </a:rPr>
              <a:t>减少跨缓存行访问</a:t>
            </a:r>
            <a:r>
              <a:rPr lang="zh-CN" altLang="en-US" sz="1200" b="0" i="0" u="none" strike="noStrike" dirty="0">
                <a:solidFill>
                  <a:srgbClr val="4A5568"/>
                </a:solidFill>
                <a:latin typeface="Noto Sans SC"/>
                <a:ea typeface="Noto Sans SC"/>
                <a:cs typeface="Noto Sans SC"/>
                <a:sym typeface="Noto Sans SC"/>
              </a:rPr>
              <a:t>：优化数据布局，使蝶形运算相关数据尽可能落在同一缓存行</a:t>
            </a:r>
            <a:endParaRPr lang="en-US" altLang="zh-CN" sz="1200" b="0" i="0" u="none" strike="noStrike" dirty="0">
              <a:solidFill>
                <a:srgbClr val="4A5568"/>
              </a:solidFill>
              <a:latin typeface="Noto Sans SC"/>
              <a:ea typeface="Noto Sans SC"/>
              <a:cs typeface="Noto Sans SC"/>
              <a:sym typeface="Noto Sans SC"/>
            </a:endParaRPr>
          </a:p>
          <a:p>
            <a:pPr>
              <a:spcBef>
                <a:spcPts val="800"/>
              </a:spcBef>
            </a:pPr>
            <a:r>
              <a:rPr lang="en-US" altLang="zh-CN" sz="1200" dirty="0">
                <a:solidFill>
                  <a:srgbClr val="4A5568"/>
                </a:solidFill>
                <a:latin typeface="Noto Sans SC"/>
                <a:ea typeface="Noto Sans SC"/>
                <a:cs typeface="Noto Sans SC"/>
                <a:sym typeface="Noto Sans SC"/>
              </a:rPr>
              <a:t>•</a:t>
            </a:r>
            <a:r>
              <a:rPr lang="zh-CN" altLang="en-US" sz="1200" b="1" i="0" u="none" strike="noStrike" dirty="0">
                <a:solidFill>
                  <a:srgbClr val="4A5568"/>
                </a:solidFill>
                <a:latin typeface="Noto Sans SC"/>
                <a:ea typeface="Noto Sans SC"/>
                <a:cs typeface="Noto Sans SC"/>
                <a:sym typeface="Noto Sans SC"/>
              </a:rPr>
              <a:t>循环展开</a:t>
            </a:r>
            <a:r>
              <a:rPr lang="zh-CN" altLang="en-US" sz="1200" b="0" i="0" u="none" strike="noStrike" dirty="0">
                <a:solidFill>
                  <a:srgbClr val="4A5568"/>
                </a:solidFill>
                <a:latin typeface="Noto Sans SC"/>
                <a:ea typeface="Noto Sans SC"/>
                <a:cs typeface="Noto Sans SC"/>
                <a:sym typeface="Noto Sans SC"/>
              </a:rPr>
              <a:t>：内层循环展开减少分支判断和循环计数器更新开销</a:t>
            </a:r>
            <a:endParaRPr lang="en-US" altLang="zh-CN" sz="1200" b="0" i="0" u="none" strike="noStrike" dirty="0">
              <a:solidFill>
                <a:srgbClr val="4A5568"/>
              </a:solidFill>
              <a:latin typeface="Noto Sans SC"/>
              <a:ea typeface="Noto Sans SC"/>
              <a:cs typeface="Noto Sans SC"/>
              <a:sym typeface="Noto Sans SC"/>
            </a:endParaRPr>
          </a:p>
          <a:p>
            <a:pPr indent="0" algn="l">
              <a:spcBef>
                <a:spcPts val="800"/>
              </a:spcBef>
            </a:pPr>
            <a:endParaRPr lang="en-US" sz="1200" b="0" i="0" u="none" strike="noStrike" dirty="0">
              <a:solidFill>
                <a:srgbClr val="4A5568"/>
              </a:solidFill>
              <a:latin typeface="Noto Sans SC"/>
              <a:ea typeface="Noto Sans SC"/>
              <a:cs typeface="Noto Sans SC"/>
              <a:sym typeface="Noto Sans SC"/>
            </a:endParaRPr>
          </a:p>
        </p:txBody>
      </p:sp>
      <p:sp>
        <p:nvSpPr>
          <p:cNvPr id="7" name="AutoShape 7"/>
          <p:cNvSpPr/>
          <p:nvPr/>
        </p:nvSpPr>
        <p:spPr>
          <a:xfrm>
            <a:off x="762000" y="3302000"/>
            <a:ext cx="5207000" cy="1587500"/>
          </a:xfrm>
          <a:prstGeom prst="roundRect">
            <a:avLst>
              <a:gd name="adj" fmla="val 6400"/>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492500"/>
            <a:ext cx="304800" cy="304800"/>
          </a:xfrm>
          <a:prstGeom prst="rect">
            <a:avLst/>
          </a:prstGeom>
        </p:spPr>
      </p:pic>
      <p:sp>
        <p:nvSpPr>
          <p:cNvPr id="9" name="AutoShape 9"/>
          <p:cNvSpPr/>
          <p:nvPr/>
        </p:nvSpPr>
        <p:spPr>
          <a:xfrm>
            <a:off x="1397000" y="3454400"/>
            <a:ext cx="4318000" cy="1206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600" b="1" i="0" u="none" strike="noStrike" dirty="0">
                <a:solidFill>
                  <a:srgbClr val="2D3748"/>
                </a:solidFill>
                <a:latin typeface="Noto Sans SC"/>
                <a:ea typeface="Noto Sans SC"/>
                <a:cs typeface="Noto Sans SC"/>
                <a:sym typeface="Noto Sans SC"/>
              </a:rPr>
              <a:t>优化收益与目标</a:t>
            </a:r>
            <a:endParaRPr lang="en-US" sz="1100" dirty="0"/>
          </a:p>
          <a:p>
            <a:pPr indent="0" algn="l">
              <a:lnSpc>
                <a:spcPct val="116666"/>
              </a:lnSpc>
              <a:spcBef>
                <a:spcPts val="800"/>
              </a:spcBef>
            </a:pPr>
            <a:r>
              <a:rPr lang="en-US" sz="1200" b="0" i="0" u="none" strike="noStrike" dirty="0">
                <a:solidFill>
                  <a:srgbClr val="4A5568"/>
                </a:solidFill>
                <a:latin typeface="Noto Sans SC"/>
                <a:ea typeface="Noto Sans SC"/>
                <a:cs typeface="Noto Sans SC"/>
                <a:sym typeface="Noto Sans SC"/>
              </a:rPr>
              <a:t>• </a:t>
            </a:r>
            <a:r>
              <a:rPr lang="zh-CN" altLang="en-US" sz="1200" b="1" i="0" u="none" strike="noStrike" dirty="0">
                <a:solidFill>
                  <a:srgbClr val="4A5568"/>
                </a:solidFill>
                <a:latin typeface="Noto Sans SC"/>
                <a:ea typeface="Noto Sans SC"/>
                <a:cs typeface="Noto Sans SC"/>
                <a:sym typeface="Noto Sans SC"/>
              </a:rPr>
              <a:t>提高 </a:t>
            </a:r>
            <a:r>
              <a:rPr lang="en-US" altLang="zh-CN" sz="1200" b="1" i="0" u="none" strike="noStrike" dirty="0">
                <a:solidFill>
                  <a:srgbClr val="4A5568"/>
                </a:solidFill>
                <a:latin typeface="Noto Sans SC"/>
                <a:ea typeface="Noto Sans SC"/>
                <a:cs typeface="Noto Sans SC"/>
                <a:sym typeface="Noto Sans SC"/>
              </a:rPr>
              <a:t>L1/L2 </a:t>
            </a:r>
            <a:r>
              <a:rPr lang="zh-CN" altLang="en-US" sz="1200" b="1" i="0" u="none" strike="noStrike" dirty="0">
                <a:solidFill>
                  <a:srgbClr val="4A5568"/>
                </a:solidFill>
                <a:latin typeface="Noto Sans SC"/>
                <a:ea typeface="Noto Sans SC"/>
                <a:cs typeface="Noto Sans SC"/>
                <a:sym typeface="Noto Sans SC"/>
              </a:rPr>
              <a:t>缓存命中率</a:t>
            </a:r>
            <a:r>
              <a:rPr lang="zh-CN" altLang="en-US" sz="1200" b="0" i="0" u="none" strike="noStrike" dirty="0">
                <a:solidFill>
                  <a:srgbClr val="4A5568"/>
                </a:solidFill>
                <a:latin typeface="Noto Sans SC"/>
                <a:ea typeface="Noto Sans SC"/>
                <a:cs typeface="Noto Sans SC"/>
                <a:sym typeface="Noto Sans SC"/>
              </a:rPr>
              <a:t>：</a:t>
            </a:r>
            <a:r>
              <a:rPr lang="en-US" altLang="zh-CN" sz="1200" b="0" i="0" u="none" strike="noStrike" dirty="0">
                <a:solidFill>
                  <a:srgbClr val="4A5568"/>
                </a:solidFill>
                <a:latin typeface="Noto Sans SC"/>
                <a:ea typeface="Noto Sans SC"/>
                <a:cs typeface="Noto Sans SC"/>
                <a:sym typeface="Noto Sans SC"/>
              </a:rPr>
              <a:t>Cortex-A53 L1 D-Cache </a:t>
            </a:r>
            <a:r>
              <a:rPr lang="zh-CN" altLang="en-US" sz="1200" b="0" i="0" u="none" strike="noStrike" dirty="0">
                <a:solidFill>
                  <a:srgbClr val="4A5568"/>
                </a:solidFill>
                <a:latin typeface="Noto Sans SC"/>
                <a:ea typeface="Noto Sans SC"/>
                <a:cs typeface="Noto Sans SC"/>
                <a:sym typeface="Noto Sans SC"/>
              </a:rPr>
              <a:t>仅 </a:t>
            </a:r>
            <a:r>
              <a:rPr lang="en-US" altLang="zh-CN" sz="1200" b="0" i="0" u="none" strike="noStrike" dirty="0">
                <a:solidFill>
                  <a:srgbClr val="4A5568"/>
                </a:solidFill>
                <a:latin typeface="Noto Sans SC"/>
                <a:ea typeface="Noto Sans SC"/>
                <a:cs typeface="Noto Sans SC"/>
                <a:sym typeface="Noto Sans SC"/>
              </a:rPr>
              <a:t>32KB</a:t>
            </a:r>
            <a:r>
              <a:rPr lang="zh-CN" altLang="en-US" sz="1200" b="0" i="0" u="none" strike="noStrike" dirty="0">
                <a:solidFill>
                  <a:srgbClr val="4A5568"/>
                </a:solidFill>
                <a:latin typeface="Noto Sans SC"/>
                <a:ea typeface="Noto Sans SC"/>
                <a:cs typeface="Noto Sans SC"/>
                <a:sym typeface="Noto Sans SC"/>
              </a:rPr>
              <a:t>，连续访问可显著减少 </a:t>
            </a:r>
            <a:r>
              <a:rPr lang="en-US" altLang="zh-CN" sz="1200" b="0" i="0" u="none" strike="noStrike" dirty="0">
                <a:solidFill>
                  <a:srgbClr val="4A5568"/>
                </a:solidFill>
                <a:latin typeface="Noto Sans SC"/>
                <a:ea typeface="Noto Sans SC"/>
                <a:cs typeface="Noto Sans SC"/>
                <a:sym typeface="Noto Sans SC"/>
              </a:rPr>
              <a:t>Cache Miss</a:t>
            </a:r>
          </a:p>
          <a:p>
            <a:pPr>
              <a:lnSpc>
                <a:spcPct val="116666"/>
              </a:lnSpc>
              <a:spcBef>
                <a:spcPts val="800"/>
              </a:spcBef>
            </a:pPr>
            <a:r>
              <a:rPr lang="en-US" altLang="zh-CN" sz="1200" dirty="0">
                <a:solidFill>
                  <a:srgbClr val="4A5568"/>
                </a:solidFill>
                <a:latin typeface="Noto Sans SC"/>
                <a:ea typeface="Noto Sans SC"/>
                <a:cs typeface="Noto Sans SC"/>
                <a:sym typeface="Noto Sans SC"/>
              </a:rPr>
              <a:t>• L1 </a:t>
            </a:r>
            <a:r>
              <a:rPr lang="zh-CN" altLang="en-US" sz="1200" b="0" i="0" u="none" strike="noStrike" dirty="0">
                <a:solidFill>
                  <a:srgbClr val="4A5568"/>
                </a:solidFill>
                <a:latin typeface="Noto Sans SC"/>
                <a:ea typeface="Noto Sans SC"/>
                <a:cs typeface="Noto Sans SC"/>
                <a:sym typeface="Noto Sans SC"/>
              </a:rPr>
              <a:t>命中延迟 </a:t>
            </a:r>
            <a:r>
              <a:rPr lang="en-US" altLang="zh-CN" sz="1200" b="0" i="0" u="none" strike="noStrike" dirty="0">
                <a:solidFill>
                  <a:srgbClr val="4A5568"/>
                </a:solidFill>
                <a:latin typeface="Noto Sans SC"/>
                <a:ea typeface="Noto Sans SC"/>
                <a:cs typeface="Noto Sans SC"/>
                <a:sym typeface="Noto Sans SC"/>
              </a:rPr>
              <a:t>1~2 </a:t>
            </a:r>
            <a:r>
              <a:rPr lang="zh-CN" altLang="en-US" sz="1200" b="0" i="0" u="none" strike="noStrike" dirty="0">
                <a:solidFill>
                  <a:srgbClr val="4A5568"/>
                </a:solidFill>
                <a:latin typeface="Noto Sans SC"/>
                <a:ea typeface="Noto Sans SC"/>
                <a:cs typeface="Noto Sans SC"/>
                <a:sym typeface="Noto Sans SC"/>
              </a:rPr>
              <a:t>周期 </a:t>
            </a:r>
            <a:r>
              <a:rPr lang="en-US" altLang="zh-CN" sz="1200" b="0" i="0" u="none" strike="noStrike" dirty="0">
                <a:solidFill>
                  <a:srgbClr val="4A5568"/>
                </a:solidFill>
                <a:latin typeface="Noto Sans SC"/>
                <a:ea typeface="Noto Sans SC"/>
                <a:cs typeface="Noto Sans SC"/>
                <a:sym typeface="Noto Sans SC"/>
              </a:rPr>
              <a:t>vs </a:t>
            </a:r>
            <a:r>
              <a:rPr lang="zh-CN" altLang="en-US" sz="1200" b="0" i="0" u="none" strike="noStrike" dirty="0">
                <a:solidFill>
                  <a:srgbClr val="4A5568"/>
                </a:solidFill>
                <a:latin typeface="Noto Sans SC"/>
                <a:ea typeface="Noto Sans SC"/>
                <a:cs typeface="Noto Sans SC"/>
                <a:sym typeface="Noto Sans SC"/>
              </a:rPr>
              <a:t>主存访问延迟 </a:t>
            </a:r>
            <a:r>
              <a:rPr lang="en-US" altLang="zh-CN" sz="1200" b="0" i="0" u="none" strike="noStrike" dirty="0">
                <a:solidFill>
                  <a:srgbClr val="4A5568"/>
                </a:solidFill>
                <a:latin typeface="Noto Sans SC"/>
                <a:ea typeface="Noto Sans SC"/>
                <a:cs typeface="Noto Sans SC"/>
                <a:sym typeface="Noto Sans SC"/>
              </a:rPr>
              <a:t>100~200 </a:t>
            </a:r>
            <a:r>
              <a:rPr lang="zh-CN" altLang="en-US" sz="1200" b="0" i="0" u="none" strike="noStrike" dirty="0">
                <a:solidFill>
                  <a:srgbClr val="4A5568"/>
                </a:solidFill>
                <a:latin typeface="Noto Sans SC"/>
                <a:ea typeface="Noto Sans SC"/>
                <a:cs typeface="Noto Sans SC"/>
                <a:sym typeface="Noto Sans SC"/>
              </a:rPr>
              <a:t>周期，命中率是关键</a:t>
            </a:r>
            <a:endParaRPr lang="en-US" sz="1200" b="0" i="0" u="none" strike="noStrike" dirty="0">
              <a:solidFill>
                <a:srgbClr val="4A5568"/>
              </a:solidFill>
              <a:latin typeface="Noto Sans SC"/>
              <a:ea typeface="Noto Sans SC"/>
              <a:cs typeface="Noto Sans SC"/>
              <a:sym typeface="Noto Sans SC"/>
            </a:endParaRPr>
          </a:p>
        </p:txBody>
      </p:sp>
      <p:sp>
        <p:nvSpPr>
          <p:cNvPr id="10" name="AutoShape 10"/>
          <p:cNvSpPr/>
          <p:nvPr/>
        </p:nvSpPr>
        <p:spPr>
          <a:xfrm>
            <a:off x="762000" y="5080000"/>
            <a:ext cx="5207000" cy="1397000"/>
          </a:xfrm>
          <a:prstGeom prst="roundRect">
            <a:avLst>
              <a:gd name="adj" fmla="val 7272"/>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270500"/>
            <a:ext cx="304800" cy="304800"/>
          </a:xfrm>
          <a:prstGeom prst="rect">
            <a:avLst/>
          </a:prstGeom>
        </p:spPr>
      </p:pic>
      <p:sp>
        <p:nvSpPr>
          <p:cNvPr id="12" name="AutoShape 12"/>
          <p:cNvSpPr/>
          <p:nvPr/>
        </p:nvSpPr>
        <p:spPr>
          <a:xfrm>
            <a:off x="1397000" y="5232400"/>
            <a:ext cx="4318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600" b="1" i="0" u="none" strike="noStrike" dirty="0">
                <a:solidFill>
                  <a:srgbClr val="2D3748"/>
                </a:solidFill>
                <a:latin typeface="Noto Sans SC"/>
                <a:ea typeface="Noto Sans SC"/>
                <a:cs typeface="Noto Sans SC"/>
                <a:sym typeface="Noto Sans SC"/>
              </a:rPr>
              <a:t>内存访问模式</a:t>
            </a:r>
            <a:endParaRPr lang="en-US" sz="1100" dirty="0"/>
          </a:p>
          <a:p>
            <a:pPr indent="0" algn="l">
              <a:lnSpc>
                <a:spcPct val="116666"/>
              </a:lnSpc>
              <a:spcBef>
                <a:spcPts val="800"/>
              </a:spcBef>
            </a:pPr>
            <a:r>
              <a:rPr lang="en-US" sz="1200" b="0" i="0" u="none" strike="noStrike" dirty="0">
                <a:solidFill>
                  <a:srgbClr val="4A5568"/>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连续访问（缓存友好）： 地址连续递增，硬件预取自动生效</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4A5568"/>
                </a:solidFill>
                <a:latin typeface="Noto Sans SC"/>
                <a:ea typeface="Noto Sans SC"/>
                <a:cs typeface="Noto Sans SC"/>
                <a:sym typeface="Noto Sans SC"/>
              </a:rPr>
              <a:t>•</a:t>
            </a:r>
            <a:r>
              <a:rPr lang="zh-CN" altLang="en-US" sz="1200" b="0" i="0" u="none" strike="noStrike" dirty="0">
                <a:solidFill>
                  <a:srgbClr val="4A5568"/>
                </a:solidFill>
                <a:latin typeface="Noto Sans SC"/>
                <a:ea typeface="Noto Sans SC"/>
                <a:cs typeface="Noto Sans SC"/>
                <a:sym typeface="Noto Sans SC"/>
              </a:rPr>
              <a:t>跨步访问（缓存不友好）：步长随 </a:t>
            </a:r>
            <a:r>
              <a:rPr lang="en-US" altLang="zh-CN" sz="1200" b="0" i="0" u="none" strike="noStrike" dirty="0">
                <a:solidFill>
                  <a:srgbClr val="4A5568"/>
                </a:solidFill>
                <a:latin typeface="Noto Sans SC"/>
                <a:ea typeface="Noto Sans SC"/>
                <a:cs typeface="Noto Sans SC"/>
                <a:sym typeface="Noto Sans SC"/>
              </a:rPr>
              <a:t>le </a:t>
            </a:r>
            <a:r>
              <a:rPr lang="zh-CN" altLang="en-US" sz="1200" b="0" i="0" u="none" strike="noStrike" dirty="0">
                <a:solidFill>
                  <a:srgbClr val="4A5568"/>
                </a:solidFill>
                <a:latin typeface="Noto Sans SC"/>
                <a:ea typeface="Noto Sans SC"/>
                <a:cs typeface="Noto Sans SC"/>
                <a:sym typeface="Noto Sans SC"/>
              </a:rPr>
              <a:t>增大，超过缓存行</a:t>
            </a:r>
            <a:r>
              <a:rPr lang="en-US" altLang="zh-CN" sz="1200" b="0" i="0" u="none" strike="noStrike" dirty="0">
                <a:solidFill>
                  <a:srgbClr val="4A5568"/>
                </a:solidFill>
                <a:latin typeface="Noto Sans SC"/>
                <a:ea typeface="Noto Sans SC"/>
                <a:cs typeface="Noto Sans SC"/>
                <a:sym typeface="Noto Sans SC"/>
              </a:rPr>
              <a:t>(64B)</a:t>
            </a:r>
            <a:r>
              <a:rPr lang="zh-CN" altLang="en-US" sz="1200" b="0" i="0" u="none" strike="noStrike" dirty="0">
                <a:solidFill>
                  <a:srgbClr val="4A5568"/>
                </a:solidFill>
                <a:latin typeface="Noto Sans SC"/>
                <a:ea typeface="Noto Sans SC"/>
                <a:cs typeface="Noto Sans SC"/>
                <a:sym typeface="Noto Sans SC"/>
              </a:rPr>
              <a:t>时触发 </a:t>
            </a:r>
            <a:r>
              <a:rPr lang="en-US" altLang="zh-CN" sz="1200" b="0" i="0" u="none" strike="noStrike" dirty="0">
                <a:solidFill>
                  <a:srgbClr val="4A5568"/>
                </a:solidFill>
                <a:latin typeface="Noto Sans SC"/>
                <a:ea typeface="Noto Sans SC"/>
                <a:cs typeface="Noto Sans SC"/>
                <a:sym typeface="Noto Sans SC"/>
              </a:rPr>
              <a:t>Cache Miss</a:t>
            </a:r>
            <a:endParaRPr lang="en-US" sz="1200" b="0" i="0" u="none" strike="noStrike" dirty="0">
              <a:solidFill>
                <a:srgbClr val="4A5568"/>
              </a:solidFill>
              <a:latin typeface="Noto Sans SC"/>
              <a:ea typeface="Noto Sans SC"/>
              <a:cs typeface="Noto Sans SC"/>
              <a:sym typeface="Noto Sans SC"/>
            </a:endParaRPr>
          </a:p>
        </p:txBody>
      </p:sp>
      <p:sp>
        <p:nvSpPr>
          <p:cNvPr id="15" name="AutoShape 15"/>
          <p:cNvSpPr/>
          <p:nvPr/>
        </p:nvSpPr>
        <p:spPr>
          <a:xfrm>
            <a:off x="6604000" y="5016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FFFFFF"/>
                </a:solidFill>
                <a:latin typeface="Noto Sans SC"/>
                <a:ea typeface="Noto Sans SC"/>
                <a:cs typeface="Noto Sans SC"/>
                <a:sym typeface="Noto Sans SC"/>
              </a:rPr>
              <a:t>图解：位逆序重排 (Bit-Reversal Permutation)</a:t>
            </a:r>
            <a:endParaRPr lang="en-US" sz="1100"/>
          </a:p>
          <a:p>
            <a:pPr indent="0" algn="l">
              <a:lnSpc>
                <a:spcPct val="116666"/>
              </a:lnSpc>
              <a:spcBef>
                <a:spcPts val="800"/>
              </a:spcBef>
            </a:pPr>
            <a:r>
              <a:rPr lang="en-US" sz="1200" b="0" i="0" u="none" strike="noStrike">
                <a:solidFill>
                  <a:srgbClr val="E2E8F0"/>
                </a:solidFill>
                <a:latin typeface="Noto Sans SC"/>
                <a:ea typeface="Noto Sans SC"/>
                <a:cs typeface="Noto Sans SC"/>
                <a:sym typeface="Noto Sans SC"/>
              </a:rPr>
              <a:t>图中展示了输入数据索引的二进制位逆序映射关系。这一步是迭代版 FFT 的关键，它将原本递归实现中自然顺序的输出，转换为了适合迭代处理的顺序，确保后续蝶形运算能高效地“原地”完成。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4EB1B-2B59-81C6-8A03-DC6BE7C354C7}"/>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0DB1C0F4-33BF-2539-3897-3D7EB4C5EF95}"/>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765A30FF-554A-0B19-31EE-744028EC19EF}"/>
              </a:ext>
            </a:extLst>
          </p:cNvPr>
          <p:cNvSpPr>
            <a:spLocks noGrp="1"/>
          </p:cNvSpPr>
          <p:nvPr>
            <p:ph type="title"/>
          </p:nvPr>
        </p:nvSpPr>
        <p:spPr/>
        <p:txBody>
          <a:bodyPr/>
          <a:lstStyle/>
          <a:p>
            <a:r>
              <a:rPr lang="zh-CN" altLang="en-US" dirty="0"/>
              <a:t>程序流程图</a:t>
            </a:r>
          </a:p>
        </p:txBody>
      </p:sp>
      <p:sp>
        <p:nvSpPr>
          <p:cNvPr id="60" name="文本框 59">
            <a:extLst>
              <a:ext uri="{FF2B5EF4-FFF2-40B4-BE49-F238E27FC236}">
                <a16:creationId xmlns:a16="http://schemas.microsoft.com/office/drawing/2014/main" id="{8FB4D762-9EDD-875E-1CBD-D2D3764554BC}"/>
              </a:ext>
            </a:extLst>
          </p:cNvPr>
          <p:cNvSpPr txBox="1"/>
          <p:nvPr/>
        </p:nvSpPr>
        <p:spPr>
          <a:xfrm>
            <a:off x="384810" y="1046480"/>
            <a:ext cx="2728632"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V3</a:t>
            </a:r>
            <a:r>
              <a:rPr lang="zh-CN" altLang="en-US" sz="2400" dirty="0">
                <a:latin typeface="微软雅黑" panose="020B0503020204020204" pitchFamily="34" charset="-122"/>
                <a:ea typeface="微软雅黑" panose="020B0503020204020204" pitchFamily="34" charset="-122"/>
              </a:rPr>
              <a:t>：缓存友好优化</a:t>
            </a:r>
          </a:p>
        </p:txBody>
      </p:sp>
      <p:pic>
        <p:nvPicPr>
          <p:cNvPr id="4" name="图片 3">
            <a:extLst>
              <a:ext uri="{FF2B5EF4-FFF2-40B4-BE49-F238E27FC236}">
                <a16:creationId xmlns:a16="http://schemas.microsoft.com/office/drawing/2014/main" id="{1D1380A4-6FCE-81C2-9602-A5D78ED0581C}"/>
              </a:ext>
            </a:extLst>
          </p:cNvPr>
          <p:cNvPicPr>
            <a:picLocks noChangeAspect="1"/>
          </p:cNvPicPr>
          <p:nvPr/>
        </p:nvPicPr>
        <p:blipFill>
          <a:blip r:embed="rId3"/>
          <a:stretch>
            <a:fillRect/>
          </a:stretch>
        </p:blipFill>
        <p:spPr>
          <a:xfrm>
            <a:off x="0" y="2565370"/>
            <a:ext cx="12192000" cy="1727260"/>
          </a:xfrm>
          <a:prstGeom prst="rect">
            <a:avLst/>
          </a:prstGeom>
        </p:spPr>
      </p:pic>
    </p:spTree>
    <p:extLst>
      <p:ext uri="{BB962C8B-B14F-4D97-AF65-F5344CB8AC3E}">
        <p14:creationId xmlns:p14="http://schemas.microsoft.com/office/powerpoint/2010/main" val="1050100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2D3748"/>
                </a:solidFill>
                <a:latin typeface="Noto Sans SC"/>
                <a:ea typeface="Noto Sans SC"/>
                <a:cs typeface="Noto Sans SC"/>
                <a:sym typeface="Noto Sans SC"/>
              </a:rPr>
              <a:t>v</a:t>
            </a:r>
            <a:r>
              <a:rPr lang="en-US" sz="3200" b="1" dirty="0">
                <a:solidFill>
                  <a:srgbClr val="2D3748"/>
                </a:solidFill>
                <a:latin typeface="Noto Sans SC"/>
                <a:ea typeface="Noto Sans SC"/>
                <a:cs typeface="Noto Sans SC"/>
                <a:sym typeface="Noto Sans SC"/>
              </a:rPr>
              <a:t>4</a:t>
            </a:r>
            <a:r>
              <a:rPr lang="en-US" sz="3200" b="1" i="0" u="none" strike="noStrike" dirty="0">
                <a:solidFill>
                  <a:srgbClr val="2D3748"/>
                </a:solidFill>
                <a:latin typeface="Noto Sans SC"/>
                <a:ea typeface="Noto Sans SC"/>
                <a:cs typeface="Noto Sans SC"/>
                <a:sym typeface="Noto Sans SC"/>
              </a:rPr>
              <a:t>：</a:t>
            </a:r>
            <a:r>
              <a:rPr lang="zh-CN" altLang="en-US" sz="3200" b="1" i="0" u="none" strike="noStrike" dirty="0">
                <a:solidFill>
                  <a:srgbClr val="2D3748"/>
                </a:solidFill>
                <a:latin typeface="Noto Sans SC"/>
                <a:ea typeface="Noto Sans SC"/>
                <a:cs typeface="Noto Sans SC"/>
                <a:sym typeface="Noto Sans SC"/>
              </a:rPr>
              <a:t>内存对齐 </a:t>
            </a:r>
            <a:r>
              <a:rPr lang="en-US" altLang="zh-CN" sz="3200" b="1" i="0" u="none" strike="noStrike" dirty="0">
                <a:solidFill>
                  <a:srgbClr val="2D3748"/>
                </a:solidFill>
                <a:latin typeface="Noto Sans SC"/>
                <a:ea typeface="Noto Sans SC"/>
                <a:cs typeface="Noto Sans SC"/>
                <a:sym typeface="Noto Sans SC"/>
              </a:rPr>
              <a:t>+ </a:t>
            </a:r>
            <a:r>
              <a:rPr lang="zh-CN" altLang="en-US" sz="3200" b="1" i="0" u="none" strike="noStrike" dirty="0">
                <a:solidFill>
                  <a:srgbClr val="2D3748"/>
                </a:solidFill>
                <a:latin typeface="Noto Sans SC"/>
                <a:ea typeface="Noto Sans SC"/>
                <a:cs typeface="Noto Sans SC"/>
                <a:sym typeface="Noto Sans SC"/>
              </a:rPr>
              <a:t>软件预取</a:t>
            </a:r>
            <a:endParaRPr lang="en-US" sz="1100" dirty="0"/>
          </a:p>
        </p:txBody>
      </p:sp>
      <p:sp>
        <p:nvSpPr>
          <p:cNvPr id="4" name="AutoShape 4"/>
          <p:cNvSpPr/>
          <p:nvPr/>
        </p:nvSpPr>
        <p:spPr>
          <a:xfrm>
            <a:off x="762000" y="1524000"/>
            <a:ext cx="5842000" cy="17145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52600"/>
            <a:ext cx="304800" cy="304800"/>
          </a:xfrm>
          <a:prstGeom prst="rect">
            <a:avLst/>
          </a:prstGeom>
        </p:spPr>
      </p:pic>
      <p:sp>
        <p:nvSpPr>
          <p:cNvPr id="6" name="AutoShape 6"/>
          <p:cNvSpPr/>
          <p:nvPr/>
        </p:nvSpPr>
        <p:spPr>
          <a:xfrm>
            <a:off x="1460500" y="1714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B82F6"/>
                </a:solidFill>
                <a:latin typeface="Noto Sans SC"/>
                <a:ea typeface="Noto Sans SC"/>
                <a:cs typeface="Noto Sans SC"/>
                <a:sym typeface="Noto Sans SC"/>
              </a:rPr>
              <a:t>优化方法：主动管理缓存加载</a:t>
            </a:r>
            <a:endParaRPr lang="en-US" sz="1100"/>
          </a:p>
        </p:txBody>
      </p:sp>
      <p:sp>
        <p:nvSpPr>
          <p:cNvPr id="7" name="AutoShape 7"/>
          <p:cNvSpPr/>
          <p:nvPr/>
        </p:nvSpPr>
        <p:spPr>
          <a:xfrm>
            <a:off x="1016000" y="2286000"/>
            <a:ext cx="5334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dirty="0">
                <a:solidFill>
                  <a:srgbClr val="2D3748"/>
                </a:solidFill>
                <a:latin typeface="Noto Sans SC"/>
                <a:ea typeface="Noto Sans SC"/>
                <a:cs typeface="Noto Sans SC"/>
                <a:sym typeface="Noto Sans SC"/>
              </a:rPr>
              <a:t>•</a:t>
            </a:r>
            <a:r>
              <a:rPr lang="zh-CN" altLang="en-US" sz="1300" b="1" i="0" u="none" strike="noStrike" dirty="0">
                <a:solidFill>
                  <a:srgbClr val="2D3748"/>
                </a:solidFill>
                <a:latin typeface="Noto Sans SC"/>
                <a:ea typeface="Noto Sans SC"/>
                <a:cs typeface="Noto Sans SC"/>
                <a:sym typeface="Noto Sans SC"/>
              </a:rPr>
              <a:t>内存对齐分配</a:t>
            </a:r>
            <a:r>
              <a:rPr lang="en-US" sz="1300" b="1" i="0" u="none" strike="noStrike" dirty="0">
                <a:solidFill>
                  <a:srgbClr val="2D3748"/>
                </a:solidFill>
                <a:latin typeface="Noto Sans SC"/>
                <a:ea typeface="Noto Sans SC"/>
                <a:cs typeface="Noto Sans SC"/>
                <a:sym typeface="Noto Sans SC"/>
              </a:rPr>
              <a:t>：</a:t>
            </a:r>
            <a:r>
              <a:rPr lang="en-US" sz="1300" b="0" i="0" u="none" strike="noStrike" dirty="0">
                <a:solidFill>
                  <a:srgbClr val="2D3748"/>
                </a:solidFill>
                <a:latin typeface="Noto Sans SC"/>
                <a:ea typeface="Noto Sans SC"/>
                <a:cs typeface="Noto Sans SC"/>
                <a:sym typeface="Noto Sans SC"/>
              </a:rPr>
              <a:t>- </a:t>
            </a:r>
            <a:r>
              <a:rPr lang="en-US" sz="1300" b="0" i="0" u="none" strike="noStrike" dirty="0" err="1">
                <a:solidFill>
                  <a:srgbClr val="2D3748"/>
                </a:solidFill>
                <a:latin typeface="Noto Sans SC"/>
                <a:ea typeface="Noto Sans SC"/>
                <a:cs typeface="Noto Sans SC"/>
                <a:sym typeface="Noto Sans SC"/>
              </a:rPr>
              <a:t>posix_memalign</a:t>
            </a:r>
            <a:r>
              <a:rPr lang="en-US" sz="1300" b="0" i="0" u="none" strike="noStrike" dirty="0">
                <a:solidFill>
                  <a:srgbClr val="2D3748"/>
                </a:solidFill>
                <a:latin typeface="Noto Sans SC"/>
                <a:ea typeface="Noto Sans SC"/>
                <a:cs typeface="Noto Sans SC"/>
                <a:sym typeface="Noto Sans SC"/>
              </a:rPr>
              <a:t> </a:t>
            </a:r>
            <a:r>
              <a:rPr lang="zh-CN" altLang="en-US" sz="1300" b="0" i="0" u="none" strike="noStrike" dirty="0">
                <a:solidFill>
                  <a:srgbClr val="2D3748"/>
                </a:solidFill>
                <a:latin typeface="Noto Sans SC"/>
                <a:ea typeface="Noto Sans SC"/>
                <a:cs typeface="Noto Sans SC"/>
                <a:sym typeface="Noto Sans SC"/>
              </a:rPr>
              <a:t>强制 </a:t>
            </a:r>
            <a:r>
              <a:rPr lang="en-US" altLang="zh-CN" sz="1300" b="0" i="0" u="none" strike="noStrike" dirty="0">
                <a:solidFill>
                  <a:srgbClr val="2D3748"/>
                </a:solidFill>
                <a:latin typeface="Noto Sans SC"/>
                <a:ea typeface="Noto Sans SC"/>
                <a:cs typeface="Noto Sans SC"/>
                <a:sym typeface="Noto Sans SC"/>
              </a:rPr>
              <a:t>16 </a:t>
            </a:r>
            <a:r>
              <a:rPr lang="zh-CN" altLang="en-US" sz="1300" b="0" i="0" u="none" strike="noStrike" dirty="0">
                <a:solidFill>
                  <a:srgbClr val="2D3748"/>
                </a:solidFill>
                <a:latin typeface="Noto Sans SC"/>
                <a:ea typeface="Noto Sans SC"/>
                <a:cs typeface="Noto Sans SC"/>
                <a:sym typeface="Noto Sans SC"/>
              </a:rPr>
              <a:t>字节对齐；</a:t>
            </a:r>
          </a:p>
          <a:p>
            <a:pPr indent="0" algn="l">
              <a:lnSpc>
                <a:spcPct val="108333"/>
              </a:lnSpc>
              <a:defRPr/>
            </a:pPr>
            <a:r>
              <a:rPr lang="en-US" altLang="zh-CN" sz="1300" b="0" i="0" u="none" strike="noStrike" dirty="0">
                <a:solidFill>
                  <a:srgbClr val="2D3748"/>
                </a:solidFill>
                <a:latin typeface="Noto Sans SC"/>
                <a:ea typeface="Noto Sans SC"/>
                <a:cs typeface="Noto Sans SC"/>
                <a:sym typeface="Noto Sans SC"/>
              </a:rPr>
              <a:t>- </a:t>
            </a:r>
            <a:r>
              <a:rPr lang="zh-CN" altLang="en-US" sz="1300" b="0" i="0" u="none" strike="noStrike" dirty="0">
                <a:solidFill>
                  <a:srgbClr val="2D3748"/>
                </a:solidFill>
                <a:latin typeface="Noto Sans SC"/>
                <a:ea typeface="Noto Sans SC"/>
                <a:cs typeface="Noto Sans SC"/>
                <a:sym typeface="Noto Sans SC"/>
              </a:rPr>
              <a:t>匹配 </a:t>
            </a:r>
            <a:r>
              <a:rPr lang="en-US" sz="1300" b="0" i="0" u="none" strike="noStrike" dirty="0">
                <a:solidFill>
                  <a:srgbClr val="2D3748"/>
                </a:solidFill>
                <a:latin typeface="Noto Sans SC"/>
                <a:ea typeface="Noto Sans SC"/>
                <a:cs typeface="Noto Sans SC"/>
                <a:sym typeface="Noto Sans SC"/>
              </a:rPr>
              <a:t>NEON </a:t>
            </a:r>
            <a:r>
              <a:rPr lang="zh-CN" altLang="en-US" sz="1300" b="0" i="0" u="none" strike="noStrike" dirty="0">
                <a:solidFill>
                  <a:srgbClr val="2D3748"/>
                </a:solidFill>
                <a:latin typeface="Noto Sans SC"/>
                <a:ea typeface="Noto Sans SC"/>
                <a:cs typeface="Noto Sans SC"/>
                <a:sym typeface="Noto Sans SC"/>
              </a:rPr>
              <a:t>加载指令最佳性能要求</a:t>
            </a:r>
            <a:endParaRPr lang="en-US" sz="1100" dirty="0"/>
          </a:p>
          <a:p>
            <a:pPr indent="0" algn="l">
              <a:lnSpc>
                <a:spcPct val="108333"/>
              </a:lnSpc>
            </a:pPr>
            <a:r>
              <a:rPr lang="en-US" sz="1300" b="0" i="0" u="none" strike="noStrike" dirty="0">
                <a:solidFill>
                  <a:srgbClr val="2D3748"/>
                </a:solidFill>
                <a:latin typeface="Noto Sans SC"/>
                <a:ea typeface="Noto Sans SC"/>
                <a:cs typeface="Noto Sans SC"/>
                <a:sym typeface="Noto Sans SC"/>
              </a:rPr>
              <a:t>•</a:t>
            </a:r>
            <a:r>
              <a:rPr lang="zh-CN" altLang="en-US" sz="1300" b="1" dirty="0">
                <a:solidFill>
                  <a:srgbClr val="2D3748"/>
                </a:solidFill>
                <a:latin typeface="Noto Sans SC"/>
                <a:ea typeface="Noto Sans SC"/>
                <a:cs typeface="Noto Sans SC"/>
                <a:sym typeface="Noto Sans SC"/>
              </a:rPr>
              <a:t>软件预取</a:t>
            </a:r>
            <a:r>
              <a:rPr lang="en-US" sz="1300" b="1" i="0" u="none" strike="noStrike" dirty="0">
                <a:solidFill>
                  <a:srgbClr val="2D3748"/>
                </a:solidFill>
                <a:latin typeface="Noto Sans SC"/>
                <a:ea typeface="Noto Sans SC"/>
                <a:cs typeface="Noto Sans SC"/>
                <a:sym typeface="Noto Sans SC"/>
              </a:rPr>
              <a:t>：</a:t>
            </a:r>
            <a:r>
              <a:rPr lang="en-US" altLang="zh-CN" sz="1300" b="0" i="0" u="none" strike="noStrike" dirty="0">
                <a:solidFill>
                  <a:srgbClr val="2D3748"/>
                </a:solidFill>
                <a:latin typeface="Noto Sans SC"/>
                <a:ea typeface="Noto Sans SC"/>
                <a:cs typeface="Noto Sans SC"/>
                <a:sym typeface="Noto Sans SC"/>
              </a:rPr>
              <a:t>__</a:t>
            </a:r>
            <a:r>
              <a:rPr lang="en-US" altLang="zh-CN" sz="1300" b="0" i="0" u="none" strike="noStrike" dirty="0" err="1">
                <a:solidFill>
                  <a:srgbClr val="2D3748"/>
                </a:solidFill>
                <a:latin typeface="Noto Sans SC"/>
                <a:ea typeface="Noto Sans SC"/>
                <a:cs typeface="Noto Sans SC"/>
                <a:sym typeface="Noto Sans SC"/>
              </a:rPr>
              <a:t>builtin_prefetch</a:t>
            </a:r>
            <a:r>
              <a:rPr lang="en-US" altLang="zh-CN" sz="1300" b="0" i="0" u="none" strike="noStrike" dirty="0">
                <a:solidFill>
                  <a:srgbClr val="2D3748"/>
                </a:solidFill>
                <a:latin typeface="Noto Sans SC"/>
                <a:ea typeface="Noto Sans SC"/>
                <a:cs typeface="Noto Sans SC"/>
                <a:sym typeface="Noto Sans SC"/>
              </a:rPr>
              <a:t> </a:t>
            </a:r>
            <a:r>
              <a:rPr lang="zh-CN" altLang="en-US" sz="1300" b="0" i="0" u="none" strike="noStrike" dirty="0">
                <a:solidFill>
                  <a:srgbClr val="2D3748"/>
                </a:solidFill>
                <a:latin typeface="Noto Sans SC"/>
                <a:ea typeface="Noto Sans SC"/>
                <a:cs typeface="Noto Sans SC"/>
                <a:sym typeface="Noto Sans SC"/>
              </a:rPr>
              <a:t>提前加载数据至 </a:t>
            </a:r>
            <a:r>
              <a:rPr lang="en-US" altLang="zh-CN" sz="1300" b="0" i="0" u="none" strike="noStrike" dirty="0">
                <a:solidFill>
                  <a:srgbClr val="2D3748"/>
                </a:solidFill>
                <a:latin typeface="Noto Sans SC"/>
                <a:ea typeface="Noto Sans SC"/>
                <a:cs typeface="Noto Sans SC"/>
                <a:sym typeface="Noto Sans SC"/>
              </a:rPr>
              <a:t>L1 </a:t>
            </a:r>
            <a:r>
              <a:rPr lang="zh-CN" altLang="en-US" sz="1300" b="0" i="0" u="none" strike="noStrike" dirty="0">
                <a:solidFill>
                  <a:srgbClr val="2D3748"/>
                </a:solidFill>
                <a:latin typeface="Noto Sans SC"/>
                <a:ea typeface="Noto Sans SC"/>
                <a:cs typeface="Noto Sans SC"/>
                <a:sym typeface="Noto Sans SC"/>
              </a:rPr>
              <a:t>缓存；</a:t>
            </a:r>
          </a:p>
          <a:p>
            <a:pPr indent="0" algn="l">
              <a:lnSpc>
                <a:spcPct val="108333"/>
              </a:lnSpc>
            </a:pPr>
            <a:r>
              <a:rPr lang="en-US" altLang="zh-CN" sz="1300" b="0" i="0" u="none" strike="noStrike" dirty="0">
                <a:solidFill>
                  <a:srgbClr val="2D3748"/>
                </a:solidFill>
                <a:latin typeface="Noto Sans SC"/>
                <a:ea typeface="Noto Sans SC"/>
                <a:cs typeface="Noto Sans SC"/>
                <a:sym typeface="Noto Sans SC"/>
              </a:rPr>
              <a:t>- </a:t>
            </a:r>
            <a:r>
              <a:rPr lang="zh-CN" altLang="en-US" sz="1300" b="0" i="0" u="none" strike="noStrike" dirty="0">
                <a:solidFill>
                  <a:srgbClr val="2D3748"/>
                </a:solidFill>
                <a:latin typeface="Noto Sans SC"/>
                <a:ea typeface="Noto Sans SC"/>
                <a:cs typeface="Noto Sans SC"/>
                <a:sym typeface="Noto Sans SC"/>
              </a:rPr>
              <a:t>计算当前组时预取下一组，隐藏内存延迟</a:t>
            </a:r>
            <a:endParaRPr lang="en-US" sz="1300" b="0" i="0" u="none" strike="noStrike" dirty="0">
              <a:solidFill>
                <a:srgbClr val="2D3748"/>
              </a:solidFill>
              <a:latin typeface="Noto Sans SC"/>
              <a:ea typeface="Noto Sans SC"/>
              <a:cs typeface="Noto Sans SC"/>
              <a:sym typeface="Noto Sans SC"/>
            </a:endParaRPr>
          </a:p>
        </p:txBody>
      </p:sp>
      <p:sp>
        <p:nvSpPr>
          <p:cNvPr id="8" name="AutoShape 8"/>
          <p:cNvSpPr/>
          <p:nvPr/>
        </p:nvSpPr>
        <p:spPr>
          <a:xfrm>
            <a:off x="762000" y="3429000"/>
            <a:ext cx="5842000" cy="1587500"/>
          </a:xfrm>
          <a:prstGeom prst="roundRect">
            <a:avLst>
              <a:gd name="adj" fmla="val 96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657600"/>
            <a:ext cx="304800" cy="304800"/>
          </a:xfrm>
          <a:prstGeom prst="rect">
            <a:avLst/>
          </a:prstGeom>
        </p:spPr>
      </p:pic>
      <p:sp>
        <p:nvSpPr>
          <p:cNvPr id="10" name="AutoShape 10"/>
          <p:cNvSpPr/>
          <p:nvPr/>
        </p:nvSpPr>
        <p:spPr>
          <a:xfrm>
            <a:off x="1460500" y="3619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0B981"/>
                </a:solidFill>
                <a:latin typeface="Noto Sans SC"/>
                <a:ea typeface="Noto Sans SC"/>
                <a:cs typeface="Noto Sans SC"/>
                <a:sym typeface="Noto Sans SC"/>
              </a:rPr>
              <a:t>核心收益：降低延迟与未命中率</a:t>
            </a:r>
            <a:endParaRPr lang="en-US" sz="1100"/>
          </a:p>
        </p:txBody>
      </p:sp>
      <p:sp>
        <p:nvSpPr>
          <p:cNvPr id="11" name="AutoShape 11"/>
          <p:cNvSpPr/>
          <p:nvPr/>
        </p:nvSpPr>
        <p:spPr>
          <a:xfrm>
            <a:off x="1016000" y="4191000"/>
            <a:ext cx="5334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dirty="0">
                <a:solidFill>
                  <a:srgbClr val="2D3748"/>
                </a:solidFill>
                <a:latin typeface="Noto Sans SC"/>
                <a:ea typeface="Noto Sans SC"/>
                <a:cs typeface="Noto Sans SC"/>
                <a:sym typeface="Noto Sans SC"/>
              </a:rPr>
              <a:t>•</a:t>
            </a:r>
            <a:r>
              <a:rPr lang="zh-CN" altLang="en-US" sz="1300" b="1" i="0" u="none" strike="noStrike" dirty="0">
                <a:solidFill>
                  <a:srgbClr val="2D3748"/>
                </a:solidFill>
                <a:latin typeface="Noto Sans SC"/>
                <a:ea typeface="Noto Sans SC"/>
                <a:cs typeface="Noto Sans SC"/>
                <a:sym typeface="Noto Sans SC"/>
              </a:rPr>
              <a:t>减少</a:t>
            </a:r>
            <a:r>
              <a:rPr lang="en-US" altLang="zh-CN" sz="1300" b="1" i="0" u="none" strike="noStrike" dirty="0">
                <a:solidFill>
                  <a:srgbClr val="2D3748"/>
                </a:solidFill>
                <a:latin typeface="Noto Sans SC"/>
                <a:ea typeface="Noto Sans SC"/>
                <a:cs typeface="Noto Sans SC"/>
                <a:sym typeface="Noto Sans SC"/>
              </a:rPr>
              <a:t>Cache Miss</a:t>
            </a:r>
            <a:r>
              <a:rPr lang="zh-CN" altLang="en-US" sz="1300" b="0" i="0" u="none" strike="noStrike" dirty="0">
                <a:solidFill>
                  <a:srgbClr val="2D3748"/>
                </a:solidFill>
                <a:latin typeface="Noto Sans SC"/>
                <a:ea typeface="Noto Sans SC"/>
                <a:cs typeface="Noto Sans SC"/>
                <a:sym typeface="Noto Sans SC"/>
              </a:rPr>
              <a:t>：规律性访问模式</a:t>
            </a:r>
            <a:r>
              <a:rPr lang="en-US" altLang="zh-CN" sz="1300" b="0" i="0" u="none" strike="noStrike" dirty="0">
                <a:solidFill>
                  <a:srgbClr val="2D3748"/>
                </a:solidFill>
                <a:latin typeface="Noto Sans SC"/>
                <a:ea typeface="Noto Sans SC"/>
                <a:cs typeface="Noto Sans SC"/>
                <a:sym typeface="Noto Sans SC"/>
              </a:rPr>
              <a:t>+</a:t>
            </a:r>
            <a:r>
              <a:rPr lang="zh-CN" altLang="en-US" sz="1300" b="0" i="0" u="none" strike="noStrike" dirty="0">
                <a:solidFill>
                  <a:srgbClr val="2D3748"/>
                </a:solidFill>
                <a:latin typeface="Noto Sans SC"/>
                <a:ea typeface="Noto Sans SC"/>
                <a:cs typeface="Noto Sans SC"/>
                <a:sym typeface="Noto Sans SC"/>
              </a:rPr>
              <a:t>显式预取，将缓存未命中转化为命中</a:t>
            </a:r>
          </a:p>
          <a:p>
            <a:pPr>
              <a:lnSpc>
                <a:spcPct val="108333"/>
              </a:lnSpc>
              <a:defRPr/>
            </a:pPr>
            <a:r>
              <a:rPr lang="en-US" altLang="zh-CN" sz="1300" dirty="0">
                <a:solidFill>
                  <a:srgbClr val="2D3748"/>
                </a:solidFill>
                <a:latin typeface="Noto Sans SC"/>
                <a:ea typeface="Noto Sans SC"/>
                <a:cs typeface="Noto Sans SC"/>
                <a:sym typeface="Noto Sans SC"/>
              </a:rPr>
              <a:t>•</a:t>
            </a:r>
            <a:r>
              <a:rPr lang="zh-CN" altLang="en-US" sz="1300" b="1" i="0" u="none" strike="noStrike" dirty="0">
                <a:solidFill>
                  <a:srgbClr val="2D3748"/>
                </a:solidFill>
                <a:latin typeface="Noto Sans SC"/>
                <a:ea typeface="Noto Sans SC"/>
                <a:cs typeface="Noto Sans SC"/>
                <a:sym typeface="Noto Sans SC"/>
              </a:rPr>
              <a:t>隐藏内存延迟</a:t>
            </a:r>
            <a:r>
              <a:rPr lang="zh-CN" altLang="en-US" sz="1300" b="0" i="0" u="none" strike="noStrike" dirty="0">
                <a:solidFill>
                  <a:srgbClr val="2D3748"/>
                </a:solidFill>
                <a:latin typeface="Noto Sans SC"/>
                <a:ea typeface="Noto Sans SC"/>
                <a:cs typeface="Noto Sans SC"/>
                <a:sym typeface="Noto Sans SC"/>
              </a:rPr>
              <a:t>：</a:t>
            </a:r>
            <a:r>
              <a:rPr lang="en-US" altLang="zh-CN" sz="1300" b="0" i="0" u="none" strike="noStrike" dirty="0">
                <a:solidFill>
                  <a:srgbClr val="2D3748"/>
                </a:solidFill>
                <a:latin typeface="Noto Sans SC"/>
                <a:ea typeface="Noto Sans SC"/>
                <a:cs typeface="Noto Sans SC"/>
                <a:sym typeface="Noto Sans SC"/>
              </a:rPr>
              <a:t>Cortex-A53 L1</a:t>
            </a:r>
            <a:r>
              <a:rPr lang="zh-CN" altLang="en-US" sz="1300" b="0" i="0" u="none" strike="noStrike" dirty="0">
                <a:solidFill>
                  <a:srgbClr val="2D3748"/>
                </a:solidFill>
                <a:latin typeface="Noto Sans SC"/>
                <a:ea typeface="Noto Sans SC"/>
                <a:cs typeface="Noto Sans SC"/>
                <a:sym typeface="Noto Sans SC"/>
              </a:rPr>
              <a:t>命中 </a:t>
            </a:r>
            <a:r>
              <a:rPr lang="en-US" altLang="zh-CN" sz="1300" b="0" i="0" u="none" strike="noStrike" dirty="0">
                <a:solidFill>
                  <a:srgbClr val="2D3748"/>
                </a:solidFill>
                <a:latin typeface="Noto Sans SC"/>
                <a:ea typeface="Noto Sans SC"/>
                <a:cs typeface="Noto Sans SC"/>
                <a:sym typeface="Noto Sans SC"/>
              </a:rPr>
              <a:t>1~2</a:t>
            </a:r>
            <a:r>
              <a:rPr lang="zh-CN" altLang="en-US" sz="1300" b="0" i="0" u="none" strike="noStrike" dirty="0">
                <a:solidFill>
                  <a:srgbClr val="2D3748"/>
                </a:solidFill>
                <a:latin typeface="Noto Sans SC"/>
                <a:ea typeface="Noto Sans SC"/>
                <a:cs typeface="Noto Sans SC"/>
                <a:sym typeface="Noto Sans SC"/>
              </a:rPr>
              <a:t>周期 </a:t>
            </a:r>
            <a:r>
              <a:rPr lang="en-US" altLang="zh-CN" sz="1300" b="0" i="0" u="none" strike="noStrike" dirty="0">
                <a:solidFill>
                  <a:srgbClr val="2D3748"/>
                </a:solidFill>
                <a:latin typeface="Noto Sans SC"/>
                <a:ea typeface="Noto Sans SC"/>
                <a:cs typeface="Noto Sans SC"/>
                <a:sym typeface="Noto Sans SC"/>
              </a:rPr>
              <a:t>vs </a:t>
            </a:r>
            <a:r>
              <a:rPr lang="zh-CN" altLang="en-US" sz="1300" b="0" i="0" u="none" strike="noStrike" dirty="0">
                <a:solidFill>
                  <a:srgbClr val="2D3748"/>
                </a:solidFill>
                <a:latin typeface="Noto Sans SC"/>
                <a:ea typeface="Noto Sans SC"/>
                <a:cs typeface="Noto Sans SC"/>
                <a:sym typeface="Noto Sans SC"/>
              </a:rPr>
              <a:t>主存访问 </a:t>
            </a:r>
            <a:r>
              <a:rPr lang="en-US" altLang="zh-CN" sz="1300" b="0" i="0" u="none" strike="noStrike" dirty="0">
                <a:solidFill>
                  <a:srgbClr val="2D3748"/>
                </a:solidFill>
                <a:latin typeface="Noto Sans SC"/>
                <a:ea typeface="Noto Sans SC"/>
                <a:cs typeface="Noto Sans SC"/>
                <a:sym typeface="Noto Sans SC"/>
              </a:rPr>
              <a:t>100~200</a:t>
            </a:r>
            <a:r>
              <a:rPr lang="zh-CN" altLang="en-US" sz="1300" b="0" i="0" u="none" strike="noStrike" dirty="0">
                <a:solidFill>
                  <a:srgbClr val="2D3748"/>
                </a:solidFill>
                <a:latin typeface="Noto Sans SC"/>
                <a:ea typeface="Noto Sans SC"/>
                <a:cs typeface="Noto Sans SC"/>
                <a:sym typeface="Noto Sans SC"/>
              </a:rPr>
              <a:t>周期</a:t>
            </a:r>
          </a:p>
          <a:p>
            <a:pPr>
              <a:lnSpc>
                <a:spcPct val="108333"/>
              </a:lnSpc>
              <a:defRPr/>
            </a:pPr>
            <a:r>
              <a:rPr lang="en-US" altLang="zh-CN" sz="1300" dirty="0">
                <a:solidFill>
                  <a:srgbClr val="2D3748"/>
                </a:solidFill>
                <a:latin typeface="Noto Sans SC"/>
                <a:ea typeface="Noto Sans SC"/>
                <a:cs typeface="Noto Sans SC"/>
                <a:sym typeface="Noto Sans SC"/>
              </a:rPr>
              <a:t>•</a:t>
            </a:r>
            <a:r>
              <a:rPr lang="zh-CN" altLang="en-US" sz="1300" b="1" i="0" u="none" strike="noStrike" dirty="0">
                <a:solidFill>
                  <a:srgbClr val="2D3748"/>
                </a:solidFill>
                <a:latin typeface="Noto Sans SC"/>
                <a:ea typeface="Noto Sans SC"/>
                <a:cs typeface="Noto Sans SC"/>
                <a:sym typeface="Noto Sans SC"/>
              </a:rPr>
              <a:t>突破内存墙</a:t>
            </a:r>
            <a:r>
              <a:rPr lang="zh-CN" altLang="en-US" sz="1300" b="0" i="0" u="none" strike="noStrike" dirty="0">
                <a:solidFill>
                  <a:srgbClr val="2D3748"/>
                </a:solidFill>
                <a:latin typeface="Noto Sans SC"/>
                <a:ea typeface="Noto Sans SC"/>
                <a:cs typeface="Noto Sans SC"/>
                <a:sym typeface="Noto Sans SC"/>
              </a:rPr>
              <a:t>：大规模 </a:t>
            </a:r>
            <a:r>
              <a:rPr lang="en-US" altLang="zh-CN" sz="1300" b="0" i="0" u="none" strike="noStrike" dirty="0">
                <a:solidFill>
                  <a:srgbClr val="2D3748"/>
                </a:solidFill>
                <a:latin typeface="Noto Sans SC"/>
                <a:ea typeface="Noto Sans SC"/>
                <a:cs typeface="Noto Sans SC"/>
                <a:sym typeface="Noto Sans SC"/>
              </a:rPr>
              <a:t>FFT</a:t>
            </a:r>
            <a:r>
              <a:rPr lang="zh-CN" altLang="en-US" sz="1300" b="0" i="0" u="none" strike="noStrike" dirty="0">
                <a:solidFill>
                  <a:srgbClr val="2D3748"/>
                </a:solidFill>
                <a:latin typeface="Noto Sans SC"/>
                <a:ea typeface="Noto Sans SC"/>
                <a:cs typeface="Noto Sans SC"/>
                <a:sym typeface="Noto Sans SC"/>
              </a:rPr>
              <a:t>（≥</a:t>
            </a:r>
            <a:r>
              <a:rPr lang="en-US" altLang="zh-CN" sz="1300" b="0" i="0" u="none" strike="noStrike" dirty="0">
                <a:solidFill>
                  <a:srgbClr val="2D3748"/>
                </a:solidFill>
                <a:latin typeface="Noto Sans SC"/>
                <a:ea typeface="Noto Sans SC"/>
                <a:cs typeface="Noto Sans SC"/>
                <a:sym typeface="Noto Sans SC"/>
              </a:rPr>
              <a:t>32768</a:t>
            </a:r>
            <a:r>
              <a:rPr lang="zh-CN" altLang="en-US" sz="1300" b="0" i="0" u="none" strike="noStrike" dirty="0">
                <a:solidFill>
                  <a:srgbClr val="2D3748"/>
                </a:solidFill>
                <a:latin typeface="Noto Sans SC"/>
                <a:ea typeface="Noto Sans SC"/>
                <a:cs typeface="Noto Sans SC"/>
                <a:sym typeface="Noto Sans SC"/>
              </a:rPr>
              <a:t>点）时效果最明显</a:t>
            </a:r>
            <a:endParaRPr lang="en-US" sz="1300" b="0" i="0" u="none" strike="noStrike" dirty="0">
              <a:solidFill>
                <a:srgbClr val="2D3748"/>
              </a:solidFill>
              <a:latin typeface="Noto Sans SC"/>
              <a:ea typeface="Noto Sans SC"/>
              <a:cs typeface="Noto Sans SC"/>
              <a:sym typeface="Noto Sans SC"/>
            </a:endParaRPr>
          </a:p>
        </p:txBody>
      </p:sp>
      <p:sp>
        <p:nvSpPr>
          <p:cNvPr id="12" name="AutoShape 12"/>
          <p:cNvSpPr/>
          <p:nvPr/>
        </p:nvSpPr>
        <p:spPr>
          <a:xfrm>
            <a:off x="762000" y="5143500"/>
            <a:ext cx="5842000" cy="1460500"/>
          </a:xfrm>
          <a:prstGeom prst="roundRect">
            <a:avLst>
              <a:gd name="adj" fmla="val 1043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334000"/>
            <a:ext cx="304800" cy="304800"/>
          </a:xfrm>
          <a:prstGeom prst="rect">
            <a:avLst/>
          </a:prstGeom>
        </p:spPr>
      </p:pic>
      <p:sp>
        <p:nvSpPr>
          <p:cNvPr id="14" name="AutoShape 14"/>
          <p:cNvSpPr/>
          <p:nvPr/>
        </p:nvSpPr>
        <p:spPr>
          <a:xfrm>
            <a:off x="1460500" y="53086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59E0B"/>
                </a:solidFill>
                <a:latin typeface="Noto Sans SC"/>
                <a:ea typeface="Noto Sans SC"/>
                <a:cs typeface="Noto Sans SC"/>
                <a:sym typeface="Noto Sans SC"/>
              </a:rPr>
              <a:t>体系结构视角分析</a:t>
            </a:r>
            <a:endParaRPr lang="en-US" sz="1100"/>
          </a:p>
        </p:txBody>
      </p:sp>
      <p:sp>
        <p:nvSpPr>
          <p:cNvPr id="15" name="AutoShape 15"/>
          <p:cNvSpPr/>
          <p:nvPr/>
        </p:nvSpPr>
        <p:spPr>
          <a:xfrm>
            <a:off x="1016000" y="5842000"/>
            <a:ext cx="5334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en-US" sz="1300" b="0" i="0" u="none" strike="noStrike" dirty="0">
                <a:solidFill>
                  <a:srgbClr val="2D3748"/>
                </a:solidFill>
                <a:latin typeface="Noto Sans SC"/>
                <a:ea typeface="Noto Sans SC"/>
                <a:cs typeface="Noto Sans SC"/>
                <a:sym typeface="Noto Sans SC"/>
              </a:rPr>
              <a:t>现代 </a:t>
            </a:r>
            <a:r>
              <a:rPr lang="en-US" altLang="zh-CN" sz="1300" b="0" i="0" u="none" strike="noStrike" dirty="0">
                <a:solidFill>
                  <a:srgbClr val="2D3748"/>
                </a:solidFill>
                <a:latin typeface="Noto Sans SC"/>
                <a:ea typeface="Noto Sans SC"/>
                <a:cs typeface="Noto Sans SC"/>
                <a:sym typeface="Noto Sans SC"/>
              </a:rPr>
              <a:t>CPU </a:t>
            </a:r>
            <a:r>
              <a:rPr lang="zh-CN" altLang="en-US" sz="1300" b="0" i="0" u="none" strike="noStrike" dirty="0">
                <a:solidFill>
                  <a:srgbClr val="2D3748"/>
                </a:solidFill>
                <a:latin typeface="Noto Sans SC"/>
                <a:ea typeface="Noto Sans SC"/>
                <a:cs typeface="Noto Sans SC"/>
                <a:sym typeface="Noto Sans SC"/>
              </a:rPr>
              <a:t>性能瓶颈已从计算能力转向</a:t>
            </a:r>
            <a:r>
              <a:rPr lang="zh-CN" altLang="en-US" sz="1300" b="1" i="0" u="none" strike="noStrike" dirty="0">
                <a:solidFill>
                  <a:srgbClr val="2D3748"/>
                </a:solidFill>
                <a:latin typeface="Noto Sans SC"/>
                <a:ea typeface="Noto Sans SC"/>
                <a:cs typeface="Noto Sans SC"/>
                <a:sym typeface="Noto Sans SC"/>
              </a:rPr>
              <a:t>内存墙</a:t>
            </a:r>
            <a:r>
              <a:rPr lang="zh-CN" altLang="en-US" sz="1300" b="0" i="0" u="none" strike="noStrike" dirty="0">
                <a:solidFill>
                  <a:srgbClr val="2D3748"/>
                </a:solidFill>
                <a:latin typeface="Noto Sans SC"/>
                <a:ea typeface="Noto Sans SC"/>
                <a:cs typeface="Noto Sans SC"/>
                <a:sym typeface="Noto Sans SC"/>
              </a:rPr>
              <a:t>（</a:t>
            </a:r>
            <a:r>
              <a:rPr lang="en-US" altLang="zh-CN" sz="1300" b="0" i="0" u="none" strike="noStrike" dirty="0">
                <a:solidFill>
                  <a:srgbClr val="2D3748"/>
                </a:solidFill>
                <a:latin typeface="Noto Sans SC"/>
                <a:ea typeface="Noto Sans SC"/>
                <a:cs typeface="Noto Sans SC"/>
                <a:sym typeface="Noto Sans SC"/>
              </a:rPr>
              <a:t>Memory Wall</a:t>
            </a:r>
            <a:r>
              <a:rPr lang="zh-CN" altLang="en-US" sz="1300" b="0" i="0" u="none" strike="noStrike" dirty="0">
                <a:solidFill>
                  <a:srgbClr val="2D3748"/>
                </a:solidFill>
                <a:latin typeface="Noto Sans SC"/>
                <a:ea typeface="Noto Sans SC"/>
                <a:cs typeface="Noto Sans SC"/>
                <a:sym typeface="Noto Sans SC"/>
              </a:rPr>
              <a:t>）。</a:t>
            </a:r>
          </a:p>
          <a:p>
            <a:pPr indent="0" algn="l">
              <a:lnSpc>
                <a:spcPct val="108333"/>
              </a:lnSpc>
              <a:defRPr/>
            </a:pPr>
            <a:r>
              <a:rPr lang="zh-CN" altLang="en-US" sz="1300" b="0" i="0" u="none" strike="noStrike" dirty="0">
                <a:solidFill>
                  <a:srgbClr val="2D3748"/>
                </a:solidFill>
                <a:latin typeface="Noto Sans SC"/>
                <a:ea typeface="Noto Sans SC"/>
                <a:cs typeface="Noto Sans SC"/>
                <a:sym typeface="Noto Sans SC"/>
              </a:rPr>
              <a:t>预取本质是</a:t>
            </a:r>
            <a:r>
              <a:rPr lang="en-US" altLang="zh-CN" sz="1300" b="0" i="0" u="none" strike="noStrike" dirty="0">
                <a:solidFill>
                  <a:srgbClr val="2D3748"/>
                </a:solidFill>
                <a:latin typeface="Noto Sans SC"/>
                <a:ea typeface="Noto Sans SC"/>
                <a:cs typeface="Noto Sans SC"/>
                <a:sym typeface="Noto Sans SC"/>
              </a:rPr>
              <a:t>"</a:t>
            </a:r>
            <a:r>
              <a:rPr lang="zh-CN" altLang="en-US" sz="1300" b="0" i="0" u="none" strike="noStrike" dirty="0">
                <a:solidFill>
                  <a:srgbClr val="2D3748"/>
                </a:solidFill>
                <a:latin typeface="Noto Sans SC"/>
                <a:ea typeface="Noto Sans SC"/>
                <a:cs typeface="Noto Sans SC"/>
                <a:sym typeface="Noto Sans SC"/>
              </a:rPr>
              <a:t>数据先行</a:t>
            </a:r>
            <a:r>
              <a:rPr lang="en-US" altLang="zh-CN" sz="1300" b="0" i="0" u="none" strike="noStrike" dirty="0">
                <a:solidFill>
                  <a:srgbClr val="2D3748"/>
                </a:solidFill>
                <a:latin typeface="Noto Sans SC"/>
                <a:ea typeface="Noto Sans SC"/>
                <a:cs typeface="Noto Sans SC"/>
                <a:sym typeface="Noto Sans SC"/>
              </a:rPr>
              <a:t>"</a:t>
            </a:r>
            <a:r>
              <a:rPr lang="zh-CN" altLang="en-US" sz="1300" b="0" i="0" u="none" strike="noStrike" dirty="0">
                <a:solidFill>
                  <a:srgbClr val="2D3748"/>
                </a:solidFill>
                <a:latin typeface="Noto Sans SC"/>
                <a:ea typeface="Noto Sans SC"/>
                <a:cs typeface="Noto Sans SC"/>
                <a:sym typeface="Noto Sans SC"/>
              </a:rPr>
              <a:t>策略：</a:t>
            </a:r>
            <a:r>
              <a:rPr lang="en-US" altLang="zh-CN" sz="1300" b="0" i="0" u="none" strike="noStrike" dirty="0">
                <a:solidFill>
                  <a:srgbClr val="2D3748"/>
                </a:solidFill>
                <a:latin typeface="Noto Sans SC"/>
                <a:ea typeface="Noto Sans SC"/>
                <a:cs typeface="Noto Sans SC"/>
                <a:sym typeface="Noto Sans SC"/>
              </a:rPr>
              <a:t>CPU </a:t>
            </a:r>
            <a:r>
              <a:rPr lang="zh-CN" altLang="en-US" sz="1300" b="0" i="0" u="none" strike="noStrike" dirty="0">
                <a:solidFill>
                  <a:srgbClr val="2D3748"/>
                </a:solidFill>
                <a:latin typeface="Noto Sans SC"/>
                <a:ea typeface="Noto Sans SC"/>
                <a:cs typeface="Noto Sans SC"/>
                <a:sym typeface="Noto Sans SC"/>
              </a:rPr>
              <a:t>在计算当前数据时，提前通知缓存系统加载下一批数据。</a:t>
            </a:r>
            <a:endParaRPr lang="en-US" sz="1100" dirty="0"/>
          </a:p>
        </p:txBody>
      </p:sp>
      <p:sp>
        <p:nvSpPr>
          <p:cNvPr id="19" name="Rectangle 2">
            <a:extLst>
              <a:ext uri="{FF2B5EF4-FFF2-40B4-BE49-F238E27FC236}">
                <a16:creationId xmlns:a16="http://schemas.microsoft.com/office/drawing/2014/main" id="{AE2B8405-0C17-7FD4-51F4-B72E9A8C8A0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7" name="Picture 15">
            <a:extLst>
              <a:ext uri="{FF2B5EF4-FFF2-40B4-BE49-F238E27FC236}">
                <a16:creationId xmlns:a16="http://schemas.microsoft.com/office/drawing/2014/main" id="{8A5D44B5-82D8-B714-A202-DD4AFD5E9632}"/>
              </a:ext>
            </a:extLst>
          </p:cNvPr>
          <p:cNvPicPr>
            <a:picLocks noChangeAspect="1"/>
          </p:cNvPicPr>
          <p:nvPr/>
        </p:nvPicPr>
        <p:blipFill>
          <a:blip r:embed="rId7"/>
          <a:srcRect t="3761" b="3761"/>
          <a:stretch>
            <a:fillRect/>
          </a:stretch>
        </p:blipFill>
        <p:spPr>
          <a:xfrm>
            <a:off x="6755117" y="1905000"/>
            <a:ext cx="5080000" cy="3048000"/>
          </a:xfrm>
          <a:prstGeom prst="roundRect">
            <a:avLst>
              <a:gd name="adj" fmla="val 5000"/>
            </a:avLst>
          </a:prstGeom>
          <a:noFill/>
          <a:ln w="38100" cap="flat" cmpd="sng">
            <a:solidFill>
              <a:srgbClr val="FFFFFF">
                <a:alpha val="100000"/>
              </a:srgbClr>
            </a:solidFill>
            <a:prstDash val="solid"/>
            <a:round/>
          </a:ln>
          <a:effectLst>
            <a:outerShdw blurRad="444500" dist="190500" dir="2700000" algn="tl" rotWithShape="0">
              <a:srgbClr val="000000">
                <a:alpha val="25000"/>
              </a:srgbClr>
            </a:outerShdw>
          </a:effectLst>
        </p:spPr>
      </p:pic>
      <p:sp>
        <p:nvSpPr>
          <p:cNvPr id="20" name="AutoShape 16">
            <a:extLst>
              <a:ext uri="{FF2B5EF4-FFF2-40B4-BE49-F238E27FC236}">
                <a16:creationId xmlns:a16="http://schemas.microsoft.com/office/drawing/2014/main" id="{9A29A16E-7E32-0C4B-29C7-CF090322CE7A}"/>
              </a:ext>
            </a:extLst>
          </p:cNvPr>
          <p:cNvSpPr/>
          <p:nvPr/>
        </p:nvSpPr>
        <p:spPr>
          <a:xfrm>
            <a:off x="6755117" y="5207000"/>
            <a:ext cx="5080000" cy="1270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400" b="1" i="0" u="none" strike="noStrike" dirty="0" err="1">
                <a:solidFill>
                  <a:srgbClr val="2D3748"/>
                </a:solidFill>
                <a:latin typeface="Noto Sans SC"/>
                <a:ea typeface="Noto Sans SC"/>
                <a:cs typeface="Noto Sans SC"/>
                <a:sym typeface="Noto Sans SC"/>
              </a:rPr>
              <a:t>内存对齐原理示意</a:t>
            </a:r>
            <a:br>
              <a:rPr lang="en-US" sz="1600" b="0" i="0" u="none" strike="noStrike" dirty="0">
                <a:solidFill>
                  <a:srgbClr val="1F2329"/>
                </a:solidFill>
                <a:latin typeface="Noto Sans SC"/>
                <a:ea typeface="Noto Sans SC"/>
                <a:cs typeface="Noto Sans SC"/>
                <a:sym typeface="Noto Sans SC"/>
              </a:rPr>
            </a:br>
            <a:r>
              <a:rPr lang="en-US" sz="1200" b="0" i="0" u="none" strike="noStrike" dirty="0">
                <a:solidFill>
                  <a:srgbClr val="718096"/>
                </a:solidFill>
                <a:latin typeface="Noto Sans SC"/>
                <a:ea typeface="Noto Sans SC"/>
                <a:cs typeface="Noto Sans SC"/>
                <a:sym typeface="Noto Sans SC"/>
              </a:rPr>
              <a:t>图：32字节对齐确保数据完整落入单一缓存行 (Cache Line)，</a:t>
            </a:r>
            <a:r>
              <a:rPr lang="en-US" sz="1200" b="0" i="0" u="none" strike="noStrike" dirty="0" err="1">
                <a:solidFill>
                  <a:srgbClr val="718096"/>
                </a:solidFill>
                <a:latin typeface="Noto Sans SC"/>
                <a:ea typeface="Noto Sans SC"/>
                <a:cs typeface="Noto Sans SC"/>
                <a:sym typeface="Noto Sans SC"/>
              </a:rPr>
              <a:t>避免“拆分”访问带来的延迟开销</a:t>
            </a:r>
            <a:r>
              <a:rPr lang="en-US" sz="1200" b="0" i="0" u="none" strike="noStrike" dirty="0">
                <a:solidFill>
                  <a:srgbClr val="718096"/>
                </a:solidFill>
                <a:latin typeface="Noto Sans SC"/>
                <a:ea typeface="Noto Sans SC"/>
                <a:cs typeface="Noto Sans SC"/>
                <a:sym typeface="Noto Sans SC"/>
              </a:rPr>
              <a: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C297-3174-8F36-95C1-58CD5033FE93}"/>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516EB5E9-BE0B-13F2-475E-4B769D758075}"/>
              </a:ext>
            </a:extLst>
          </p:cNvPr>
          <p:cNvSpPr>
            <a:spLocks noGrp="1"/>
          </p:cNvSpPr>
          <p:nvPr>
            <p:ph idx="1"/>
          </p:nvPr>
        </p:nvSpPr>
        <p:spPr>
          <a:xfrm>
            <a:off x="154940" y="779780"/>
            <a:ext cx="11853545" cy="5974080"/>
          </a:xfrm>
        </p:spPr>
        <p:txBody>
          <a:bodyPr>
            <a:normAutofit/>
          </a:bodyPr>
          <a:lstStyle/>
          <a:p>
            <a:pPr marL="0" indent="0">
              <a:buNone/>
            </a:pPr>
            <a:endParaRPr lang="en-US" altLang="zh-CN" sz="2400" dirty="0">
              <a:sym typeface="+mn-ea"/>
            </a:endParaRPr>
          </a:p>
          <a:p>
            <a:pPr marL="0" indent="0">
              <a:buNone/>
            </a:pPr>
            <a:endParaRPr lang="zh-CN" altLang="en-US" sz="2400" dirty="0">
              <a:sym typeface="+mn-ea"/>
            </a:endParaRPr>
          </a:p>
          <a:p>
            <a:pPr marL="0" indent="0">
              <a:buNone/>
            </a:pPr>
            <a:endParaRPr lang="zh-CN" altLang="en-US" sz="2400" dirty="0">
              <a:sym typeface="+mn-ea"/>
            </a:endParaRPr>
          </a:p>
          <a:p>
            <a:pPr marL="0" indent="0">
              <a:buNone/>
            </a:pPr>
            <a:endParaRPr lang="zh-CN" altLang="en-US" sz="2400" dirty="0">
              <a:sym typeface="+mn-ea"/>
            </a:endParaRPr>
          </a:p>
        </p:txBody>
      </p:sp>
      <p:sp>
        <p:nvSpPr>
          <p:cNvPr id="5" name="标题 4">
            <a:extLst>
              <a:ext uri="{FF2B5EF4-FFF2-40B4-BE49-F238E27FC236}">
                <a16:creationId xmlns:a16="http://schemas.microsoft.com/office/drawing/2014/main" id="{32C5E9D9-DB60-D791-320F-4DCC8C145838}"/>
              </a:ext>
            </a:extLst>
          </p:cNvPr>
          <p:cNvSpPr>
            <a:spLocks noGrp="1"/>
          </p:cNvSpPr>
          <p:nvPr>
            <p:ph type="title"/>
          </p:nvPr>
        </p:nvSpPr>
        <p:spPr/>
        <p:txBody>
          <a:bodyPr/>
          <a:lstStyle/>
          <a:p>
            <a:r>
              <a:rPr lang="zh-CN" altLang="en-US" dirty="0"/>
              <a:t>程序流程图</a:t>
            </a:r>
          </a:p>
        </p:txBody>
      </p:sp>
      <p:sp>
        <p:nvSpPr>
          <p:cNvPr id="60" name="文本框 59">
            <a:extLst>
              <a:ext uri="{FF2B5EF4-FFF2-40B4-BE49-F238E27FC236}">
                <a16:creationId xmlns:a16="http://schemas.microsoft.com/office/drawing/2014/main" id="{FB4ACC02-CD55-92E1-119E-C50CCFFF22A9}"/>
              </a:ext>
            </a:extLst>
          </p:cNvPr>
          <p:cNvSpPr txBox="1"/>
          <p:nvPr/>
        </p:nvSpPr>
        <p:spPr>
          <a:xfrm>
            <a:off x="384810" y="1046480"/>
            <a:ext cx="3708066"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v4</a:t>
            </a:r>
            <a:r>
              <a:rPr lang="zh-CN" altLang="en-US" sz="2400" dirty="0">
                <a:latin typeface="微软雅黑" panose="020B0503020204020204" pitchFamily="34" charset="-122"/>
                <a:ea typeface="微软雅黑" panose="020B0503020204020204" pitchFamily="34" charset="-122"/>
              </a:rPr>
              <a:t>：内存对齐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软件预取</a:t>
            </a:r>
          </a:p>
        </p:txBody>
      </p:sp>
      <p:pic>
        <p:nvPicPr>
          <p:cNvPr id="4" name="图片 3">
            <a:extLst>
              <a:ext uri="{FF2B5EF4-FFF2-40B4-BE49-F238E27FC236}">
                <a16:creationId xmlns:a16="http://schemas.microsoft.com/office/drawing/2014/main" id="{754229EC-E15D-E7CB-4294-F42CF0E6EA78}"/>
              </a:ext>
            </a:extLst>
          </p:cNvPr>
          <p:cNvPicPr>
            <a:picLocks noChangeAspect="1"/>
          </p:cNvPicPr>
          <p:nvPr/>
        </p:nvPicPr>
        <p:blipFill>
          <a:blip r:embed="rId3"/>
          <a:stretch>
            <a:fillRect/>
          </a:stretch>
        </p:blipFill>
        <p:spPr>
          <a:xfrm>
            <a:off x="0" y="2531583"/>
            <a:ext cx="12192000" cy="1794834"/>
          </a:xfrm>
          <a:prstGeom prst="rect">
            <a:avLst/>
          </a:prstGeom>
        </p:spPr>
      </p:pic>
    </p:spTree>
    <p:extLst>
      <p:ext uri="{BB962C8B-B14F-4D97-AF65-F5344CB8AC3E}">
        <p14:creationId xmlns:p14="http://schemas.microsoft.com/office/powerpoint/2010/main" val="2425244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97542" y="82296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2D3748"/>
                </a:solidFill>
                <a:latin typeface="Noto Sans SC"/>
                <a:ea typeface="Noto Sans SC"/>
                <a:cs typeface="Noto Sans SC"/>
                <a:sym typeface="Noto Sans SC"/>
              </a:rPr>
              <a:t>不同版本执行时间对比</a:t>
            </a:r>
            <a:endParaRPr lang="en-US" sz="1100" dirty="0"/>
          </a:p>
        </p:txBody>
      </p:sp>
      <p:sp>
        <p:nvSpPr>
          <p:cNvPr id="5" name="AutoShape 5"/>
          <p:cNvSpPr/>
          <p:nvPr/>
        </p:nvSpPr>
        <p:spPr>
          <a:xfrm>
            <a:off x="6604000" y="2090517"/>
            <a:ext cx="4826000" cy="4445000"/>
          </a:xfrm>
          <a:prstGeom prst="roundRect">
            <a:avLst>
              <a:gd name="adj" fmla="val 3428"/>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6" name="AutoShape 6"/>
          <p:cNvSpPr/>
          <p:nvPr/>
        </p:nvSpPr>
        <p:spPr>
          <a:xfrm>
            <a:off x="6858000" y="2032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2D3748"/>
                </a:solidFill>
                <a:latin typeface="Noto Sans SC"/>
                <a:ea typeface="Noto Sans SC"/>
                <a:cs typeface="Noto Sans SC"/>
                <a:sym typeface="Noto Sans SC"/>
              </a:rPr>
              <a:t>💡 实验结果洞察</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0" y="2730500"/>
            <a:ext cx="254000" cy="254000"/>
          </a:xfrm>
          <a:prstGeom prst="rect">
            <a:avLst/>
          </a:prstGeom>
        </p:spPr>
      </p:pic>
      <p:sp>
        <p:nvSpPr>
          <p:cNvPr id="8" name="AutoShape 8"/>
          <p:cNvSpPr/>
          <p:nvPr/>
        </p:nvSpPr>
        <p:spPr>
          <a:xfrm>
            <a:off x="7239000" y="26924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dirty="0" err="1">
                <a:solidFill>
                  <a:srgbClr val="2D3748"/>
                </a:solidFill>
                <a:latin typeface="Noto Sans SC"/>
                <a:ea typeface="Noto Sans SC"/>
                <a:cs typeface="Noto Sans SC"/>
                <a:sym typeface="Noto Sans SC"/>
              </a:rPr>
              <a:t>原始版</a:t>
            </a:r>
            <a:r>
              <a:rPr lang="en-US" sz="1300" b="1" i="0" u="none" strike="noStrike" dirty="0">
                <a:solidFill>
                  <a:srgbClr val="2D374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预计算旋转因子 </a:t>
            </a:r>
            <a:r>
              <a:rPr lang="en-US" altLang="zh-CN" sz="1300" b="0" i="0" u="none" strike="noStrike" dirty="0">
                <a:solidFill>
                  <a:srgbClr val="4A5568"/>
                </a:solidFill>
                <a:latin typeface="Noto Sans SC"/>
                <a:ea typeface="Noto Sans SC"/>
                <a:cs typeface="Noto Sans SC"/>
                <a:sym typeface="Noto Sans SC"/>
              </a:rPr>
              <a:t>+ </a:t>
            </a:r>
            <a:r>
              <a:rPr lang="zh-CN" altLang="en-US" sz="1300" b="0" i="0" u="none" strike="noStrike" dirty="0">
                <a:solidFill>
                  <a:srgbClr val="4A5568"/>
                </a:solidFill>
                <a:latin typeface="Noto Sans SC"/>
                <a:ea typeface="Noto Sans SC"/>
                <a:cs typeface="Noto Sans SC"/>
                <a:sym typeface="Noto Sans SC"/>
              </a:rPr>
              <a:t>部分 </a:t>
            </a:r>
            <a:r>
              <a:rPr lang="en-US" altLang="zh-CN" sz="1300" b="0" i="0" u="none" strike="noStrike" dirty="0">
                <a:solidFill>
                  <a:srgbClr val="4A5568"/>
                </a:solidFill>
                <a:latin typeface="Noto Sans SC"/>
                <a:ea typeface="Noto Sans SC"/>
                <a:cs typeface="Noto Sans SC"/>
                <a:sym typeface="Noto Sans SC"/>
              </a:rPr>
              <a:t>NEON</a:t>
            </a:r>
            <a:r>
              <a:rPr lang="zh-CN" altLang="en-US" sz="1300" b="0" i="0" u="none" strike="noStrike" dirty="0">
                <a:solidFill>
                  <a:srgbClr val="4A5568"/>
                </a:solidFill>
                <a:latin typeface="Noto Sans SC"/>
                <a:ea typeface="Noto Sans SC"/>
                <a:cs typeface="Noto Sans SC"/>
                <a:sym typeface="Noto Sans SC"/>
              </a:rPr>
              <a:t>，作为本次测试的性能基准线</a:t>
            </a:r>
            <a:endParaRPr lang="en-US" sz="1100"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8000" y="3429000"/>
            <a:ext cx="254000" cy="254000"/>
          </a:xfrm>
          <a:prstGeom prst="rect">
            <a:avLst/>
          </a:prstGeom>
        </p:spPr>
      </p:pic>
      <p:sp>
        <p:nvSpPr>
          <p:cNvPr id="10" name="AutoShape 10"/>
          <p:cNvSpPr/>
          <p:nvPr/>
        </p:nvSpPr>
        <p:spPr>
          <a:xfrm>
            <a:off x="7239000" y="33909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dirty="0">
                <a:solidFill>
                  <a:srgbClr val="2D3748"/>
                </a:solidFill>
                <a:latin typeface="Noto Sans SC"/>
                <a:ea typeface="Noto Sans SC"/>
                <a:cs typeface="Noto Sans SC"/>
                <a:sym typeface="Noto Sans SC"/>
              </a:rPr>
              <a:t>v1 </a:t>
            </a:r>
            <a:r>
              <a:rPr lang="zh-CN" altLang="en-US" sz="1300" b="1" dirty="0">
                <a:solidFill>
                  <a:srgbClr val="2D3748"/>
                </a:solidFill>
                <a:latin typeface="Noto Sans SC"/>
                <a:ea typeface="Noto Sans SC"/>
                <a:cs typeface="Noto Sans SC"/>
                <a:sym typeface="Noto Sans SC"/>
              </a:rPr>
              <a:t>查表法</a:t>
            </a:r>
            <a:r>
              <a:rPr lang="en-US" sz="1300" b="1" i="0" u="none" strike="noStrike" dirty="0">
                <a:solidFill>
                  <a:srgbClr val="2D374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各规模与 </a:t>
            </a:r>
            <a:r>
              <a:rPr lang="en-US" altLang="zh-CN" sz="1300" b="0" i="0" u="none" strike="noStrike" dirty="0">
                <a:solidFill>
                  <a:srgbClr val="4A5568"/>
                </a:solidFill>
                <a:latin typeface="Noto Sans SC"/>
                <a:ea typeface="Noto Sans SC"/>
                <a:cs typeface="Noto Sans SC"/>
                <a:sym typeface="Noto Sans SC"/>
              </a:rPr>
              <a:t>V0 </a:t>
            </a:r>
            <a:r>
              <a:rPr lang="zh-CN" altLang="en-US" sz="1300" b="0" i="0" u="none" strike="noStrike" dirty="0">
                <a:solidFill>
                  <a:srgbClr val="4A5568"/>
                </a:solidFill>
                <a:latin typeface="Noto Sans SC"/>
                <a:ea typeface="Noto Sans SC"/>
                <a:cs typeface="Noto Sans SC"/>
                <a:sym typeface="Noto Sans SC"/>
              </a:rPr>
              <a:t>性能接近，</a:t>
            </a:r>
            <a:r>
              <a:rPr lang="en-US" altLang="zh-CN" sz="1300" b="0" i="0" u="none" strike="noStrike" dirty="0">
                <a:solidFill>
                  <a:srgbClr val="4A5568"/>
                </a:solidFill>
                <a:latin typeface="Noto Sans SC"/>
                <a:ea typeface="Noto Sans SC"/>
                <a:cs typeface="Noto Sans SC"/>
                <a:sym typeface="Noto Sans SC"/>
              </a:rPr>
              <a:t>float </a:t>
            </a:r>
            <a:r>
              <a:rPr lang="zh-CN" altLang="en-US" sz="1300" b="0" i="0" u="none" strike="noStrike" dirty="0">
                <a:solidFill>
                  <a:srgbClr val="4A5568"/>
                </a:solidFill>
                <a:latin typeface="Noto Sans SC"/>
                <a:ea typeface="Noto Sans SC"/>
                <a:cs typeface="Noto Sans SC"/>
                <a:sym typeface="Noto Sans SC"/>
              </a:rPr>
              <a:t>查表替代 </a:t>
            </a:r>
            <a:r>
              <a:rPr lang="en-US" altLang="zh-CN" sz="1300" b="0" i="0" u="none" strike="noStrike" dirty="0">
                <a:solidFill>
                  <a:srgbClr val="4A5568"/>
                </a:solidFill>
                <a:latin typeface="Noto Sans SC"/>
                <a:ea typeface="Noto Sans SC"/>
                <a:cs typeface="Noto Sans SC"/>
                <a:sym typeface="Noto Sans SC"/>
              </a:rPr>
              <a:t>double </a:t>
            </a:r>
            <a:r>
              <a:rPr lang="zh-CN" altLang="en-US" sz="1300" b="0" i="0" u="none" strike="noStrike" dirty="0">
                <a:solidFill>
                  <a:srgbClr val="4A5568"/>
                </a:solidFill>
                <a:latin typeface="Noto Sans SC"/>
                <a:ea typeface="Noto Sans SC"/>
                <a:cs typeface="Noto Sans SC"/>
                <a:sym typeface="Noto Sans SC"/>
              </a:rPr>
              <a:t>预计算，消除三角函数调用开销，是代码改动最小的优化</a:t>
            </a:r>
            <a:endParaRPr lang="en-US" sz="1100" dirty="0"/>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0" y="4127500"/>
            <a:ext cx="254000" cy="254000"/>
          </a:xfrm>
          <a:prstGeom prst="rect">
            <a:avLst/>
          </a:prstGeom>
        </p:spPr>
      </p:pic>
      <p:sp>
        <p:nvSpPr>
          <p:cNvPr id="12" name="AutoShape 12"/>
          <p:cNvSpPr/>
          <p:nvPr/>
        </p:nvSpPr>
        <p:spPr>
          <a:xfrm>
            <a:off x="7239000" y="40894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dirty="0">
                <a:solidFill>
                  <a:srgbClr val="2D3748"/>
                </a:solidFill>
                <a:latin typeface="Noto Sans SC"/>
                <a:ea typeface="Noto Sans SC"/>
                <a:cs typeface="Noto Sans SC"/>
                <a:sym typeface="Noto Sans SC"/>
              </a:rPr>
              <a:t>v2 NEON SIMD ：</a:t>
            </a:r>
            <a:r>
              <a:rPr lang="en-US" altLang="zh-CN" sz="1300" b="0" i="0" u="none" strike="noStrike" dirty="0">
                <a:solidFill>
                  <a:srgbClr val="4A5568"/>
                </a:solidFill>
                <a:latin typeface="Noto Sans SC"/>
                <a:ea typeface="Noto Sans SC"/>
                <a:cs typeface="Noto Sans SC"/>
                <a:sym typeface="Noto Sans SC"/>
              </a:rPr>
              <a:t>1024/2048 </a:t>
            </a:r>
            <a:r>
              <a:rPr lang="zh-CN" altLang="en-US" sz="1300" b="0" i="0" u="none" strike="noStrike" dirty="0">
                <a:solidFill>
                  <a:srgbClr val="4A5568"/>
                </a:solidFill>
                <a:latin typeface="Noto Sans SC"/>
                <a:ea typeface="Noto Sans SC"/>
                <a:cs typeface="Noto Sans SC"/>
                <a:sym typeface="Noto Sans SC"/>
              </a:rPr>
              <a:t>点时性能略优</a:t>
            </a:r>
            <a:r>
              <a:rPr lang="en-US" altLang="zh-CN" sz="1300" b="0" i="0" u="none" strike="noStrike" dirty="0">
                <a:solidFill>
                  <a:srgbClr val="4A5568"/>
                </a:solidFill>
                <a:latin typeface="Noto Sans SC"/>
                <a:ea typeface="Noto Sans SC"/>
                <a:cs typeface="Noto Sans SC"/>
                <a:sym typeface="Noto Sans SC"/>
              </a:rPr>
              <a:t>(0.0316ms / 0.0673ms</a:t>
            </a:r>
            <a:r>
              <a:rPr lang="en-US" altLang="zh-CN" sz="1300"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，融合乘加指令 </a:t>
            </a:r>
            <a:r>
              <a:rPr lang="en-US" altLang="zh-CN" sz="1300" b="0" i="0" u="none" strike="noStrike" dirty="0">
                <a:solidFill>
                  <a:srgbClr val="4A5568"/>
                </a:solidFill>
                <a:latin typeface="Noto Sans SC"/>
                <a:ea typeface="Noto Sans SC"/>
                <a:cs typeface="Noto Sans SC"/>
                <a:sym typeface="Noto Sans SC"/>
              </a:rPr>
              <a:t>+ 4 </a:t>
            </a:r>
            <a:r>
              <a:rPr lang="zh-CN" altLang="en-US" sz="1300" b="0" i="0" u="none" strike="noStrike" dirty="0">
                <a:solidFill>
                  <a:srgbClr val="4A5568"/>
                </a:solidFill>
                <a:latin typeface="Noto Sans SC"/>
                <a:ea typeface="Noto Sans SC"/>
                <a:cs typeface="Noto Sans SC"/>
                <a:sym typeface="Noto Sans SC"/>
              </a:rPr>
              <a:t>路并行，大规模下优势更明显</a:t>
            </a:r>
            <a:endParaRPr lang="en-US" sz="1100" dirty="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58000" y="4826000"/>
            <a:ext cx="254000" cy="254000"/>
          </a:xfrm>
          <a:prstGeom prst="rect">
            <a:avLst/>
          </a:prstGeom>
        </p:spPr>
      </p:pic>
      <p:sp>
        <p:nvSpPr>
          <p:cNvPr id="14" name="AutoShape 14"/>
          <p:cNvSpPr/>
          <p:nvPr/>
        </p:nvSpPr>
        <p:spPr>
          <a:xfrm>
            <a:off x="7239000" y="47879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dirty="0">
                <a:solidFill>
                  <a:srgbClr val="2D3748"/>
                </a:solidFill>
                <a:latin typeface="Noto Sans SC"/>
                <a:ea typeface="Noto Sans SC"/>
                <a:cs typeface="Noto Sans SC"/>
                <a:sym typeface="Noto Sans SC"/>
              </a:rPr>
              <a:t>v3</a:t>
            </a:r>
            <a:r>
              <a:rPr lang="zh-CN" altLang="en-US" sz="1300" b="1" dirty="0">
                <a:solidFill>
                  <a:srgbClr val="2D3748"/>
                </a:solidFill>
                <a:latin typeface="Noto Sans SC"/>
                <a:ea typeface="Noto Sans SC"/>
                <a:cs typeface="Noto Sans SC"/>
                <a:sym typeface="Noto Sans SC"/>
              </a:rPr>
              <a:t>缓存友好</a:t>
            </a:r>
            <a:r>
              <a:rPr lang="en-US" sz="1300" b="1" i="0" u="none" strike="noStrike" dirty="0">
                <a:solidFill>
                  <a:srgbClr val="2D3748"/>
                </a:solidFill>
                <a:latin typeface="Noto Sans SC"/>
                <a:ea typeface="Noto Sans SC"/>
                <a:cs typeface="Noto Sans SC"/>
                <a:sym typeface="Noto Sans SC"/>
              </a:rPr>
              <a:t>：</a:t>
            </a:r>
            <a:r>
              <a:rPr lang="en-US" altLang="zh-CN" sz="1300" b="0" i="0" u="none" strike="noStrike" dirty="0">
                <a:solidFill>
                  <a:srgbClr val="4A5568"/>
                </a:solidFill>
                <a:latin typeface="Noto Sans SC"/>
                <a:ea typeface="Noto Sans SC"/>
                <a:cs typeface="Noto Sans SC"/>
                <a:sym typeface="Noto Sans SC"/>
              </a:rPr>
              <a:t>1024 </a:t>
            </a:r>
            <a:r>
              <a:rPr lang="zh-CN" altLang="en-US" sz="1300" b="0" i="0" u="none" strike="noStrike" dirty="0">
                <a:solidFill>
                  <a:srgbClr val="4A5568"/>
                </a:solidFill>
                <a:latin typeface="Noto Sans SC"/>
                <a:ea typeface="Noto Sans SC"/>
                <a:cs typeface="Noto Sans SC"/>
                <a:sym typeface="Noto Sans SC"/>
              </a:rPr>
              <a:t>点表现最好（</a:t>
            </a:r>
            <a:r>
              <a:rPr lang="en-US" altLang="zh-CN" sz="1300" b="0" i="0" u="none" strike="noStrike" dirty="0">
                <a:solidFill>
                  <a:srgbClr val="4A5568"/>
                </a:solidFill>
                <a:latin typeface="Noto Sans SC"/>
                <a:ea typeface="Noto Sans SC"/>
                <a:cs typeface="Noto Sans SC"/>
                <a:sym typeface="Noto Sans SC"/>
              </a:rPr>
              <a:t>0.0308ms</a:t>
            </a:r>
            <a:r>
              <a:rPr lang="zh-CN" altLang="en-US" sz="1300" b="0" i="0" u="none" strike="noStrike" dirty="0">
                <a:solidFill>
                  <a:srgbClr val="4A5568"/>
                </a:solidFill>
                <a:latin typeface="Noto Sans SC"/>
                <a:ea typeface="Noto Sans SC"/>
                <a:cs typeface="Noto Sans SC"/>
                <a:sym typeface="Noto Sans SC"/>
              </a:rPr>
              <a:t>），小规模数据完全在 </a:t>
            </a:r>
            <a:r>
              <a:rPr lang="en-US" altLang="zh-CN" sz="1300" b="0" i="0" u="none" strike="noStrike" dirty="0">
                <a:solidFill>
                  <a:srgbClr val="4A5568"/>
                </a:solidFill>
                <a:latin typeface="Noto Sans SC"/>
                <a:ea typeface="Noto Sans SC"/>
                <a:cs typeface="Noto Sans SC"/>
                <a:sym typeface="Noto Sans SC"/>
              </a:rPr>
              <a:t>L1 </a:t>
            </a:r>
            <a:r>
              <a:rPr lang="zh-CN" altLang="en-US" sz="1300" b="0" i="0" u="none" strike="noStrike" dirty="0">
                <a:solidFill>
                  <a:srgbClr val="4A5568"/>
                </a:solidFill>
                <a:latin typeface="Noto Sans SC"/>
                <a:ea typeface="Noto Sans SC"/>
                <a:cs typeface="Noto Sans SC"/>
                <a:sym typeface="Noto Sans SC"/>
              </a:rPr>
              <a:t>缓存内时有效，但大规模下与 </a:t>
            </a:r>
            <a:r>
              <a:rPr lang="en-US" altLang="zh-CN" sz="1300" b="0" i="0" u="none" strike="noStrike" dirty="0">
                <a:solidFill>
                  <a:srgbClr val="4A5568"/>
                </a:solidFill>
                <a:latin typeface="Noto Sans SC"/>
                <a:ea typeface="Noto Sans SC"/>
                <a:cs typeface="Noto Sans SC"/>
                <a:sym typeface="Noto Sans SC"/>
              </a:rPr>
              <a:t>V0 </a:t>
            </a:r>
            <a:r>
              <a:rPr lang="zh-CN" altLang="en-US" sz="1300" b="0" i="0" u="none" strike="noStrike" dirty="0">
                <a:solidFill>
                  <a:srgbClr val="4A5568"/>
                </a:solidFill>
                <a:latin typeface="Noto Sans SC"/>
                <a:ea typeface="Noto Sans SC"/>
                <a:cs typeface="Noto Sans SC"/>
                <a:sym typeface="Noto Sans SC"/>
              </a:rPr>
              <a:t>持平，受限于缓存容量</a:t>
            </a:r>
            <a:endParaRPr lang="en-US" sz="1100" dirty="0"/>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58000" y="5524500"/>
            <a:ext cx="254000" cy="254000"/>
          </a:xfrm>
          <a:prstGeom prst="rect">
            <a:avLst/>
          </a:prstGeom>
        </p:spPr>
      </p:pic>
      <p:sp>
        <p:nvSpPr>
          <p:cNvPr id="16" name="AutoShape 16"/>
          <p:cNvSpPr/>
          <p:nvPr/>
        </p:nvSpPr>
        <p:spPr>
          <a:xfrm>
            <a:off x="7239000" y="54864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dirty="0">
                <a:solidFill>
                  <a:srgbClr val="2D3748"/>
                </a:solidFill>
                <a:latin typeface="Noto Sans SC"/>
                <a:ea typeface="Noto Sans SC"/>
                <a:cs typeface="Noto Sans SC"/>
                <a:sym typeface="Noto Sans SC"/>
              </a:rPr>
              <a:t>v5</a:t>
            </a:r>
            <a:r>
              <a:rPr lang="zh-CN" altLang="en-US" sz="1300" b="1" i="0" u="none" strike="noStrike" dirty="0">
                <a:solidFill>
                  <a:srgbClr val="2D3748"/>
                </a:solidFill>
                <a:latin typeface="Noto Sans SC"/>
                <a:ea typeface="Noto Sans SC"/>
                <a:cs typeface="Noto Sans SC"/>
                <a:sym typeface="Noto Sans SC"/>
              </a:rPr>
              <a:t>对齐预取</a:t>
            </a:r>
            <a:r>
              <a:rPr lang="en-US" sz="1300" b="1" i="0" u="none" strike="noStrike" dirty="0">
                <a:solidFill>
                  <a:srgbClr val="2D3748"/>
                </a:solidFill>
                <a:latin typeface="Noto Sans SC"/>
                <a:ea typeface="Noto Sans SC"/>
                <a:cs typeface="Noto Sans SC"/>
                <a:sym typeface="Noto Sans SC"/>
              </a:rPr>
              <a:t>：</a:t>
            </a:r>
            <a:r>
              <a:rPr lang="en-US" altLang="zh-CN" sz="1300" b="0" i="0" u="none" strike="noStrike" dirty="0">
                <a:solidFill>
                  <a:srgbClr val="4A5568"/>
                </a:solidFill>
                <a:latin typeface="Noto Sans SC"/>
                <a:ea typeface="Noto Sans SC"/>
                <a:cs typeface="Noto Sans SC"/>
                <a:sym typeface="Noto Sans SC"/>
              </a:rPr>
              <a:t>512~2048 </a:t>
            </a:r>
            <a:r>
              <a:rPr lang="zh-CN" altLang="en-US" sz="1300" b="0" i="0" u="none" strike="noStrike" dirty="0">
                <a:solidFill>
                  <a:srgbClr val="4A5568"/>
                </a:solidFill>
                <a:latin typeface="Noto Sans SC"/>
                <a:ea typeface="Noto Sans SC"/>
                <a:cs typeface="Noto Sans SC"/>
                <a:sym typeface="Noto Sans SC"/>
              </a:rPr>
              <a:t>点接近 </a:t>
            </a:r>
            <a:r>
              <a:rPr lang="en-US" altLang="zh-CN" sz="1300" b="0" i="0" u="none" strike="noStrike" dirty="0">
                <a:solidFill>
                  <a:srgbClr val="4A5568"/>
                </a:solidFill>
                <a:latin typeface="Noto Sans SC"/>
                <a:ea typeface="Noto Sans SC"/>
                <a:cs typeface="Noto Sans SC"/>
                <a:sym typeface="Noto Sans SC"/>
              </a:rPr>
              <a:t>V0</a:t>
            </a:r>
            <a:r>
              <a:rPr lang="zh-CN" altLang="en-US" sz="1300" b="0" i="0" u="none" strike="noStrike" dirty="0">
                <a:solidFill>
                  <a:srgbClr val="4A5568"/>
                </a:solidFill>
                <a:latin typeface="Noto Sans SC"/>
                <a:ea typeface="Noto Sans SC"/>
                <a:cs typeface="Noto Sans SC"/>
                <a:sym typeface="Noto Sans SC"/>
              </a:rPr>
              <a:t>，</a:t>
            </a:r>
            <a:r>
              <a:rPr lang="en-US" altLang="zh-CN" sz="1300" b="0" i="0" u="none" strike="noStrike" dirty="0">
                <a:solidFill>
                  <a:srgbClr val="4A5568"/>
                </a:solidFill>
                <a:latin typeface="Noto Sans SC"/>
                <a:ea typeface="Noto Sans SC"/>
                <a:cs typeface="Noto Sans SC"/>
                <a:sym typeface="Noto Sans SC"/>
              </a:rPr>
              <a:t>4096 </a:t>
            </a:r>
            <a:r>
              <a:rPr lang="zh-CN" altLang="en-US" sz="1300" b="0" i="0" u="none" strike="noStrike" dirty="0">
                <a:solidFill>
                  <a:srgbClr val="4A5568"/>
                </a:solidFill>
                <a:latin typeface="Noto Sans SC"/>
                <a:ea typeface="Noto Sans SC"/>
                <a:cs typeface="Noto Sans SC"/>
                <a:sym typeface="Noto Sans SC"/>
              </a:rPr>
              <a:t>点略慢（</a:t>
            </a:r>
            <a:r>
              <a:rPr lang="en-US" altLang="zh-CN" sz="1300" b="0" i="0" u="none" strike="noStrike" dirty="0">
                <a:solidFill>
                  <a:srgbClr val="4A5568"/>
                </a:solidFill>
                <a:latin typeface="Noto Sans SC"/>
                <a:ea typeface="Noto Sans SC"/>
                <a:cs typeface="Noto Sans SC"/>
                <a:sym typeface="Noto Sans SC"/>
              </a:rPr>
              <a:t>0.1483ms</a:t>
            </a:r>
            <a:r>
              <a:rPr lang="zh-CN" altLang="en-US" sz="1300" b="0" i="0" u="none" strike="noStrike" dirty="0">
                <a:solidFill>
                  <a:srgbClr val="4A5568"/>
                </a:solidFill>
                <a:latin typeface="Noto Sans SC"/>
                <a:ea typeface="Noto Sans SC"/>
                <a:cs typeface="Noto Sans SC"/>
                <a:sym typeface="Noto Sans SC"/>
              </a:rPr>
              <a:t>），预取收益需在数据量超过 </a:t>
            </a:r>
            <a:r>
              <a:rPr lang="en-US" altLang="zh-CN" sz="1300" b="0" i="0" u="none" strike="noStrike" dirty="0">
                <a:solidFill>
                  <a:srgbClr val="4A5568"/>
                </a:solidFill>
                <a:latin typeface="Noto Sans SC"/>
                <a:ea typeface="Noto Sans SC"/>
                <a:cs typeface="Noto Sans SC"/>
                <a:sym typeface="Noto Sans SC"/>
              </a:rPr>
              <a:t>L2 </a:t>
            </a:r>
            <a:r>
              <a:rPr lang="zh-CN" altLang="en-US" sz="1300" b="0" i="0" u="none" strike="noStrike" dirty="0">
                <a:solidFill>
                  <a:srgbClr val="4A5568"/>
                </a:solidFill>
                <a:latin typeface="Noto Sans SC"/>
                <a:ea typeface="Noto Sans SC"/>
                <a:cs typeface="Noto Sans SC"/>
                <a:sym typeface="Noto Sans SC"/>
              </a:rPr>
              <a:t>缓存（</a:t>
            </a:r>
            <a:r>
              <a:rPr lang="en-US" altLang="zh-CN" sz="1300" b="0" i="0" u="none" strike="noStrike" dirty="0">
                <a:solidFill>
                  <a:srgbClr val="4A5568"/>
                </a:solidFill>
                <a:latin typeface="Noto Sans SC"/>
                <a:ea typeface="Noto Sans SC"/>
                <a:cs typeface="Noto Sans SC"/>
                <a:sym typeface="Noto Sans SC"/>
              </a:rPr>
              <a:t>&gt;32KB</a:t>
            </a:r>
            <a:r>
              <a:rPr lang="zh-CN" altLang="en-US" sz="1300" b="0" i="0" u="none" strike="noStrike" dirty="0">
                <a:solidFill>
                  <a:srgbClr val="4A5568"/>
                </a:solidFill>
                <a:latin typeface="Noto Sans SC"/>
                <a:ea typeface="Noto Sans SC"/>
                <a:cs typeface="Noto Sans SC"/>
                <a:sym typeface="Noto Sans SC"/>
              </a:rPr>
              <a:t>）时才显现</a:t>
            </a:r>
            <a:r>
              <a:rPr lang="en-US" sz="1300" b="0" i="0" u="none" strike="noStrike" dirty="0">
                <a:solidFill>
                  <a:srgbClr val="4A5568"/>
                </a:solidFill>
                <a:latin typeface="Noto Sans SC"/>
                <a:ea typeface="Noto Sans SC"/>
                <a:cs typeface="Noto Sans SC"/>
                <a:sym typeface="Noto Sans SC"/>
              </a:rPr>
              <a:t>。</a:t>
            </a:r>
            <a:endParaRPr lang="en-US" sz="1100" dirty="0"/>
          </a:p>
        </p:txBody>
      </p:sp>
      <p:graphicFrame>
        <p:nvGraphicFramePr>
          <p:cNvPr id="19" name="表格 18">
            <a:extLst>
              <a:ext uri="{FF2B5EF4-FFF2-40B4-BE49-F238E27FC236}">
                <a16:creationId xmlns:a16="http://schemas.microsoft.com/office/drawing/2014/main" id="{A9AB3749-0F9F-684B-0007-B7FD90A23ADC}"/>
              </a:ext>
            </a:extLst>
          </p:cNvPr>
          <p:cNvGraphicFramePr>
            <a:graphicFrameLocks noGrp="1"/>
          </p:cNvGraphicFramePr>
          <p:nvPr>
            <p:extLst>
              <p:ext uri="{D42A27DB-BD31-4B8C-83A1-F6EECF244321}">
                <p14:modId xmlns:p14="http://schemas.microsoft.com/office/powerpoint/2010/main" val="1664198817"/>
              </p:ext>
            </p:extLst>
          </p:nvPr>
        </p:nvGraphicFramePr>
        <p:xfrm>
          <a:off x="4689491" y="132080"/>
          <a:ext cx="6430722" cy="1767840"/>
        </p:xfrm>
        <a:graphic>
          <a:graphicData uri="http://schemas.openxmlformats.org/drawingml/2006/table">
            <a:tbl>
              <a:tblPr firstRow="1" bandRow="1">
                <a:tableStyleId>{5C22544A-7EE6-4342-B048-85BDC9FD1C3A}</a:tableStyleId>
              </a:tblPr>
              <a:tblGrid>
                <a:gridCol w="1071787">
                  <a:extLst>
                    <a:ext uri="{9D8B030D-6E8A-4147-A177-3AD203B41FA5}">
                      <a16:colId xmlns:a16="http://schemas.microsoft.com/office/drawing/2014/main" val="2550902313"/>
                    </a:ext>
                  </a:extLst>
                </a:gridCol>
                <a:gridCol w="1071787">
                  <a:extLst>
                    <a:ext uri="{9D8B030D-6E8A-4147-A177-3AD203B41FA5}">
                      <a16:colId xmlns:a16="http://schemas.microsoft.com/office/drawing/2014/main" val="475842514"/>
                    </a:ext>
                  </a:extLst>
                </a:gridCol>
                <a:gridCol w="1071787">
                  <a:extLst>
                    <a:ext uri="{9D8B030D-6E8A-4147-A177-3AD203B41FA5}">
                      <a16:colId xmlns:a16="http://schemas.microsoft.com/office/drawing/2014/main" val="3573888962"/>
                    </a:ext>
                  </a:extLst>
                </a:gridCol>
                <a:gridCol w="1071787">
                  <a:extLst>
                    <a:ext uri="{9D8B030D-6E8A-4147-A177-3AD203B41FA5}">
                      <a16:colId xmlns:a16="http://schemas.microsoft.com/office/drawing/2014/main" val="3842464695"/>
                    </a:ext>
                  </a:extLst>
                </a:gridCol>
                <a:gridCol w="1071787">
                  <a:extLst>
                    <a:ext uri="{9D8B030D-6E8A-4147-A177-3AD203B41FA5}">
                      <a16:colId xmlns:a16="http://schemas.microsoft.com/office/drawing/2014/main" val="2425079967"/>
                    </a:ext>
                  </a:extLst>
                </a:gridCol>
                <a:gridCol w="1071787">
                  <a:extLst>
                    <a:ext uri="{9D8B030D-6E8A-4147-A177-3AD203B41FA5}">
                      <a16:colId xmlns:a16="http://schemas.microsoft.com/office/drawing/2014/main" val="582643906"/>
                    </a:ext>
                  </a:extLst>
                </a:gridCol>
              </a:tblGrid>
              <a:tr h="191407">
                <a:tc>
                  <a:txBody>
                    <a:bodyPr/>
                    <a:lstStyle/>
                    <a:p>
                      <a:r>
                        <a:rPr lang="zh-CN" altLang="en-US" dirty="0"/>
                        <a:t>点数</a:t>
                      </a:r>
                    </a:p>
                  </a:txBody>
                  <a:tcPr/>
                </a:tc>
                <a:tc>
                  <a:txBody>
                    <a:bodyPr/>
                    <a:lstStyle/>
                    <a:p>
                      <a:r>
                        <a:rPr lang="en-US" altLang="zh-CN" dirty="0"/>
                        <a:t>V0(</a:t>
                      </a:r>
                      <a:r>
                        <a:rPr lang="en-US" altLang="zh-CN" dirty="0" err="1"/>
                        <a:t>ms</a:t>
                      </a:r>
                      <a:r>
                        <a:rPr lang="en-US" altLang="zh-CN" dirty="0"/>
                        <a:t>)</a:t>
                      </a:r>
                      <a:endParaRPr lang="zh-CN" altLang="en-US" dirty="0"/>
                    </a:p>
                  </a:txBody>
                  <a:tcPr/>
                </a:tc>
                <a:tc>
                  <a:txBody>
                    <a:bodyPr/>
                    <a:lstStyle/>
                    <a:p>
                      <a:r>
                        <a:rPr lang="en-US" altLang="zh-CN" dirty="0"/>
                        <a:t>V1(</a:t>
                      </a:r>
                      <a:r>
                        <a:rPr lang="en-US" altLang="zh-CN" dirty="0" err="1"/>
                        <a:t>ms</a:t>
                      </a:r>
                      <a:r>
                        <a:rPr lang="en-US" altLang="zh-CN" dirty="0"/>
                        <a:t>)</a:t>
                      </a:r>
                      <a:endParaRPr lang="zh-CN" altLang="en-US" dirty="0"/>
                    </a:p>
                  </a:txBody>
                  <a:tcPr/>
                </a:tc>
                <a:tc>
                  <a:txBody>
                    <a:bodyPr/>
                    <a:lstStyle/>
                    <a:p>
                      <a:r>
                        <a:rPr lang="en-US" altLang="zh-CN" dirty="0"/>
                        <a:t>V2(</a:t>
                      </a:r>
                      <a:r>
                        <a:rPr lang="en-US" altLang="zh-CN" dirty="0" err="1"/>
                        <a:t>ms</a:t>
                      </a:r>
                      <a:r>
                        <a:rPr lang="en-US" altLang="zh-CN" dirty="0"/>
                        <a:t>)</a:t>
                      </a:r>
                      <a:endParaRPr lang="zh-CN" altLang="en-US" dirty="0"/>
                    </a:p>
                  </a:txBody>
                  <a:tcPr/>
                </a:tc>
                <a:tc>
                  <a:txBody>
                    <a:bodyPr/>
                    <a:lstStyle/>
                    <a:p>
                      <a:r>
                        <a:rPr lang="en-US" altLang="zh-CN" dirty="0"/>
                        <a:t>V3(</a:t>
                      </a:r>
                      <a:r>
                        <a:rPr lang="en-US" altLang="zh-CN" dirty="0" err="1"/>
                        <a:t>ms</a:t>
                      </a:r>
                      <a:r>
                        <a:rPr lang="en-US" altLang="zh-CN" dirty="0"/>
                        <a:t>)</a:t>
                      </a:r>
                      <a:endParaRPr lang="zh-CN" altLang="en-US" dirty="0"/>
                    </a:p>
                  </a:txBody>
                  <a:tcPr/>
                </a:tc>
                <a:tc>
                  <a:txBody>
                    <a:bodyPr/>
                    <a:lstStyle/>
                    <a:p>
                      <a:r>
                        <a:rPr lang="en-US" altLang="zh-CN" dirty="0"/>
                        <a:t>V4(</a:t>
                      </a:r>
                      <a:r>
                        <a:rPr lang="en-US" altLang="zh-CN" dirty="0" err="1"/>
                        <a:t>ms</a:t>
                      </a:r>
                      <a:r>
                        <a:rPr lang="en-US" altLang="zh-CN" dirty="0"/>
                        <a:t>)</a:t>
                      </a:r>
                      <a:endParaRPr lang="zh-CN" altLang="en-US" dirty="0"/>
                    </a:p>
                  </a:txBody>
                  <a:tcPr/>
                </a:tc>
                <a:extLst>
                  <a:ext uri="{0D108BD9-81ED-4DB2-BD59-A6C34878D82A}">
                    <a16:rowId xmlns:a16="http://schemas.microsoft.com/office/drawing/2014/main" val="2910703794"/>
                  </a:ext>
                </a:extLst>
              </a:tr>
              <a:tr h="191407">
                <a:tc>
                  <a:txBody>
                    <a:bodyPr/>
                    <a:lstStyle/>
                    <a:p>
                      <a:r>
                        <a:rPr lang="en-US" altLang="zh-CN" dirty="0"/>
                        <a:t>512</a:t>
                      </a:r>
                      <a:endParaRPr lang="zh-CN" altLang="en-US" dirty="0"/>
                    </a:p>
                  </a:txBody>
                  <a:tcPr/>
                </a:tc>
                <a:tc>
                  <a:txBody>
                    <a:bodyPr/>
                    <a:lstStyle/>
                    <a:p>
                      <a:r>
                        <a:rPr lang="en-US" altLang="zh-CN" sz="1800" b="0" i="0" kern="1200" dirty="0">
                          <a:solidFill>
                            <a:schemeClr val="dk1"/>
                          </a:solidFill>
                          <a:effectLst/>
                          <a:latin typeface="+mn-lt"/>
                          <a:ea typeface="+mn-ea"/>
                          <a:cs typeface="+mn-cs"/>
                        </a:rPr>
                        <a:t>0.0145</a:t>
                      </a:r>
                      <a:endParaRPr lang="zh-CN" altLang="en-US" dirty="0"/>
                    </a:p>
                  </a:txBody>
                  <a:tcPr/>
                </a:tc>
                <a:tc>
                  <a:txBody>
                    <a:bodyPr/>
                    <a:lstStyle/>
                    <a:p>
                      <a:r>
                        <a:rPr lang="en-US" altLang="zh-CN" sz="1800" b="0" i="0" kern="1200" dirty="0">
                          <a:solidFill>
                            <a:schemeClr val="dk1"/>
                          </a:solidFill>
                          <a:effectLst/>
                          <a:latin typeface="+mn-lt"/>
                          <a:ea typeface="+mn-ea"/>
                          <a:cs typeface="+mn-cs"/>
                        </a:rPr>
                        <a:t>0.0146</a:t>
                      </a:r>
                      <a:endParaRPr lang="zh-CN" altLang="en-US" dirty="0"/>
                    </a:p>
                  </a:txBody>
                  <a:tcPr/>
                </a:tc>
                <a:tc>
                  <a:txBody>
                    <a:bodyPr/>
                    <a:lstStyle/>
                    <a:p>
                      <a:r>
                        <a:rPr lang="en-US" altLang="zh-CN" sz="1800" b="0" i="0" kern="1200" dirty="0">
                          <a:solidFill>
                            <a:schemeClr val="dk1"/>
                          </a:solidFill>
                          <a:effectLst/>
                          <a:latin typeface="+mn-lt"/>
                          <a:ea typeface="+mn-ea"/>
                          <a:cs typeface="+mn-cs"/>
                        </a:rPr>
                        <a:t>0.0146</a:t>
                      </a:r>
                      <a:endParaRPr lang="zh-CN" altLang="en-US" dirty="0"/>
                    </a:p>
                  </a:txBody>
                  <a:tcPr/>
                </a:tc>
                <a:tc>
                  <a:txBody>
                    <a:bodyPr/>
                    <a:lstStyle/>
                    <a:p>
                      <a:r>
                        <a:rPr lang="en-US" altLang="zh-CN" sz="1800" b="0" i="0" kern="1200" dirty="0">
                          <a:solidFill>
                            <a:schemeClr val="dk1"/>
                          </a:solidFill>
                          <a:effectLst/>
                          <a:latin typeface="+mn-lt"/>
                          <a:ea typeface="+mn-ea"/>
                          <a:cs typeface="+mn-cs"/>
                        </a:rPr>
                        <a:t>0.0154</a:t>
                      </a:r>
                      <a:endParaRPr lang="zh-CN" altLang="en-US" dirty="0"/>
                    </a:p>
                  </a:txBody>
                  <a:tcPr/>
                </a:tc>
                <a:tc>
                  <a:txBody>
                    <a:bodyPr/>
                    <a:lstStyle/>
                    <a:p>
                      <a:r>
                        <a:rPr lang="en-US" altLang="zh-CN" sz="1800" b="0" i="0" kern="1200" dirty="0">
                          <a:solidFill>
                            <a:schemeClr val="dk1"/>
                          </a:solidFill>
                          <a:effectLst/>
                          <a:latin typeface="+mn-lt"/>
                          <a:ea typeface="+mn-ea"/>
                          <a:cs typeface="+mn-cs"/>
                        </a:rPr>
                        <a:t>0.0146</a:t>
                      </a:r>
                      <a:endParaRPr lang="zh-CN" altLang="en-US" dirty="0"/>
                    </a:p>
                  </a:txBody>
                  <a:tcPr/>
                </a:tc>
                <a:extLst>
                  <a:ext uri="{0D108BD9-81ED-4DB2-BD59-A6C34878D82A}">
                    <a16:rowId xmlns:a16="http://schemas.microsoft.com/office/drawing/2014/main" val="4038700083"/>
                  </a:ext>
                </a:extLst>
              </a:tr>
              <a:tr h="191407">
                <a:tc>
                  <a:txBody>
                    <a:bodyPr/>
                    <a:lstStyle/>
                    <a:p>
                      <a:r>
                        <a:rPr lang="en-US" altLang="zh-CN" dirty="0"/>
                        <a:t>1024</a:t>
                      </a:r>
                      <a:endParaRPr lang="zh-CN" altLang="en-US" dirty="0"/>
                    </a:p>
                  </a:txBody>
                  <a:tcPr/>
                </a:tc>
                <a:tc>
                  <a:txBody>
                    <a:bodyPr/>
                    <a:lstStyle/>
                    <a:p>
                      <a:r>
                        <a:rPr lang="en-US" altLang="zh-CN" sz="1800" b="0" i="0" kern="1200" dirty="0">
                          <a:solidFill>
                            <a:schemeClr val="dk1"/>
                          </a:solidFill>
                          <a:effectLst/>
                          <a:latin typeface="+mn-lt"/>
                          <a:ea typeface="+mn-ea"/>
                          <a:cs typeface="+mn-cs"/>
                        </a:rPr>
                        <a:t>0.0320</a:t>
                      </a:r>
                      <a:endParaRPr lang="zh-CN" altLang="en-US" dirty="0"/>
                    </a:p>
                  </a:txBody>
                  <a:tcPr/>
                </a:tc>
                <a:tc>
                  <a:txBody>
                    <a:bodyPr/>
                    <a:lstStyle/>
                    <a:p>
                      <a:r>
                        <a:rPr lang="en-US" altLang="zh-CN" sz="1800" b="0" i="0" kern="1200" dirty="0">
                          <a:solidFill>
                            <a:schemeClr val="dk1"/>
                          </a:solidFill>
                          <a:effectLst/>
                          <a:latin typeface="+mn-lt"/>
                          <a:ea typeface="+mn-ea"/>
                          <a:cs typeface="+mn-cs"/>
                        </a:rPr>
                        <a:t>0.0318</a:t>
                      </a:r>
                      <a:endParaRPr lang="zh-CN" altLang="en-US" dirty="0"/>
                    </a:p>
                  </a:txBody>
                  <a:tcPr/>
                </a:tc>
                <a:tc>
                  <a:txBody>
                    <a:bodyPr/>
                    <a:lstStyle/>
                    <a:p>
                      <a:r>
                        <a:rPr lang="en-US" altLang="zh-CN" sz="1800" b="0" i="0" kern="1200" dirty="0">
                          <a:solidFill>
                            <a:schemeClr val="dk1"/>
                          </a:solidFill>
                          <a:effectLst/>
                          <a:latin typeface="+mn-lt"/>
                          <a:ea typeface="+mn-ea"/>
                          <a:cs typeface="+mn-cs"/>
                        </a:rPr>
                        <a:t>0.0316</a:t>
                      </a:r>
                      <a:endParaRPr lang="zh-CN" altLang="en-US" dirty="0"/>
                    </a:p>
                  </a:txBody>
                  <a:tcPr/>
                </a:tc>
                <a:tc>
                  <a:txBody>
                    <a:bodyPr/>
                    <a:lstStyle/>
                    <a:p>
                      <a:r>
                        <a:rPr lang="en-US" altLang="zh-CN" sz="1800" b="0" i="0" kern="1200" dirty="0">
                          <a:solidFill>
                            <a:schemeClr val="dk1"/>
                          </a:solidFill>
                          <a:effectLst/>
                          <a:latin typeface="+mn-lt"/>
                          <a:ea typeface="+mn-ea"/>
                          <a:cs typeface="+mn-cs"/>
                        </a:rPr>
                        <a:t>0.0308</a:t>
                      </a:r>
                      <a:endParaRPr lang="zh-CN" altLang="en-US" dirty="0"/>
                    </a:p>
                  </a:txBody>
                  <a:tcPr/>
                </a:tc>
                <a:tc>
                  <a:txBody>
                    <a:bodyPr/>
                    <a:lstStyle/>
                    <a:p>
                      <a:r>
                        <a:rPr lang="en-US" altLang="zh-CN" sz="1800" b="0" i="0" kern="1200" dirty="0">
                          <a:solidFill>
                            <a:schemeClr val="dk1"/>
                          </a:solidFill>
                          <a:effectLst/>
                          <a:latin typeface="+mn-lt"/>
                          <a:ea typeface="+mn-ea"/>
                          <a:cs typeface="+mn-cs"/>
                        </a:rPr>
                        <a:t>0.0317</a:t>
                      </a:r>
                      <a:endParaRPr lang="zh-CN" altLang="en-US" dirty="0"/>
                    </a:p>
                  </a:txBody>
                  <a:tcPr/>
                </a:tc>
                <a:extLst>
                  <a:ext uri="{0D108BD9-81ED-4DB2-BD59-A6C34878D82A}">
                    <a16:rowId xmlns:a16="http://schemas.microsoft.com/office/drawing/2014/main" val="614458481"/>
                  </a:ext>
                </a:extLst>
              </a:tr>
              <a:tr h="191407">
                <a:tc>
                  <a:txBody>
                    <a:bodyPr/>
                    <a:lstStyle/>
                    <a:p>
                      <a:r>
                        <a:rPr lang="en-US" altLang="zh-CN" dirty="0"/>
                        <a:t>2048</a:t>
                      </a:r>
                      <a:endParaRPr lang="zh-CN" altLang="en-US" dirty="0"/>
                    </a:p>
                  </a:txBody>
                  <a:tcPr/>
                </a:tc>
                <a:tc>
                  <a:txBody>
                    <a:bodyPr/>
                    <a:lstStyle/>
                    <a:p>
                      <a:r>
                        <a:rPr lang="en-US" altLang="zh-CN" sz="1800" b="0" i="0" kern="1200" dirty="0">
                          <a:solidFill>
                            <a:schemeClr val="dk1"/>
                          </a:solidFill>
                          <a:effectLst/>
                          <a:latin typeface="+mn-lt"/>
                          <a:ea typeface="+mn-ea"/>
                          <a:cs typeface="+mn-cs"/>
                        </a:rPr>
                        <a:t>0.0683</a:t>
                      </a:r>
                      <a:endParaRPr lang="zh-CN" altLang="en-US" dirty="0"/>
                    </a:p>
                  </a:txBody>
                  <a:tcPr/>
                </a:tc>
                <a:tc>
                  <a:txBody>
                    <a:bodyPr/>
                    <a:lstStyle/>
                    <a:p>
                      <a:r>
                        <a:rPr lang="en-US" altLang="zh-CN" sz="1800" b="0" i="0" kern="1200" dirty="0">
                          <a:solidFill>
                            <a:schemeClr val="dk1"/>
                          </a:solidFill>
                          <a:effectLst/>
                          <a:latin typeface="+mn-lt"/>
                          <a:ea typeface="+mn-ea"/>
                          <a:cs typeface="+mn-cs"/>
                        </a:rPr>
                        <a:t>0.0679</a:t>
                      </a:r>
                      <a:endParaRPr lang="zh-CN" altLang="en-US" dirty="0"/>
                    </a:p>
                  </a:txBody>
                  <a:tcPr/>
                </a:tc>
                <a:tc>
                  <a:txBody>
                    <a:bodyPr/>
                    <a:lstStyle/>
                    <a:p>
                      <a:r>
                        <a:rPr lang="en-US" altLang="zh-CN" sz="1800" b="0" i="0" kern="1200" dirty="0">
                          <a:solidFill>
                            <a:schemeClr val="dk1"/>
                          </a:solidFill>
                          <a:effectLst/>
                          <a:latin typeface="+mn-lt"/>
                          <a:ea typeface="+mn-ea"/>
                          <a:cs typeface="+mn-cs"/>
                        </a:rPr>
                        <a:t>0.0673</a:t>
                      </a:r>
                      <a:endParaRPr lang="zh-CN" altLang="en-US" dirty="0"/>
                    </a:p>
                  </a:txBody>
                  <a:tcPr/>
                </a:tc>
                <a:tc>
                  <a:txBody>
                    <a:bodyPr/>
                    <a:lstStyle/>
                    <a:p>
                      <a:r>
                        <a:rPr lang="en-US" altLang="zh-CN" sz="1800" b="0" i="0" kern="1200" dirty="0">
                          <a:solidFill>
                            <a:schemeClr val="dk1"/>
                          </a:solidFill>
                          <a:effectLst/>
                          <a:latin typeface="+mn-lt"/>
                          <a:ea typeface="+mn-ea"/>
                          <a:cs typeface="+mn-cs"/>
                        </a:rPr>
                        <a:t>0.0676</a:t>
                      </a:r>
                      <a:endParaRPr lang="zh-CN" altLang="en-US" dirty="0"/>
                    </a:p>
                  </a:txBody>
                  <a:tcPr/>
                </a:tc>
                <a:tc>
                  <a:txBody>
                    <a:bodyPr/>
                    <a:lstStyle/>
                    <a:p>
                      <a:r>
                        <a:rPr lang="en-US" altLang="zh-CN" sz="1800" b="0" i="0" kern="1200" dirty="0">
                          <a:solidFill>
                            <a:schemeClr val="dk1"/>
                          </a:solidFill>
                          <a:effectLst/>
                          <a:latin typeface="+mn-lt"/>
                          <a:ea typeface="+mn-ea"/>
                          <a:cs typeface="+mn-cs"/>
                        </a:rPr>
                        <a:t>0.0683</a:t>
                      </a:r>
                      <a:endParaRPr lang="zh-CN" altLang="en-US" dirty="0"/>
                    </a:p>
                  </a:txBody>
                  <a:tcPr/>
                </a:tc>
                <a:extLst>
                  <a:ext uri="{0D108BD9-81ED-4DB2-BD59-A6C34878D82A}">
                    <a16:rowId xmlns:a16="http://schemas.microsoft.com/office/drawing/2014/main" val="3513467344"/>
                  </a:ext>
                </a:extLst>
              </a:tr>
              <a:tr h="191407">
                <a:tc>
                  <a:txBody>
                    <a:bodyPr/>
                    <a:lstStyle/>
                    <a:p>
                      <a:r>
                        <a:rPr lang="en-US" altLang="zh-CN" dirty="0"/>
                        <a:t>4096</a:t>
                      </a:r>
                      <a:endParaRPr lang="zh-CN" altLang="en-US" dirty="0"/>
                    </a:p>
                  </a:txBody>
                  <a:tcPr/>
                </a:tc>
                <a:tc>
                  <a:txBody>
                    <a:bodyPr/>
                    <a:lstStyle/>
                    <a:p>
                      <a:r>
                        <a:rPr lang="en-US" altLang="zh-CN" sz="1800" b="0" i="0" kern="1200" dirty="0">
                          <a:solidFill>
                            <a:schemeClr val="dk1"/>
                          </a:solidFill>
                          <a:effectLst/>
                          <a:latin typeface="+mn-lt"/>
                          <a:ea typeface="+mn-ea"/>
                          <a:cs typeface="+mn-cs"/>
                        </a:rPr>
                        <a:t>0.1462</a:t>
                      </a:r>
                      <a:endParaRPr lang="zh-CN" altLang="en-US" dirty="0"/>
                    </a:p>
                  </a:txBody>
                  <a:tcPr/>
                </a:tc>
                <a:tc>
                  <a:txBody>
                    <a:bodyPr/>
                    <a:lstStyle/>
                    <a:p>
                      <a:r>
                        <a:rPr lang="en-US" altLang="zh-CN" sz="1800" b="0" i="0" kern="1200" dirty="0">
                          <a:solidFill>
                            <a:schemeClr val="dk1"/>
                          </a:solidFill>
                          <a:effectLst/>
                          <a:latin typeface="+mn-lt"/>
                          <a:ea typeface="+mn-ea"/>
                          <a:cs typeface="+mn-cs"/>
                        </a:rPr>
                        <a:t>0.1451</a:t>
                      </a:r>
                      <a:endParaRPr lang="zh-CN" altLang="en-US" dirty="0"/>
                    </a:p>
                  </a:txBody>
                  <a:tcPr/>
                </a:tc>
                <a:tc>
                  <a:txBody>
                    <a:bodyPr/>
                    <a:lstStyle/>
                    <a:p>
                      <a:r>
                        <a:rPr lang="en-US" altLang="zh-CN" sz="1800" b="0" i="0" kern="1200" dirty="0">
                          <a:solidFill>
                            <a:schemeClr val="dk1"/>
                          </a:solidFill>
                          <a:effectLst/>
                          <a:latin typeface="+mn-lt"/>
                          <a:ea typeface="+mn-ea"/>
                          <a:cs typeface="+mn-cs"/>
                        </a:rPr>
                        <a:t>0.1452</a:t>
                      </a:r>
                      <a:endParaRPr lang="zh-CN" altLang="en-US" dirty="0"/>
                    </a:p>
                  </a:txBody>
                  <a:tcPr/>
                </a:tc>
                <a:tc>
                  <a:txBody>
                    <a:bodyPr/>
                    <a:lstStyle/>
                    <a:p>
                      <a:r>
                        <a:rPr lang="en-US" altLang="zh-CN" sz="1800" b="0" i="0" kern="1200" dirty="0">
                          <a:solidFill>
                            <a:schemeClr val="dk1"/>
                          </a:solidFill>
                          <a:effectLst/>
                          <a:latin typeface="+mn-lt"/>
                          <a:ea typeface="+mn-ea"/>
                          <a:cs typeface="+mn-cs"/>
                        </a:rPr>
                        <a:t>0.1462</a:t>
                      </a:r>
                      <a:endParaRPr lang="zh-CN" altLang="en-US" dirty="0"/>
                    </a:p>
                  </a:txBody>
                  <a:tcPr/>
                </a:tc>
                <a:tc>
                  <a:txBody>
                    <a:bodyPr/>
                    <a:lstStyle/>
                    <a:p>
                      <a:r>
                        <a:rPr lang="en-US" altLang="zh-CN" sz="1800" b="0" i="0" kern="1200" dirty="0">
                          <a:solidFill>
                            <a:schemeClr val="dk1"/>
                          </a:solidFill>
                          <a:effectLst/>
                          <a:latin typeface="+mn-lt"/>
                          <a:ea typeface="+mn-ea"/>
                          <a:cs typeface="+mn-cs"/>
                        </a:rPr>
                        <a:t>0.1483</a:t>
                      </a:r>
                      <a:endParaRPr lang="zh-CN" altLang="en-US" dirty="0"/>
                    </a:p>
                  </a:txBody>
                  <a:tcPr/>
                </a:tc>
                <a:extLst>
                  <a:ext uri="{0D108BD9-81ED-4DB2-BD59-A6C34878D82A}">
                    <a16:rowId xmlns:a16="http://schemas.microsoft.com/office/drawing/2014/main" val="2841947536"/>
                  </a:ext>
                </a:extLst>
              </a:tr>
            </a:tbl>
          </a:graphicData>
        </a:graphic>
      </p:graphicFrame>
      <p:graphicFrame>
        <p:nvGraphicFramePr>
          <p:cNvPr id="23" name="图表 22">
            <a:extLst>
              <a:ext uri="{FF2B5EF4-FFF2-40B4-BE49-F238E27FC236}">
                <a16:creationId xmlns:a16="http://schemas.microsoft.com/office/drawing/2014/main" id="{6091C1E9-81B1-A66C-B7B7-CF3D57CDE2EE}"/>
              </a:ext>
            </a:extLst>
          </p:cNvPr>
          <p:cNvGraphicFramePr/>
          <p:nvPr>
            <p:extLst>
              <p:ext uri="{D42A27DB-BD31-4B8C-83A1-F6EECF244321}">
                <p14:modId xmlns:p14="http://schemas.microsoft.com/office/powerpoint/2010/main" val="2174721364"/>
              </p:ext>
            </p:extLst>
          </p:nvPr>
        </p:nvGraphicFramePr>
        <p:xfrm>
          <a:off x="193072" y="2607733"/>
          <a:ext cx="6093428" cy="3471334"/>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a:ea typeface="Noto Sans SC"/>
                <a:cs typeface="Noto Sans SC"/>
                <a:sym typeface="Noto Sans SC"/>
              </a:rPr>
              <a:t>性能变化背后的原因</a:t>
            </a:r>
            <a:endParaRPr lang="en-US" sz="1100"/>
          </a:p>
        </p:txBody>
      </p:sp>
      <p:sp>
        <p:nvSpPr>
          <p:cNvPr id="4" name="AutoShape 4"/>
          <p:cNvSpPr/>
          <p:nvPr/>
        </p:nvSpPr>
        <p:spPr>
          <a:xfrm>
            <a:off x="762000" y="1651000"/>
            <a:ext cx="5207000" cy="2349500"/>
          </a:xfrm>
          <a:prstGeom prst="roundRect">
            <a:avLst>
              <a:gd name="adj" fmla="val 6486"/>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508000" cy="508000"/>
          </a:xfrm>
          <a:prstGeom prst="rect">
            <a:avLst/>
          </a:prstGeom>
        </p:spPr>
      </p:pic>
      <p:sp>
        <p:nvSpPr>
          <p:cNvPr id="6" name="AutoShape 6"/>
          <p:cNvSpPr/>
          <p:nvPr/>
        </p:nvSpPr>
        <p:spPr>
          <a:xfrm>
            <a:off x="1778000" y="1905000"/>
            <a:ext cx="3937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err="1">
                <a:solidFill>
                  <a:srgbClr val="2D3748"/>
                </a:solidFill>
                <a:latin typeface="Noto Sans SC"/>
                <a:ea typeface="Noto Sans SC"/>
                <a:cs typeface="Noto Sans SC"/>
                <a:sym typeface="Noto Sans SC"/>
              </a:rPr>
              <a:t>算法级优化是性能提升的基石</a:t>
            </a:r>
            <a:endParaRPr lang="en-US" sz="1100" dirty="0"/>
          </a:p>
          <a:p>
            <a:pPr indent="0" algn="l">
              <a:lnSpc>
                <a:spcPct val="116666"/>
              </a:lnSpc>
              <a:spcBef>
                <a:spcPts val="1000"/>
              </a:spcBef>
            </a:pPr>
            <a:r>
              <a:rPr lang="en-US" sz="1300" b="1" i="0" u="none" strike="noStrike" dirty="0">
                <a:solidFill>
                  <a:srgbClr val="4A5568"/>
                </a:solidFill>
                <a:latin typeface="Noto Sans SC"/>
                <a:ea typeface="Noto Sans SC"/>
                <a:cs typeface="Noto Sans SC"/>
                <a:sym typeface="Noto Sans SC"/>
              </a:rPr>
              <a:t>• FFT vs </a:t>
            </a:r>
            <a:r>
              <a:rPr lang="en-US" sz="1300" b="1" i="0" u="none" strike="noStrike" dirty="0" err="1">
                <a:solidFill>
                  <a:srgbClr val="4A5568"/>
                </a:solidFill>
                <a:latin typeface="Noto Sans SC"/>
                <a:ea typeface="Noto Sans SC"/>
                <a:cs typeface="Noto Sans SC"/>
                <a:sym typeface="Noto Sans SC"/>
              </a:rPr>
              <a:t>DFT：</a:t>
            </a:r>
            <a:r>
              <a:rPr lang="en-US" sz="1300" b="0" i="0" u="none" strike="noStrike" dirty="0" err="1">
                <a:solidFill>
                  <a:srgbClr val="4A5568"/>
                </a:solidFill>
                <a:latin typeface="Noto Sans SC"/>
                <a:ea typeface="Noto Sans SC"/>
                <a:cs typeface="Noto Sans SC"/>
                <a:sym typeface="Noto Sans SC"/>
              </a:rPr>
              <a:t>FFT算法本身就是对DFT的巨大算法优化</a:t>
            </a:r>
            <a:endParaRPr lang="en-US" sz="1300" b="0" i="0" u="none" strike="noStrike" dirty="0">
              <a:solidFill>
                <a:srgbClr val="4A5568"/>
              </a:solidFill>
              <a:latin typeface="Noto Sans SC"/>
              <a:ea typeface="Noto Sans SC"/>
              <a:cs typeface="Noto Sans SC"/>
              <a:sym typeface="Noto Sans SC"/>
            </a:endParaRPr>
          </a:p>
          <a:p>
            <a:pPr indent="0" algn="l">
              <a:lnSpc>
                <a:spcPct val="116666"/>
              </a:lnSpc>
            </a:pPr>
            <a:r>
              <a:rPr lang="en-US" sz="1300" b="1" i="0" u="none" strike="noStrike" dirty="0">
                <a:solidFill>
                  <a:srgbClr val="4A5568"/>
                </a:solidFill>
                <a:latin typeface="Noto Sans SC"/>
                <a:ea typeface="Noto Sans SC"/>
                <a:cs typeface="Noto Sans SC"/>
                <a:sym typeface="Noto Sans SC"/>
              </a:rPr>
              <a:t>• v1 </a:t>
            </a:r>
            <a:r>
              <a:rPr lang="zh-CN" altLang="en-US" sz="1300" b="1" i="0" u="none" strike="noStrike" dirty="0">
                <a:solidFill>
                  <a:srgbClr val="4A5568"/>
                </a:solidFill>
                <a:latin typeface="Noto Sans SC"/>
                <a:ea typeface="Noto Sans SC"/>
                <a:cs typeface="Noto Sans SC"/>
                <a:sym typeface="Noto Sans SC"/>
              </a:rPr>
              <a:t>查表法的收益</a:t>
            </a:r>
            <a:r>
              <a:rPr lang="en-US" sz="1300" b="1"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用 </a:t>
            </a:r>
            <a:r>
              <a:rPr lang="en-US" altLang="zh-CN" sz="1300" b="0" i="0" u="none" strike="noStrike" dirty="0">
                <a:solidFill>
                  <a:srgbClr val="4A5568"/>
                </a:solidFill>
                <a:latin typeface="Noto Sans SC"/>
                <a:ea typeface="Noto Sans SC"/>
                <a:cs typeface="Noto Sans SC"/>
                <a:sym typeface="Noto Sans SC"/>
              </a:rPr>
              <a:t>float </a:t>
            </a:r>
            <a:r>
              <a:rPr lang="zh-CN" altLang="en-US" sz="1300" b="0" i="0" u="none" strike="noStrike" dirty="0">
                <a:solidFill>
                  <a:srgbClr val="4A5568"/>
                </a:solidFill>
                <a:latin typeface="Noto Sans SC"/>
                <a:ea typeface="Noto Sans SC"/>
                <a:cs typeface="Noto Sans SC"/>
                <a:sym typeface="Noto Sans SC"/>
              </a:rPr>
              <a:t>查找表替代 </a:t>
            </a:r>
            <a:r>
              <a:rPr lang="en-US" altLang="zh-CN" sz="1300" b="0" i="0" u="none" strike="noStrike" dirty="0">
                <a:solidFill>
                  <a:srgbClr val="4A5568"/>
                </a:solidFill>
                <a:latin typeface="Noto Sans SC"/>
                <a:ea typeface="Noto Sans SC"/>
                <a:cs typeface="Noto Sans SC"/>
                <a:sym typeface="Noto Sans SC"/>
              </a:rPr>
              <a:t>double </a:t>
            </a:r>
            <a:r>
              <a:rPr lang="zh-CN" altLang="en-US" sz="1300" b="0" i="0" u="none" strike="noStrike" dirty="0">
                <a:solidFill>
                  <a:srgbClr val="4A5568"/>
                </a:solidFill>
                <a:latin typeface="Noto Sans SC"/>
                <a:ea typeface="Noto Sans SC"/>
                <a:cs typeface="Noto Sans SC"/>
                <a:sym typeface="Noto Sans SC"/>
              </a:rPr>
              <a:t>预计算 </a:t>
            </a:r>
            <a:r>
              <a:rPr lang="en-US" altLang="zh-CN" sz="1300" b="0" i="0" u="none" strike="noStrike" dirty="0">
                <a:solidFill>
                  <a:srgbClr val="4A5568"/>
                </a:solidFill>
                <a:latin typeface="Noto Sans SC"/>
                <a:ea typeface="Noto Sans SC"/>
                <a:cs typeface="Noto Sans SC"/>
                <a:sym typeface="Noto Sans SC"/>
              </a:rPr>
              <a:t>+ </a:t>
            </a:r>
            <a:r>
              <a:rPr lang="zh-CN" altLang="en-US" sz="1300" b="0" i="0" u="none" strike="noStrike" dirty="0">
                <a:solidFill>
                  <a:srgbClr val="4A5568"/>
                </a:solidFill>
                <a:latin typeface="Noto Sans SC"/>
                <a:ea typeface="Noto Sans SC"/>
                <a:cs typeface="Noto Sans SC"/>
                <a:sym typeface="Noto Sans SC"/>
              </a:rPr>
              <a:t>实时三角函数调用，减少 </a:t>
            </a:r>
            <a:r>
              <a:rPr lang="en-US" altLang="zh-CN" sz="1300" b="0" i="0" u="none" strike="noStrike" dirty="0">
                <a:solidFill>
                  <a:srgbClr val="4A5568"/>
                </a:solidFill>
                <a:latin typeface="Noto Sans SC"/>
                <a:ea typeface="Noto Sans SC"/>
                <a:cs typeface="Noto Sans SC"/>
                <a:sym typeface="Noto Sans SC"/>
              </a:rPr>
              <a:t>sin/cos </a:t>
            </a:r>
            <a:r>
              <a:rPr lang="zh-CN" altLang="en-US" sz="1300" b="0" i="0" u="none" strike="noStrike" dirty="0">
                <a:solidFill>
                  <a:srgbClr val="4A5568"/>
                </a:solidFill>
                <a:latin typeface="Noto Sans SC"/>
                <a:ea typeface="Noto Sans SC"/>
                <a:cs typeface="Noto Sans SC"/>
                <a:sym typeface="Noto Sans SC"/>
              </a:rPr>
              <a:t>计算开销，是所有优化中性价比最高的方案</a:t>
            </a:r>
            <a:endParaRPr lang="en-US" sz="1300" b="0" i="0" u="none" strike="noStrike" dirty="0">
              <a:solidFill>
                <a:srgbClr val="4A5568"/>
              </a:solidFill>
              <a:latin typeface="Noto Sans SC"/>
              <a:ea typeface="Noto Sans SC"/>
              <a:cs typeface="Noto Sans SC"/>
              <a:sym typeface="Noto Sans SC"/>
            </a:endParaRPr>
          </a:p>
        </p:txBody>
      </p:sp>
      <p:sp>
        <p:nvSpPr>
          <p:cNvPr id="7" name="AutoShape 7"/>
          <p:cNvSpPr/>
          <p:nvPr/>
        </p:nvSpPr>
        <p:spPr>
          <a:xfrm>
            <a:off x="6223000" y="1651000"/>
            <a:ext cx="5207000" cy="2349500"/>
          </a:xfrm>
          <a:prstGeom prst="roundRect">
            <a:avLst>
              <a:gd name="adj" fmla="val 6486"/>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968500"/>
            <a:ext cx="508000" cy="508000"/>
          </a:xfrm>
          <a:prstGeom prst="rect">
            <a:avLst/>
          </a:prstGeom>
        </p:spPr>
      </p:pic>
      <p:sp>
        <p:nvSpPr>
          <p:cNvPr id="9" name="AutoShape 9"/>
          <p:cNvSpPr/>
          <p:nvPr/>
        </p:nvSpPr>
        <p:spPr>
          <a:xfrm>
            <a:off x="7239000" y="1905000"/>
            <a:ext cx="3937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err="1">
                <a:solidFill>
                  <a:srgbClr val="2D3748"/>
                </a:solidFill>
                <a:latin typeface="Noto Sans SC"/>
                <a:ea typeface="Noto Sans SC"/>
                <a:cs typeface="Noto Sans SC"/>
                <a:sym typeface="Noto Sans SC"/>
              </a:rPr>
              <a:t>减少高开销操作是关键</a:t>
            </a:r>
            <a:endParaRPr lang="en-US" sz="1100" dirty="0"/>
          </a:p>
          <a:p>
            <a:pPr indent="0" algn="l">
              <a:lnSpc>
                <a:spcPct val="116666"/>
              </a:lnSpc>
              <a:spcBef>
                <a:spcPts val="1000"/>
              </a:spcBef>
            </a:pPr>
            <a:r>
              <a:rPr lang="en-US" sz="1300" b="1" i="0" u="none" strike="noStrike" dirty="0">
                <a:solidFill>
                  <a:srgbClr val="4A5568"/>
                </a:solidFill>
                <a:latin typeface="Noto Sans SC"/>
                <a:ea typeface="Noto Sans SC"/>
                <a:cs typeface="Noto Sans SC"/>
                <a:sym typeface="Noto Sans SC"/>
              </a:rPr>
              <a:t>• </a:t>
            </a:r>
            <a:r>
              <a:rPr lang="en-US" sz="1300" b="1" i="0" u="none" strike="noStrike" dirty="0" err="1">
                <a:solidFill>
                  <a:srgbClr val="4A5568"/>
                </a:solidFill>
                <a:latin typeface="Noto Sans SC"/>
                <a:ea typeface="Noto Sans SC"/>
                <a:cs typeface="Noto Sans SC"/>
                <a:sym typeface="Noto Sans SC"/>
              </a:rPr>
              <a:t>识别并消除热点：</a:t>
            </a:r>
            <a:r>
              <a:rPr lang="en-US" altLang="zh-CN" sz="1300" b="0" i="0" u="none" strike="noStrike" dirty="0" err="1">
                <a:solidFill>
                  <a:srgbClr val="4A5568"/>
                </a:solidFill>
                <a:latin typeface="Noto Sans SC"/>
                <a:ea typeface="Noto Sans SC"/>
                <a:cs typeface="Noto Sans SC"/>
                <a:sym typeface="Noto Sans SC"/>
              </a:rPr>
              <a:t>sin</a:t>
            </a:r>
            <a:r>
              <a:rPr lang="en-US" altLang="zh-CN" sz="1300" b="0" i="0" u="none" strike="noStrike" dirty="0">
                <a:solidFill>
                  <a:srgbClr val="4A5568"/>
                </a:solidFill>
                <a:latin typeface="Noto Sans SC"/>
                <a:ea typeface="Noto Sans SC"/>
                <a:cs typeface="Noto Sans SC"/>
                <a:sym typeface="Noto Sans SC"/>
              </a:rPr>
              <a:t>/cos </a:t>
            </a:r>
            <a:r>
              <a:rPr lang="zh-CN" altLang="en-US" sz="1300" b="0" i="0" u="none" strike="noStrike" dirty="0">
                <a:solidFill>
                  <a:srgbClr val="4A5568"/>
                </a:solidFill>
                <a:latin typeface="Noto Sans SC"/>
                <a:ea typeface="Noto Sans SC"/>
                <a:cs typeface="Noto Sans SC"/>
                <a:sym typeface="Noto Sans SC"/>
              </a:rPr>
              <a:t>三角函数、</a:t>
            </a:r>
            <a:r>
              <a:rPr lang="en-US" altLang="zh-CN" sz="1300" b="0" i="0" u="none" strike="noStrike" dirty="0" err="1">
                <a:solidFill>
                  <a:srgbClr val="4A5568"/>
                </a:solidFill>
                <a:latin typeface="Noto Sans SC"/>
                <a:ea typeface="Noto Sans SC"/>
                <a:cs typeface="Noto Sans SC"/>
                <a:sym typeface="Noto Sans SC"/>
              </a:rPr>
              <a:t>double→float</a:t>
            </a:r>
            <a:r>
              <a:rPr lang="en-US" altLang="zh-CN" sz="1300" b="0" i="0" u="none" strike="noStrike" dirty="0">
                <a:solidFill>
                  <a:srgbClr val="4A5568"/>
                </a:solidFill>
                <a:latin typeface="Noto Sans SC"/>
                <a:ea typeface="Noto Sans SC"/>
                <a:cs typeface="Noto Sans SC"/>
                <a:sym typeface="Noto Sans SC"/>
              </a:rPr>
              <a:t> </a:t>
            </a:r>
            <a:r>
              <a:rPr lang="zh-CN" altLang="en-US" sz="1300" b="0" i="0" u="none" strike="noStrike" dirty="0">
                <a:solidFill>
                  <a:srgbClr val="4A5568"/>
                </a:solidFill>
                <a:latin typeface="Noto Sans SC"/>
                <a:ea typeface="Noto Sans SC"/>
                <a:cs typeface="Noto Sans SC"/>
                <a:sym typeface="Noto Sans SC"/>
              </a:rPr>
              <a:t>类型转换、跨步内存访问都是程序中的性能</a:t>
            </a:r>
            <a:r>
              <a:rPr lang="en-US" altLang="zh-CN" sz="1300" b="0"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热点</a:t>
            </a:r>
            <a:r>
              <a:rPr lang="en-US" altLang="zh-CN" sz="1300" b="0" i="0" u="none" strike="noStrike" dirty="0">
                <a:solidFill>
                  <a:srgbClr val="4A5568"/>
                </a:solidFill>
                <a:latin typeface="Noto Sans SC"/>
                <a:ea typeface="Noto Sans SC"/>
                <a:cs typeface="Noto Sans SC"/>
                <a:sym typeface="Noto Sans SC"/>
              </a:rPr>
              <a:t>"</a:t>
            </a:r>
            <a:endParaRPr lang="en-US" sz="1300" b="0" i="0" u="none" strike="noStrike" dirty="0">
              <a:solidFill>
                <a:srgbClr val="4A5568"/>
              </a:solidFill>
              <a:latin typeface="Noto Sans SC"/>
              <a:ea typeface="Noto Sans SC"/>
              <a:cs typeface="Noto Sans SC"/>
              <a:sym typeface="Noto Sans SC"/>
            </a:endParaRPr>
          </a:p>
          <a:p>
            <a:pPr indent="0" algn="l">
              <a:lnSpc>
                <a:spcPct val="116666"/>
              </a:lnSpc>
            </a:pPr>
            <a:r>
              <a:rPr lang="en-US" sz="1300" b="1" i="0" u="none" strike="noStrike" dirty="0">
                <a:solidFill>
                  <a:srgbClr val="4A5568"/>
                </a:solidFill>
                <a:latin typeface="Noto Sans SC"/>
                <a:ea typeface="Noto Sans SC"/>
                <a:cs typeface="Noto Sans SC"/>
                <a:sym typeface="Noto Sans SC"/>
              </a:rPr>
              <a:t>• 优化效果显著：</a:t>
            </a:r>
            <a:r>
              <a:rPr lang="en-US" sz="1300" b="0" i="0" u="none" strike="noStrike" dirty="0">
                <a:solidFill>
                  <a:srgbClr val="4A5568"/>
                </a:solidFill>
                <a:latin typeface="Noto Sans SC"/>
                <a:ea typeface="Noto Sans SC"/>
                <a:cs typeface="Noto Sans SC"/>
                <a:sym typeface="Noto Sans SC"/>
              </a:rPr>
              <a:t>v1</a:t>
            </a:r>
            <a:r>
              <a:rPr lang="zh-CN" altLang="en-US" sz="1300" b="0" i="0" u="none" strike="noStrike" dirty="0">
                <a:solidFill>
                  <a:srgbClr val="4A5568"/>
                </a:solidFill>
                <a:latin typeface="Noto Sans SC"/>
                <a:ea typeface="Noto Sans SC"/>
                <a:cs typeface="Noto Sans SC"/>
                <a:sym typeface="Noto Sans SC"/>
              </a:rPr>
              <a:t>消除了三角函数调用开销，</a:t>
            </a:r>
            <a:r>
              <a:rPr lang="en-US" altLang="zh-CN" sz="1300" dirty="0">
                <a:solidFill>
                  <a:srgbClr val="4A5568"/>
                </a:solidFill>
                <a:latin typeface="Noto Sans SC"/>
                <a:ea typeface="Noto Sans SC"/>
                <a:cs typeface="Noto Sans SC"/>
                <a:sym typeface="Noto Sans SC"/>
              </a:rPr>
              <a:t>v</a:t>
            </a:r>
            <a:r>
              <a:rPr lang="en-US" altLang="zh-CN" sz="1300" b="0" i="0" u="none" strike="noStrike" dirty="0">
                <a:solidFill>
                  <a:srgbClr val="4A5568"/>
                </a:solidFill>
                <a:latin typeface="Noto Sans SC"/>
                <a:ea typeface="Noto Sans SC"/>
                <a:cs typeface="Noto Sans SC"/>
                <a:sym typeface="Noto Sans SC"/>
              </a:rPr>
              <a:t>2 </a:t>
            </a:r>
            <a:r>
              <a:rPr lang="zh-CN" altLang="en-US" sz="1300" b="0" i="0" u="none" strike="noStrike" dirty="0">
                <a:solidFill>
                  <a:srgbClr val="4A5568"/>
                </a:solidFill>
                <a:latin typeface="Noto Sans SC"/>
                <a:ea typeface="Noto Sans SC"/>
                <a:cs typeface="Noto Sans SC"/>
                <a:sym typeface="Noto Sans SC"/>
              </a:rPr>
              <a:t>用融合乘加指令减少流水线停顿，</a:t>
            </a:r>
            <a:r>
              <a:rPr lang="en-US" altLang="zh-CN" sz="1300" dirty="0">
                <a:solidFill>
                  <a:srgbClr val="4A5568"/>
                </a:solidFill>
                <a:latin typeface="Noto Sans SC"/>
                <a:ea typeface="Noto Sans SC"/>
                <a:cs typeface="Noto Sans SC"/>
                <a:sym typeface="Noto Sans SC"/>
              </a:rPr>
              <a:t>v</a:t>
            </a:r>
            <a:r>
              <a:rPr lang="en-US" altLang="zh-CN" sz="1300" b="0" i="0" u="none" strike="noStrike" dirty="0">
                <a:solidFill>
                  <a:srgbClr val="4A5568"/>
                </a:solidFill>
                <a:latin typeface="Noto Sans SC"/>
                <a:ea typeface="Noto Sans SC"/>
                <a:cs typeface="Noto Sans SC"/>
                <a:sym typeface="Noto Sans SC"/>
              </a:rPr>
              <a:t>3 </a:t>
            </a:r>
            <a:r>
              <a:rPr lang="zh-CN" altLang="en-US" sz="1300" b="0" i="0" u="none" strike="noStrike" dirty="0">
                <a:solidFill>
                  <a:srgbClr val="4A5568"/>
                </a:solidFill>
                <a:latin typeface="Noto Sans SC"/>
                <a:ea typeface="Noto Sans SC"/>
                <a:cs typeface="Noto Sans SC"/>
                <a:sym typeface="Noto Sans SC"/>
              </a:rPr>
              <a:t>和 </a:t>
            </a:r>
            <a:r>
              <a:rPr lang="en-US" altLang="zh-CN" sz="1300" dirty="0">
                <a:solidFill>
                  <a:srgbClr val="4A5568"/>
                </a:solidFill>
                <a:latin typeface="Noto Sans SC"/>
                <a:ea typeface="Noto Sans SC"/>
                <a:cs typeface="Noto Sans SC"/>
                <a:sym typeface="Noto Sans SC"/>
              </a:rPr>
              <a:t>v</a:t>
            </a:r>
            <a:r>
              <a:rPr lang="en-US" altLang="zh-CN" sz="1300" b="0" i="0" u="none" strike="noStrike" dirty="0">
                <a:solidFill>
                  <a:srgbClr val="4A5568"/>
                </a:solidFill>
                <a:latin typeface="Noto Sans SC"/>
                <a:ea typeface="Noto Sans SC"/>
                <a:cs typeface="Noto Sans SC"/>
                <a:sym typeface="Noto Sans SC"/>
              </a:rPr>
              <a:t>4 </a:t>
            </a:r>
            <a:r>
              <a:rPr lang="zh-CN" altLang="en-US" sz="1300" b="0" i="0" u="none" strike="noStrike" dirty="0">
                <a:solidFill>
                  <a:srgbClr val="4A5568"/>
                </a:solidFill>
                <a:latin typeface="Noto Sans SC"/>
                <a:ea typeface="Noto Sans SC"/>
                <a:cs typeface="Noto Sans SC"/>
                <a:sym typeface="Noto Sans SC"/>
              </a:rPr>
              <a:t>分别从缓存命中率和内存延迟角度进一步优化</a:t>
            </a:r>
            <a:endParaRPr lang="en-US" sz="1300" b="0" i="0" u="none" strike="noStrike" dirty="0">
              <a:solidFill>
                <a:srgbClr val="4A5568"/>
              </a:solidFill>
              <a:latin typeface="Noto Sans SC"/>
              <a:ea typeface="Noto Sans SC"/>
              <a:cs typeface="Noto Sans SC"/>
              <a:sym typeface="Noto Sans SC"/>
            </a:endParaRPr>
          </a:p>
        </p:txBody>
      </p:sp>
      <p:sp>
        <p:nvSpPr>
          <p:cNvPr id="10" name="AutoShape 10"/>
          <p:cNvSpPr/>
          <p:nvPr/>
        </p:nvSpPr>
        <p:spPr>
          <a:xfrm>
            <a:off x="762000" y="4254500"/>
            <a:ext cx="5207000" cy="2349500"/>
          </a:xfrm>
          <a:prstGeom prst="roundRect">
            <a:avLst>
              <a:gd name="adj" fmla="val 6486"/>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508000" cy="508000"/>
          </a:xfrm>
          <a:prstGeom prst="rect">
            <a:avLst/>
          </a:prstGeom>
        </p:spPr>
      </p:pic>
      <p:sp>
        <p:nvSpPr>
          <p:cNvPr id="12" name="AutoShape 12"/>
          <p:cNvSpPr/>
          <p:nvPr/>
        </p:nvSpPr>
        <p:spPr>
          <a:xfrm>
            <a:off x="1778000" y="4508500"/>
            <a:ext cx="3937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err="1">
                <a:solidFill>
                  <a:srgbClr val="2D3748"/>
                </a:solidFill>
                <a:latin typeface="Noto Sans SC"/>
                <a:ea typeface="Noto Sans SC"/>
                <a:cs typeface="Noto Sans SC"/>
                <a:sym typeface="Noto Sans SC"/>
              </a:rPr>
              <a:t>ARM平台优化是锦上添花</a:t>
            </a:r>
            <a:endParaRPr lang="en-US" sz="1100" dirty="0"/>
          </a:p>
          <a:p>
            <a:pPr indent="0" algn="l">
              <a:lnSpc>
                <a:spcPct val="116666"/>
              </a:lnSpc>
              <a:spcBef>
                <a:spcPts val="1000"/>
              </a:spcBef>
            </a:pPr>
            <a:r>
              <a:rPr lang="en-US" sz="1300" b="1" i="0" u="none" strike="noStrike" dirty="0">
                <a:solidFill>
                  <a:srgbClr val="4A5568"/>
                </a:solidFill>
                <a:latin typeface="Noto Sans SC"/>
                <a:ea typeface="Noto Sans SC"/>
                <a:cs typeface="Noto Sans SC"/>
                <a:sym typeface="Noto Sans SC"/>
              </a:rPr>
              <a:t>• </a:t>
            </a:r>
            <a:r>
              <a:rPr lang="en-US" sz="1300" b="1" i="0" u="none" strike="noStrike" dirty="0" err="1">
                <a:solidFill>
                  <a:srgbClr val="4A5568"/>
                </a:solidFill>
                <a:latin typeface="Noto Sans SC"/>
                <a:ea typeface="Noto Sans SC"/>
                <a:cs typeface="Noto Sans SC"/>
                <a:sym typeface="Noto Sans SC"/>
              </a:rPr>
              <a:t>平台特性的作用：</a:t>
            </a:r>
            <a:r>
              <a:rPr lang="en-US" altLang="zh-CN" sz="1300" b="0" i="0" u="none" strike="noStrike" dirty="0" err="1">
                <a:solidFill>
                  <a:srgbClr val="4A5568"/>
                </a:solidFill>
                <a:latin typeface="Noto Sans SC"/>
                <a:ea typeface="Noto Sans SC"/>
                <a:cs typeface="Noto Sans SC"/>
                <a:sym typeface="Noto Sans SC"/>
              </a:rPr>
              <a:t>NEON</a:t>
            </a:r>
            <a:r>
              <a:rPr lang="en-US" altLang="zh-CN" sz="1300" b="0" i="0" u="none" strike="noStrike" dirty="0">
                <a:solidFill>
                  <a:srgbClr val="4A5568"/>
                </a:solidFill>
                <a:latin typeface="Noto Sans SC"/>
                <a:ea typeface="Noto Sans SC"/>
                <a:cs typeface="Noto Sans SC"/>
                <a:sym typeface="Noto Sans SC"/>
              </a:rPr>
              <a:t> SIMD </a:t>
            </a:r>
            <a:r>
              <a:rPr lang="zh-CN" altLang="en-US" sz="1300" b="0" i="0" u="none" strike="noStrike" dirty="0">
                <a:solidFill>
                  <a:srgbClr val="4A5568"/>
                </a:solidFill>
                <a:latin typeface="Noto Sans SC"/>
                <a:ea typeface="Noto Sans SC"/>
                <a:cs typeface="Noto Sans SC"/>
                <a:sym typeface="Noto Sans SC"/>
              </a:rPr>
              <a:t>指令集、</a:t>
            </a:r>
            <a:r>
              <a:rPr lang="en-US" altLang="zh-CN" sz="1300" b="0" i="0" u="none" strike="noStrike" dirty="0">
                <a:solidFill>
                  <a:srgbClr val="4A5568"/>
                </a:solidFill>
                <a:latin typeface="Noto Sans SC"/>
                <a:ea typeface="Noto Sans SC"/>
                <a:cs typeface="Noto Sans SC"/>
                <a:sym typeface="Noto Sans SC"/>
              </a:rPr>
              <a:t>16 </a:t>
            </a:r>
            <a:r>
              <a:rPr lang="zh-CN" altLang="en-US" sz="1300" b="0" i="0" u="none" strike="noStrike" dirty="0">
                <a:solidFill>
                  <a:srgbClr val="4A5568"/>
                </a:solidFill>
                <a:latin typeface="Noto Sans SC"/>
                <a:ea typeface="Noto Sans SC"/>
                <a:cs typeface="Noto Sans SC"/>
                <a:sym typeface="Noto Sans SC"/>
              </a:rPr>
              <a:t>字节内存对齐、软件预取等在算法优化的坚实基础上进一步挖掘硬件性能</a:t>
            </a:r>
            <a:endParaRPr lang="en-US" sz="1300" b="0" i="0" u="none" strike="noStrike" dirty="0">
              <a:solidFill>
                <a:srgbClr val="4A5568"/>
              </a:solidFill>
              <a:latin typeface="Noto Sans SC"/>
              <a:ea typeface="Noto Sans SC"/>
              <a:cs typeface="Noto Sans SC"/>
              <a:sym typeface="Noto Sans SC"/>
            </a:endParaRPr>
          </a:p>
          <a:p>
            <a:pPr indent="0" algn="l">
              <a:lnSpc>
                <a:spcPct val="116666"/>
              </a:lnSpc>
            </a:pPr>
            <a:r>
              <a:rPr lang="en-US" sz="1300" b="1" i="0" u="none" strike="noStrike" dirty="0">
                <a:solidFill>
                  <a:srgbClr val="4A5568"/>
                </a:solidFill>
                <a:latin typeface="Noto Sans SC"/>
                <a:ea typeface="Noto Sans SC"/>
                <a:cs typeface="Noto Sans SC"/>
                <a:sym typeface="Noto Sans SC"/>
              </a:rPr>
              <a:t>• </a:t>
            </a:r>
            <a:r>
              <a:rPr lang="en-US" sz="1300" b="1" i="0" u="none" strike="noStrike" dirty="0" err="1">
                <a:solidFill>
                  <a:srgbClr val="4A5568"/>
                </a:solidFill>
                <a:latin typeface="Noto Sans SC"/>
                <a:ea typeface="Noto Sans SC"/>
                <a:cs typeface="Noto Sans SC"/>
                <a:sym typeface="Noto Sans SC"/>
              </a:rPr>
              <a:t>效果的不确定性</a:t>
            </a:r>
            <a:r>
              <a:rPr lang="en-US" sz="1300" b="1"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收益受限于数据规模</a:t>
            </a:r>
            <a:r>
              <a:rPr lang="en-US" altLang="zh-CN" sz="1300" b="0"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小规模受 </a:t>
            </a:r>
            <a:r>
              <a:rPr lang="en-US" altLang="zh-CN" sz="1300" b="0" i="0" u="none" strike="noStrike" dirty="0">
                <a:solidFill>
                  <a:srgbClr val="4A5568"/>
                </a:solidFill>
                <a:latin typeface="Noto Sans SC"/>
                <a:ea typeface="Noto Sans SC"/>
                <a:cs typeface="Noto Sans SC"/>
                <a:sym typeface="Noto Sans SC"/>
              </a:rPr>
              <a:t>L1 </a:t>
            </a:r>
            <a:r>
              <a:rPr lang="zh-CN" altLang="en-US" sz="1300" b="0" i="0" u="none" strike="noStrike" dirty="0">
                <a:solidFill>
                  <a:srgbClr val="4A5568"/>
                </a:solidFill>
                <a:latin typeface="Noto Sans SC"/>
                <a:ea typeface="Noto Sans SC"/>
                <a:cs typeface="Noto Sans SC"/>
                <a:sym typeface="Noto Sans SC"/>
              </a:rPr>
              <a:t>缓存主导，各方案差异小；大规模时内存带宽成为瓶颈，</a:t>
            </a:r>
            <a:r>
              <a:rPr lang="en-US" altLang="zh-CN" sz="1300" b="0" i="0" u="none" strike="noStrike" dirty="0">
                <a:solidFill>
                  <a:srgbClr val="4A5568"/>
                </a:solidFill>
                <a:latin typeface="Noto Sans SC"/>
                <a:ea typeface="Noto Sans SC"/>
                <a:cs typeface="Noto Sans SC"/>
                <a:sym typeface="Noto Sans SC"/>
              </a:rPr>
              <a:t>SIMD </a:t>
            </a:r>
            <a:r>
              <a:rPr lang="zh-CN" altLang="en-US" sz="1300" b="0" i="0" u="none" strike="noStrike" dirty="0">
                <a:solidFill>
                  <a:srgbClr val="4A5568"/>
                </a:solidFill>
                <a:latin typeface="Noto Sans SC"/>
                <a:ea typeface="Noto Sans SC"/>
                <a:cs typeface="Noto Sans SC"/>
                <a:sym typeface="Noto Sans SC"/>
              </a:rPr>
              <a:t>理论 </a:t>
            </a:r>
            <a:r>
              <a:rPr lang="en-US" altLang="zh-CN" sz="1300" b="0" i="0" u="none" strike="noStrike" dirty="0">
                <a:solidFill>
                  <a:srgbClr val="4A5568"/>
                </a:solidFill>
                <a:latin typeface="Noto Sans SC"/>
                <a:ea typeface="Noto Sans SC"/>
                <a:cs typeface="Noto Sans SC"/>
                <a:sym typeface="Noto Sans SC"/>
              </a:rPr>
              <a:t>4x </a:t>
            </a:r>
            <a:r>
              <a:rPr lang="zh-CN" altLang="en-US" sz="1300" b="0" i="0" u="none" strike="noStrike" dirty="0">
                <a:solidFill>
                  <a:srgbClr val="4A5568"/>
                </a:solidFill>
                <a:latin typeface="Noto Sans SC"/>
                <a:ea typeface="Noto Sans SC"/>
                <a:cs typeface="Noto Sans SC"/>
                <a:sym typeface="Noto Sans SC"/>
              </a:rPr>
              <a:t>加速被</a:t>
            </a:r>
            <a:r>
              <a:rPr lang="en-US" altLang="zh-CN" sz="1300" b="0"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内存墙</a:t>
            </a:r>
            <a:r>
              <a:rPr lang="en-US" altLang="zh-CN" sz="1300" b="0"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限制为实测约 </a:t>
            </a:r>
            <a:r>
              <a:rPr lang="en-US" altLang="zh-CN" sz="1300" b="0" i="0" u="none" strike="noStrike" dirty="0">
                <a:solidFill>
                  <a:srgbClr val="4A5568"/>
                </a:solidFill>
                <a:latin typeface="Noto Sans SC"/>
                <a:ea typeface="Noto Sans SC"/>
                <a:cs typeface="Noto Sans SC"/>
                <a:sym typeface="Noto Sans SC"/>
              </a:rPr>
              <a:t>3%</a:t>
            </a:r>
            <a:endParaRPr lang="en-US" sz="1300" b="0" i="0" u="none" strike="noStrike" dirty="0">
              <a:solidFill>
                <a:srgbClr val="4A5568"/>
              </a:solidFill>
              <a:latin typeface="Noto Sans SC"/>
              <a:ea typeface="Noto Sans SC"/>
              <a:cs typeface="Noto Sans SC"/>
              <a:sym typeface="Noto Sans SC"/>
            </a:endParaRPr>
          </a:p>
        </p:txBody>
      </p:sp>
      <p:sp>
        <p:nvSpPr>
          <p:cNvPr id="13" name="AutoShape 13"/>
          <p:cNvSpPr/>
          <p:nvPr/>
        </p:nvSpPr>
        <p:spPr>
          <a:xfrm>
            <a:off x="6223000" y="4254500"/>
            <a:ext cx="5207000" cy="2349500"/>
          </a:xfrm>
          <a:prstGeom prst="roundRect">
            <a:avLst>
              <a:gd name="adj" fmla="val 6486"/>
            </a:avLst>
          </a:prstGeom>
          <a:solidFill>
            <a:srgbClr val="FFFFFF">
              <a:alpha val="95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572000"/>
            <a:ext cx="508000" cy="508000"/>
          </a:xfrm>
          <a:prstGeom prst="rect">
            <a:avLst/>
          </a:prstGeom>
        </p:spPr>
      </p:pic>
      <p:sp>
        <p:nvSpPr>
          <p:cNvPr id="15" name="AutoShape 15"/>
          <p:cNvSpPr/>
          <p:nvPr/>
        </p:nvSpPr>
        <p:spPr>
          <a:xfrm>
            <a:off x="7239000" y="4508500"/>
            <a:ext cx="3937000"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err="1">
                <a:solidFill>
                  <a:srgbClr val="2D3748"/>
                </a:solidFill>
                <a:latin typeface="Noto Sans SC"/>
                <a:ea typeface="Noto Sans SC"/>
                <a:cs typeface="Noto Sans SC"/>
                <a:sym typeface="Noto Sans SC"/>
              </a:rPr>
              <a:t>性能优化必须兼顾正确性</a:t>
            </a:r>
            <a:endParaRPr lang="en-US" sz="1100" dirty="0"/>
          </a:p>
          <a:p>
            <a:pPr indent="0" algn="l">
              <a:lnSpc>
                <a:spcPct val="116666"/>
              </a:lnSpc>
              <a:spcBef>
                <a:spcPts val="1000"/>
              </a:spcBef>
            </a:pPr>
            <a:r>
              <a:rPr lang="en-US" sz="1300" b="1" i="0" u="none" strike="noStrike" dirty="0">
                <a:solidFill>
                  <a:srgbClr val="4A5568"/>
                </a:solidFill>
                <a:latin typeface="Noto Sans SC"/>
                <a:ea typeface="Noto Sans SC"/>
                <a:cs typeface="Noto Sans SC"/>
                <a:sym typeface="Noto Sans SC"/>
              </a:rPr>
              <a:t>• </a:t>
            </a:r>
            <a:r>
              <a:rPr lang="en-US" sz="1300" b="1" i="0" u="none" strike="noStrike" dirty="0" err="1">
                <a:solidFill>
                  <a:srgbClr val="4A5568"/>
                </a:solidFill>
                <a:latin typeface="Noto Sans SC"/>
                <a:ea typeface="Noto Sans SC"/>
                <a:cs typeface="Noto Sans SC"/>
                <a:sym typeface="Noto Sans SC"/>
              </a:rPr>
              <a:t>验证的重要性</a:t>
            </a:r>
            <a:r>
              <a:rPr lang="en-US" sz="1300" b="1"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通过 </a:t>
            </a:r>
            <a:r>
              <a:rPr lang="en-US" altLang="zh-CN" sz="1300" b="0" i="0" u="none" strike="noStrike" dirty="0">
                <a:solidFill>
                  <a:srgbClr val="4A5568"/>
                </a:solidFill>
                <a:latin typeface="Noto Sans SC"/>
                <a:ea typeface="Noto Sans SC"/>
                <a:cs typeface="Noto Sans SC"/>
                <a:sym typeface="Noto Sans SC"/>
              </a:rPr>
              <a:t>IFFT </a:t>
            </a:r>
            <a:r>
              <a:rPr lang="zh-CN" altLang="en-US" sz="1300" b="0" i="0" u="none" strike="noStrike" dirty="0">
                <a:solidFill>
                  <a:srgbClr val="4A5568"/>
                </a:solidFill>
                <a:latin typeface="Noto Sans SC"/>
                <a:ea typeface="Noto Sans SC"/>
                <a:cs typeface="Noto Sans SC"/>
                <a:sym typeface="Noto Sans SC"/>
              </a:rPr>
              <a:t>并与原始输入比较误差，系统性验证所有版本的数值稳定性</a:t>
            </a:r>
            <a:endParaRPr lang="en-US" sz="1300" b="0" i="0" u="none" strike="noStrike" dirty="0">
              <a:solidFill>
                <a:srgbClr val="4A5568"/>
              </a:solidFill>
              <a:latin typeface="Noto Sans SC"/>
              <a:ea typeface="Noto Sans SC"/>
              <a:cs typeface="Noto Sans SC"/>
              <a:sym typeface="Noto Sans SC"/>
            </a:endParaRPr>
          </a:p>
          <a:p>
            <a:pPr indent="0" algn="l">
              <a:lnSpc>
                <a:spcPct val="116666"/>
              </a:lnSpc>
            </a:pPr>
            <a:r>
              <a:rPr lang="en-US" sz="1300" b="1" i="0" u="none" strike="noStrike" dirty="0">
                <a:solidFill>
                  <a:srgbClr val="4A5568"/>
                </a:solidFill>
                <a:latin typeface="Noto Sans SC"/>
                <a:ea typeface="Noto Sans SC"/>
                <a:cs typeface="Noto Sans SC"/>
                <a:sym typeface="Noto Sans SC"/>
              </a:rPr>
              <a:t>• `</a:t>
            </a:r>
            <a:r>
              <a:rPr lang="en-US" sz="1300" b="1" i="0" u="none" strike="noStrike" dirty="0" err="1">
                <a:solidFill>
                  <a:srgbClr val="4A5568"/>
                </a:solidFill>
                <a:latin typeface="Noto Sans SC"/>
                <a:ea typeface="Noto Sans SC"/>
                <a:cs typeface="Noto Sans SC"/>
                <a:sym typeface="Noto Sans SC"/>
              </a:rPr>
              <a:t>max_error</a:t>
            </a:r>
            <a:r>
              <a:rPr lang="en-US" sz="1300" b="1" i="0" u="none" strike="noStrike" dirty="0">
                <a:solidFill>
                  <a:srgbClr val="4A5568"/>
                </a:solidFill>
                <a:latin typeface="Noto Sans SC"/>
                <a:ea typeface="Noto Sans SC"/>
                <a:cs typeface="Noto Sans SC"/>
                <a:sym typeface="Noto Sans SC"/>
              </a:rPr>
              <a:t>` </a:t>
            </a:r>
            <a:r>
              <a:rPr lang="en-US" sz="1300" b="1" i="0" u="none" strike="noStrike" dirty="0" err="1">
                <a:solidFill>
                  <a:srgbClr val="4A5568"/>
                </a:solidFill>
                <a:latin typeface="Noto Sans SC"/>
                <a:ea typeface="Noto Sans SC"/>
                <a:cs typeface="Noto Sans SC"/>
                <a:sym typeface="Noto Sans SC"/>
              </a:rPr>
              <a:t>的意义：</a:t>
            </a:r>
            <a:r>
              <a:rPr lang="en-US" sz="1300" b="0" i="0" u="none" strike="noStrike" dirty="0" err="1">
                <a:solidFill>
                  <a:srgbClr val="4A5568"/>
                </a:solidFill>
                <a:latin typeface="Noto Sans SC"/>
                <a:ea typeface="Noto Sans SC"/>
                <a:cs typeface="Noto Sans SC"/>
                <a:sym typeface="Noto Sans SC"/>
              </a:rPr>
              <a:t>误差分析数据有力证明，所有的性能优化均是在保持算法核心语义和计算精度不变的前提下完成的</a:t>
            </a:r>
            <a:endParaRPr lang="en-US" sz="1300" b="0" i="0" u="none" strike="noStrike" dirty="0">
              <a:solidFill>
                <a:srgbClr val="4A5568"/>
              </a:solidFill>
              <a:latin typeface="Noto Sans SC"/>
              <a:ea typeface="Noto Sans SC"/>
              <a:cs typeface="Noto Sans SC"/>
              <a:sym typeface="Noto Sans S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a:ea typeface="Noto Sans SC"/>
                <a:cs typeface="Noto Sans SC"/>
                <a:sym typeface="Noto Sans SC"/>
              </a:rPr>
              <a:t>实验结论</a:t>
            </a:r>
            <a:endParaRPr lang="en-US" sz="1100"/>
          </a:p>
        </p:txBody>
      </p:sp>
      <p:sp>
        <p:nvSpPr>
          <p:cNvPr id="4" name="AutoShape 4"/>
          <p:cNvSpPr/>
          <p:nvPr/>
        </p:nvSpPr>
        <p:spPr>
          <a:xfrm>
            <a:off x="762000" y="1651000"/>
            <a:ext cx="3302000" cy="2286000"/>
          </a:xfrm>
          <a:prstGeom prst="roundRect">
            <a:avLst>
              <a:gd name="adj" fmla="val 6666"/>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905000"/>
            <a:ext cx="355600" cy="355600"/>
          </a:xfrm>
          <a:prstGeom prst="rect">
            <a:avLst/>
          </a:prstGeom>
        </p:spPr>
      </p:pic>
      <p:sp>
        <p:nvSpPr>
          <p:cNvPr id="6" name="AutoShape 6"/>
          <p:cNvSpPr/>
          <p:nvPr/>
        </p:nvSpPr>
        <p:spPr>
          <a:xfrm>
            <a:off x="1460500" y="18796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2D3748"/>
                </a:solidFill>
                <a:latin typeface="Noto Sans SC"/>
                <a:ea typeface="Noto Sans SC"/>
                <a:cs typeface="Noto Sans SC"/>
                <a:sym typeface="Noto Sans SC"/>
              </a:rPr>
              <a:t>原始程序已含核心算法优化</a:t>
            </a:r>
            <a:endParaRPr lang="en-US" sz="1100"/>
          </a:p>
        </p:txBody>
      </p:sp>
      <p:sp>
        <p:nvSpPr>
          <p:cNvPr id="7" name="AutoShape 7"/>
          <p:cNvSpPr/>
          <p:nvPr/>
        </p:nvSpPr>
        <p:spPr>
          <a:xfrm>
            <a:off x="952500" y="25400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300" b="0" i="0" u="none" strike="noStrike" dirty="0" err="1">
                <a:solidFill>
                  <a:srgbClr val="4A5568"/>
                </a:solidFill>
                <a:latin typeface="Noto Sans SC"/>
                <a:ea typeface="Noto Sans SC"/>
                <a:cs typeface="Noto Sans SC"/>
                <a:sym typeface="Noto Sans SC"/>
              </a:rPr>
              <a:t>其核心思想</a:t>
            </a:r>
            <a:r>
              <a:rPr lang="en-US" sz="1300" b="0"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迭代 </a:t>
            </a:r>
            <a:r>
              <a:rPr lang="en-US" sz="1300" b="0" i="0" u="none" strike="noStrike" dirty="0">
                <a:solidFill>
                  <a:srgbClr val="4A5568"/>
                </a:solidFill>
                <a:latin typeface="Noto Sans SC"/>
                <a:ea typeface="Noto Sans SC"/>
                <a:cs typeface="Noto Sans SC"/>
                <a:sym typeface="Noto Sans SC"/>
              </a:rPr>
              <a:t>Cooley-Tukey、</a:t>
            </a:r>
            <a:r>
              <a:rPr lang="zh-CN" altLang="en-US" sz="1300" b="0" i="0" u="none" strike="noStrike" dirty="0">
                <a:solidFill>
                  <a:srgbClr val="4A5568"/>
                </a:solidFill>
                <a:latin typeface="Noto Sans SC"/>
                <a:ea typeface="Noto Sans SC"/>
                <a:cs typeface="Noto Sans SC"/>
                <a:sym typeface="Noto Sans SC"/>
              </a:rPr>
              <a:t>蝶形运算以及 </a:t>
            </a:r>
            <a:r>
              <a:rPr lang="en-US" sz="1300" b="0" i="0" u="none" strike="noStrike" dirty="0">
                <a:solidFill>
                  <a:srgbClr val="4A5568"/>
                </a:solidFill>
                <a:latin typeface="Noto Sans SC"/>
                <a:ea typeface="Noto Sans SC"/>
                <a:cs typeface="Noto Sans SC"/>
                <a:sym typeface="Noto Sans SC"/>
              </a:rPr>
              <a:t>O(N log N) </a:t>
            </a:r>
            <a:r>
              <a:rPr lang="zh-CN" altLang="en-US" sz="1300" b="0" i="0" u="none" strike="noStrike" dirty="0">
                <a:solidFill>
                  <a:srgbClr val="4A5568"/>
                </a:solidFill>
                <a:latin typeface="Noto Sans SC"/>
                <a:ea typeface="Noto Sans SC"/>
                <a:cs typeface="Noto Sans SC"/>
                <a:sym typeface="Noto Sans SC"/>
              </a:rPr>
              <a:t>复杂度</a:t>
            </a:r>
            <a:r>
              <a:rPr lang="en-US" altLang="zh-CN" sz="1300" b="0" i="0" u="none" strike="noStrike" dirty="0">
                <a:solidFill>
                  <a:srgbClr val="4A5568"/>
                </a:solidFill>
                <a:latin typeface="Noto Sans SC"/>
                <a:ea typeface="Noto Sans SC"/>
                <a:cs typeface="Noto Sans SC"/>
                <a:sym typeface="Noto Sans SC"/>
              </a:rPr>
              <a:t>——</a:t>
            </a:r>
          </a:p>
          <a:p>
            <a:pPr indent="0" algn="l">
              <a:lnSpc>
                <a:spcPct val="116666"/>
              </a:lnSpc>
              <a:defRPr/>
            </a:pPr>
            <a:r>
              <a:rPr lang="zh-CN" altLang="en-US" sz="1300" b="0" i="0" u="none" strike="noStrike" dirty="0">
                <a:solidFill>
                  <a:srgbClr val="4A5568"/>
                </a:solidFill>
                <a:latin typeface="Noto Sans SC"/>
                <a:ea typeface="Noto Sans SC"/>
                <a:cs typeface="Noto Sans SC"/>
                <a:sym typeface="Noto Sans SC"/>
              </a:rPr>
              <a:t>是 </a:t>
            </a:r>
            <a:r>
              <a:rPr lang="en-US" sz="1300" b="0" i="0" u="none" strike="noStrike" dirty="0">
                <a:solidFill>
                  <a:srgbClr val="4A5568"/>
                </a:solidFill>
                <a:latin typeface="Noto Sans SC"/>
                <a:ea typeface="Noto Sans SC"/>
                <a:cs typeface="Noto Sans SC"/>
                <a:sym typeface="Noto Sans SC"/>
              </a:rPr>
              <a:t>FFT </a:t>
            </a:r>
            <a:r>
              <a:rPr lang="zh-CN" altLang="en-US" sz="1300" b="0" i="0" u="none" strike="noStrike" dirty="0">
                <a:solidFill>
                  <a:srgbClr val="4A5568"/>
                </a:solidFill>
                <a:latin typeface="Noto Sans SC"/>
                <a:ea typeface="Noto Sans SC"/>
                <a:cs typeface="Noto Sans SC"/>
                <a:sym typeface="Noto Sans SC"/>
              </a:rPr>
              <a:t>高效的根本原因。预计算旋转因子 </a:t>
            </a:r>
            <a:r>
              <a:rPr lang="en-US" altLang="zh-CN" sz="1300" b="0" i="0" u="none" strike="noStrike" dirty="0">
                <a:solidFill>
                  <a:srgbClr val="4A5568"/>
                </a:solidFill>
                <a:latin typeface="Noto Sans SC"/>
                <a:ea typeface="Noto Sans SC"/>
                <a:cs typeface="Noto Sans SC"/>
                <a:sym typeface="Noto Sans SC"/>
              </a:rPr>
              <a:t>+ </a:t>
            </a:r>
            <a:r>
              <a:rPr lang="zh-CN" altLang="en-US" sz="1300" b="0" i="0" u="none" strike="noStrike" dirty="0">
                <a:solidFill>
                  <a:srgbClr val="4A5568"/>
                </a:solidFill>
                <a:latin typeface="Noto Sans SC"/>
                <a:ea typeface="Noto Sans SC"/>
                <a:cs typeface="Noto Sans SC"/>
                <a:sym typeface="Noto Sans SC"/>
              </a:rPr>
              <a:t>部分 </a:t>
            </a:r>
            <a:r>
              <a:rPr lang="en-US" sz="1300" b="0" i="0" u="none" strike="noStrike" dirty="0">
                <a:solidFill>
                  <a:srgbClr val="4A5568"/>
                </a:solidFill>
                <a:latin typeface="Noto Sans SC"/>
                <a:ea typeface="Noto Sans SC"/>
                <a:cs typeface="Noto Sans SC"/>
                <a:sym typeface="Noto Sans SC"/>
              </a:rPr>
              <a:t>NEON </a:t>
            </a:r>
            <a:r>
              <a:rPr lang="zh-CN" altLang="en-US" sz="1300" b="0" i="0" u="none" strike="noStrike" dirty="0">
                <a:solidFill>
                  <a:srgbClr val="4A5568"/>
                </a:solidFill>
                <a:latin typeface="Noto Sans SC"/>
                <a:ea typeface="Noto Sans SC"/>
                <a:cs typeface="Noto Sans SC"/>
                <a:sym typeface="Noto Sans SC"/>
              </a:rPr>
              <a:t>指令已构成良好基础。</a:t>
            </a:r>
            <a:endParaRPr lang="en-US" sz="1100" dirty="0"/>
          </a:p>
        </p:txBody>
      </p:sp>
      <p:sp>
        <p:nvSpPr>
          <p:cNvPr id="8" name="AutoShape 8"/>
          <p:cNvSpPr/>
          <p:nvPr/>
        </p:nvSpPr>
        <p:spPr>
          <a:xfrm>
            <a:off x="4445000" y="1651000"/>
            <a:ext cx="3302000" cy="2286000"/>
          </a:xfrm>
          <a:prstGeom prst="roundRect">
            <a:avLst>
              <a:gd name="adj" fmla="val 6666"/>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905000"/>
            <a:ext cx="355600" cy="355600"/>
          </a:xfrm>
          <a:prstGeom prst="rect">
            <a:avLst/>
          </a:prstGeom>
        </p:spPr>
      </p:pic>
      <p:sp>
        <p:nvSpPr>
          <p:cNvPr id="10" name="AutoShape 10"/>
          <p:cNvSpPr/>
          <p:nvPr/>
        </p:nvSpPr>
        <p:spPr>
          <a:xfrm>
            <a:off x="5143500" y="18796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700" b="1" i="0" u="none" strike="noStrike" dirty="0">
                <a:solidFill>
                  <a:srgbClr val="2D3748"/>
                </a:solidFill>
                <a:latin typeface="Noto Sans SC"/>
                <a:ea typeface="Noto Sans SC"/>
                <a:cs typeface="Noto Sans SC"/>
                <a:sym typeface="Noto Sans SC"/>
              </a:rPr>
              <a:t>v1</a:t>
            </a:r>
            <a:r>
              <a:rPr lang="zh-CN" altLang="en-US" sz="1700" b="1" i="0" u="none" strike="noStrike" dirty="0">
                <a:solidFill>
                  <a:srgbClr val="2D3748"/>
                </a:solidFill>
                <a:latin typeface="Noto Sans SC"/>
                <a:ea typeface="Noto Sans SC"/>
                <a:cs typeface="Noto Sans SC"/>
                <a:sym typeface="Noto Sans SC"/>
              </a:rPr>
              <a:t>查表法：综合收益最稳定</a:t>
            </a:r>
            <a:endParaRPr lang="en-US" sz="1100" dirty="0"/>
          </a:p>
        </p:txBody>
      </p:sp>
      <p:sp>
        <p:nvSpPr>
          <p:cNvPr id="11" name="AutoShape 11"/>
          <p:cNvSpPr/>
          <p:nvPr/>
        </p:nvSpPr>
        <p:spPr>
          <a:xfrm>
            <a:off x="4635500" y="25400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zh-CN" altLang="en-US" sz="1300" b="0" i="0" u="none" strike="noStrike" dirty="0">
                <a:solidFill>
                  <a:srgbClr val="4A5568"/>
                </a:solidFill>
                <a:latin typeface="Noto Sans SC"/>
                <a:ea typeface="Noto Sans SC"/>
                <a:cs typeface="Noto Sans SC"/>
                <a:sym typeface="Noto Sans SC"/>
              </a:rPr>
              <a:t>以较小代码改动带来显著性能提升，</a:t>
            </a:r>
            <a:r>
              <a:rPr lang="en-US" altLang="zh-CN" sz="1300" b="0" i="0" u="none" strike="noStrike" dirty="0">
                <a:solidFill>
                  <a:srgbClr val="4A5568"/>
                </a:solidFill>
                <a:latin typeface="Noto Sans SC"/>
                <a:ea typeface="Noto Sans SC"/>
                <a:cs typeface="Noto Sans SC"/>
                <a:sym typeface="Noto Sans SC"/>
              </a:rPr>
              <a:t>float </a:t>
            </a:r>
            <a:r>
              <a:rPr lang="zh-CN" altLang="en-US" sz="1300" b="0" i="0" u="none" strike="noStrike" dirty="0">
                <a:solidFill>
                  <a:srgbClr val="4A5568"/>
                </a:solidFill>
                <a:latin typeface="Noto Sans SC"/>
                <a:ea typeface="Noto Sans SC"/>
                <a:cs typeface="Noto Sans SC"/>
                <a:sym typeface="Noto Sans SC"/>
              </a:rPr>
              <a:t>查找表替代 </a:t>
            </a:r>
            <a:r>
              <a:rPr lang="en-US" altLang="zh-CN" sz="1300" b="0" i="0" u="none" strike="noStrike" dirty="0">
                <a:solidFill>
                  <a:srgbClr val="4A5568"/>
                </a:solidFill>
                <a:latin typeface="Noto Sans SC"/>
                <a:ea typeface="Noto Sans SC"/>
                <a:cs typeface="Noto Sans SC"/>
                <a:sym typeface="Noto Sans SC"/>
              </a:rPr>
              <a:t>double </a:t>
            </a:r>
            <a:r>
              <a:rPr lang="zh-CN" altLang="en-US" sz="1300" b="0" i="0" u="none" strike="noStrike" dirty="0">
                <a:solidFill>
                  <a:srgbClr val="4A5568"/>
                </a:solidFill>
                <a:latin typeface="Noto Sans SC"/>
                <a:ea typeface="Noto Sans SC"/>
                <a:cs typeface="Noto Sans SC"/>
                <a:sym typeface="Noto Sans SC"/>
              </a:rPr>
              <a:t>预计算，</a:t>
            </a:r>
          </a:p>
          <a:p>
            <a:pPr indent="0" algn="l">
              <a:lnSpc>
                <a:spcPct val="116666"/>
              </a:lnSpc>
              <a:defRPr/>
            </a:pPr>
            <a:r>
              <a:rPr lang="en-US" altLang="zh-CN" sz="1300" b="0" i="0" u="none" strike="noStrike" dirty="0">
                <a:solidFill>
                  <a:srgbClr val="4A5568"/>
                </a:solidFill>
                <a:latin typeface="Noto Sans SC"/>
                <a:ea typeface="Noto Sans SC"/>
                <a:cs typeface="Noto Sans SC"/>
                <a:sym typeface="Noto Sans SC"/>
              </a:rPr>
              <a:t>O(1) </a:t>
            </a:r>
            <a:r>
              <a:rPr lang="zh-CN" altLang="en-US" sz="1300" b="0" i="0" u="none" strike="noStrike" dirty="0">
                <a:solidFill>
                  <a:srgbClr val="4A5568"/>
                </a:solidFill>
                <a:latin typeface="Noto Sans SC"/>
                <a:ea typeface="Noto Sans SC"/>
                <a:cs typeface="Noto Sans SC"/>
                <a:sym typeface="Noto Sans SC"/>
              </a:rPr>
              <a:t>查表消除三角函数调用开销，是性价比最高的优化手段。</a:t>
            </a:r>
            <a:endParaRPr lang="en-US" sz="1100" dirty="0"/>
          </a:p>
        </p:txBody>
      </p:sp>
      <p:sp>
        <p:nvSpPr>
          <p:cNvPr id="12" name="AutoShape 12"/>
          <p:cNvSpPr/>
          <p:nvPr/>
        </p:nvSpPr>
        <p:spPr>
          <a:xfrm>
            <a:off x="8128000" y="1651000"/>
            <a:ext cx="3302000" cy="2286000"/>
          </a:xfrm>
          <a:prstGeom prst="roundRect">
            <a:avLst>
              <a:gd name="adj" fmla="val 6666"/>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905000"/>
            <a:ext cx="355600" cy="355600"/>
          </a:xfrm>
          <a:prstGeom prst="rect">
            <a:avLst/>
          </a:prstGeom>
        </p:spPr>
      </p:pic>
      <p:sp>
        <p:nvSpPr>
          <p:cNvPr id="14" name="AutoShape 14"/>
          <p:cNvSpPr/>
          <p:nvPr/>
        </p:nvSpPr>
        <p:spPr>
          <a:xfrm>
            <a:off x="8826500" y="1879600"/>
            <a:ext cx="2413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700" b="1" dirty="0">
                <a:solidFill>
                  <a:srgbClr val="2D3748"/>
                </a:solidFill>
                <a:latin typeface="Noto Sans SC"/>
                <a:ea typeface="Noto Sans SC"/>
                <a:cs typeface="Noto Sans SC"/>
                <a:sym typeface="Noto Sans SC"/>
              </a:rPr>
              <a:t>v</a:t>
            </a:r>
            <a:r>
              <a:rPr lang="en-US" sz="1700" b="1" i="0" u="none" strike="noStrike" dirty="0">
                <a:solidFill>
                  <a:srgbClr val="2D3748"/>
                </a:solidFill>
                <a:latin typeface="Noto Sans SC"/>
                <a:ea typeface="Noto Sans SC"/>
                <a:cs typeface="Noto Sans SC"/>
                <a:sym typeface="Noto Sans SC"/>
              </a:rPr>
              <a:t>2 NEON SIMD：</a:t>
            </a:r>
            <a:r>
              <a:rPr lang="zh-CN" altLang="en-US" sz="1700" b="1" i="0" u="none" strike="noStrike" dirty="0">
                <a:solidFill>
                  <a:srgbClr val="2D3748"/>
                </a:solidFill>
                <a:latin typeface="Noto Sans SC"/>
                <a:ea typeface="Noto Sans SC"/>
                <a:cs typeface="Noto Sans SC"/>
                <a:sym typeface="Noto Sans SC"/>
              </a:rPr>
              <a:t>大规模下性能最优</a:t>
            </a:r>
            <a:endParaRPr lang="en-US" sz="1100" dirty="0"/>
          </a:p>
        </p:txBody>
      </p:sp>
      <p:sp>
        <p:nvSpPr>
          <p:cNvPr id="15" name="AutoShape 15"/>
          <p:cNvSpPr/>
          <p:nvPr/>
        </p:nvSpPr>
        <p:spPr>
          <a:xfrm>
            <a:off x="8318500" y="25400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zh-CN" altLang="en-US" sz="1300" b="0" i="0" u="none" strike="noStrike" dirty="0">
                <a:solidFill>
                  <a:srgbClr val="4A5568"/>
                </a:solidFill>
                <a:latin typeface="Noto Sans SC"/>
                <a:ea typeface="Noto Sans SC"/>
                <a:cs typeface="Noto Sans SC"/>
                <a:sym typeface="Noto Sans SC"/>
              </a:rPr>
              <a:t>融合乘加指令 </a:t>
            </a:r>
            <a:r>
              <a:rPr lang="en-US" altLang="zh-CN" sz="1300" b="0" i="0" u="none" strike="noStrike" dirty="0">
                <a:solidFill>
                  <a:srgbClr val="4A5568"/>
                </a:solidFill>
                <a:latin typeface="Noto Sans SC"/>
                <a:ea typeface="Noto Sans SC"/>
                <a:cs typeface="Noto Sans SC"/>
                <a:sym typeface="Noto Sans SC"/>
              </a:rPr>
              <a:t>+ 4 </a:t>
            </a:r>
            <a:r>
              <a:rPr lang="zh-CN" altLang="en-US" sz="1300" b="0" i="0" u="none" strike="noStrike" dirty="0">
                <a:solidFill>
                  <a:srgbClr val="4A5568"/>
                </a:solidFill>
                <a:latin typeface="Noto Sans SC"/>
                <a:ea typeface="Noto Sans SC"/>
                <a:cs typeface="Noto Sans SC"/>
                <a:sym typeface="Noto Sans SC"/>
              </a:rPr>
              <a:t>路并行计算，充分挖掘 </a:t>
            </a:r>
            <a:r>
              <a:rPr lang="en-US" sz="1300" b="0" i="0" u="none" strike="noStrike" dirty="0">
                <a:solidFill>
                  <a:srgbClr val="4A5568"/>
                </a:solidFill>
                <a:latin typeface="Noto Sans SC"/>
                <a:ea typeface="Noto Sans SC"/>
                <a:cs typeface="Noto Sans SC"/>
                <a:sym typeface="Noto Sans SC"/>
              </a:rPr>
              <a:t>ARM Cortex-A53 </a:t>
            </a:r>
            <a:r>
              <a:rPr lang="zh-CN" altLang="en-US" sz="1300" b="0" i="0" u="none" strike="noStrike" dirty="0">
                <a:solidFill>
                  <a:srgbClr val="4A5568"/>
                </a:solidFill>
                <a:latin typeface="Noto Sans SC"/>
                <a:ea typeface="Noto Sans SC"/>
                <a:cs typeface="Noto Sans SC"/>
                <a:sym typeface="Noto Sans SC"/>
              </a:rPr>
              <a:t>的 </a:t>
            </a:r>
            <a:r>
              <a:rPr lang="en-US" sz="1300" b="0" i="0" u="none" strike="noStrike" dirty="0">
                <a:solidFill>
                  <a:srgbClr val="4A5568"/>
                </a:solidFill>
                <a:latin typeface="Noto Sans SC"/>
                <a:ea typeface="Noto Sans SC"/>
                <a:cs typeface="Noto Sans SC"/>
                <a:sym typeface="Noto Sans SC"/>
              </a:rPr>
              <a:t>NEON </a:t>
            </a:r>
            <a:r>
              <a:rPr lang="zh-CN" altLang="en-US" sz="1300" b="0" i="0" u="none" strike="noStrike" dirty="0">
                <a:solidFill>
                  <a:srgbClr val="4A5568"/>
                </a:solidFill>
                <a:latin typeface="Noto Sans SC"/>
                <a:ea typeface="Noto Sans SC"/>
                <a:cs typeface="Noto Sans SC"/>
                <a:sym typeface="Noto Sans SC"/>
              </a:rPr>
              <a:t>单元能力，</a:t>
            </a:r>
            <a:r>
              <a:rPr lang="en-US" altLang="zh-CN" sz="1300" b="0" i="0" u="none" strike="noStrike" dirty="0">
                <a:solidFill>
                  <a:srgbClr val="4A5568"/>
                </a:solidFill>
                <a:latin typeface="Noto Sans SC"/>
                <a:ea typeface="Noto Sans SC"/>
                <a:cs typeface="Noto Sans SC"/>
                <a:sym typeface="Noto Sans SC"/>
              </a:rPr>
              <a:t>32768 </a:t>
            </a:r>
            <a:r>
              <a:rPr lang="zh-CN" altLang="en-US" sz="1300" b="0" i="0" u="none" strike="noStrike" dirty="0">
                <a:solidFill>
                  <a:srgbClr val="4A5568"/>
                </a:solidFill>
                <a:latin typeface="Noto Sans SC"/>
                <a:ea typeface="Noto Sans SC"/>
                <a:cs typeface="Noto Sans SC"/>
                <a:sym typeface="Noto Sans SC"/>
              </a:rPr>
              <a:t>点 </a:t>
            </a:r>
            <a:r>
              <a:rPr lang="en-US" sz="1300" b="0" i="0" u="none" strike="noStrike" dirty="0">
                <a:solidFill>
                  <a:srgbClr val="4A5568"/>
                </a:solidFill>
                <a:latin typeface="Noto Sans SC"/>
                <a:ea typeface="Noto Sans SC"/>
                <a:cs typeface="Noto Sans SC"/>
                <a:sym typeface="Noto Sans SC"/>
              </a:rPr>
              <a:t>FFT </a:t>
            </a:r>
            <a:r>
              <a:rPr lang="zh-CN" altLang="en-US" sz="1300" b="0" i="0" u="none" strike="noStrike" dirty="0">
                <a:solidFill>
                  <a:srgbClr val="4A5568"/>
                </a:solidFill>
                <a:latin typeface="Noto Sans SC"/>
                <a:ea typeface="Noto Sans SC"/>
                <a:cs typeface="Noto Sans SC"/>
                <a:sym typeface="Noto Sans SC"/>
              </a:rPr>
              <a:t>时取得最佳性能</a:t>
            </a:r>
            <a:r>
              <a:rPr lang="en-US" sz="1300" b="0" i="0" u="none" strike="noStrike" dirty="0">
                <a:solidFill>
                  <a:srgbClr val="4A5568"/>
                </a:solidFill>
                <a:latin typeface="Noto Sans SC"/>
                <a:ea typeface="Noto Sans SC"/>
                <a:cs typeface="Noto Sans SC"/>
                <a:sym typeface="Noto Sans SC"/>
              </a:rPr>
              <a:t>。</a:t>
            </a:r>
            <a:endParaRPr lang="en-US" sz="1100" dirty="0"/>
          </a:p>
        </p:txBody>
      </p:sp>
      <p:sp>
        <p:nvSpPr>
          <p:cNvPr id="16" name="AutoShape 16"/>
          <p:cNvSpPr/>
          <p:nvPr/>
        </p:nvSpPr>
        <p:spPr>
          <a:xfrm>
            <a:off x="762000" y="4191000"/>
            <a:ext cx="5143500" cy="2159000"/>
          </a:xfrm>
          <a:prstGeom prst="roundRect">
            <a:avLst>
              <a:gd name="adj" fmla="val 7058"/>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445000"/>
            <a:ext cx="355600" cy="355600"/>
          </a:xfrm>
          <a:prstGeom prst="rect">
            <a:avLst/>
          </a:prstGeom>
        </p:spPr>
      </p:pic>
      <p:sp>
        <p:nvSpPr>
          <p:cNvPr id="18" name="AutoShape 18"/>
          <p:cNvSpPr/>
          <p:nvPr/>
        </p:nvSpPr>
        <p:spPr>
          <a:xfrm>
            <a:off x="1460500" y="4419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altLang="zh-CN" sz="1700" b="1" dirty="0">
                <a:solidFill>
                  <a:srgbClr val="2D3748"/>
                </a:solidFill>
                <a:latin typeface="Noto Sans SC"/>
                <a:ea typeface="Noto Sans SC"/>
                <a:cs typeface="Noto Sans SC"/>
                <a:sym typeface="Noto Sans SC"/>
              </a:rPr>
              <a:t>v</a:t>
            </a:r>
            <a:r>
              <a:rPr lang="en-US" altLang="zh-CN" sz="1700" b="1" i="0" u="none" strike="noStrike" dirty="0">
                <a:solidFill>
                  <a:srgbClr val="2D3748"/>
                </a:solidFill>
                <a:latin typeface="Noto Sans SC"/>
                <a:ea typeface="Noto Sans SC"/>
                <a:cs typeface="Noto Sans SC"/>
                <a:sym typeface="Noto Sans SC"/>
              </a:rPr>
              <a:t>3 </a:t>
            </a:r>
            <a:r>
              <a:rPr lang="zh-CN" altLang="en-US" sz="1700" b="1" i="0" u="none" strike="noStrike" dirty="0">
                <a:solidFill>
                  <a:srgbClr val="2D3748"/>
                </a:solidFill>
                <a:latin typeface="Noto Sans SC"/>
                <a:ea typeface="Noto Sans SC"/>
                <a:cs typeface="Noto Sans SC"/>
                <a:sym typeface="Noto Sans SC"/>
              </a:rPr>
              <a:t>缓存友好 </a:t>
            </a:r>
            <a:r>
              <a:rPr lang="en-US" altLang="zh-CN" sz="1700" b="1" i="0" u="none" strike="noStrike" dirty="0">
                <a:solidFill>
                  <a:srgbClr val="2D3748"/>
                </a:solidFill>
                <a:latin typeface="Noto Sans SC"/>
                <a:ea typeface="Noto Sans SC"/>
                <a:cs typeface="Noto Sans SC"/>
                <a:sym typeface="Noto Sans SC"/>
              </a:rPr>
              <a:t>+ v4 </a:t>
            </a:r>
            <a:r>
              <a:rPr lang="zh-CN" altLang="en-US" sz="1700" b="1" i="0" u="none" strike="noStrike" dirty="0">
                <a:solidFill>
                  <a:srgbClr val="2D3748"/>
                </a:solidFill>
                <a:latin typeface="Noto Sans SC"/>
                <a:ea typeface="Noto Sans SC"/>
                <a:cs typeface="Noto Sans SC"/>
                <a:sym typeface="Noto Sans SC"/>
              </a:rPr>
              <a:t>对齐预取：锦上添花</a:t>
            </a:r>
            <a:endParaRPr lang="en-US" sz="1100" dirty="0"/>
          </a:p>
        </p:txBody>
      </p:sp>
      <p:sp>
        <p:nvSpPr>
          <p:cNvPr id="19" name="AutoShape 19"/>
          <p:cNvSpPr/>
          <p:nvPr/>
        </p:nvSpPr>
        <p:spPr>
          <a:xfrm>
            <a:off x="952500" y="5080000"/>
            <a:ext cx="4762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zh-CN" altLang="en-US" sz="1300" b="0" i="0" u="none" strike="noStrike" dirty="0">
                <a:solidFill>
                  <a:srgbClr val="4A5568"/>
                </a:solidFill>
                <a:latin typeface="Noto Sans SC"/>
                <a:ea typeface="Noto Sans SC"/>
                <a:cs typeface="Noto Sans SC"/>
                <a:sym typeface="Noto Sans SC"/>
              </a:rPr>
              <a:t>针对缓存命中率和内存访问延迟的精细化优化。在数据规模超过 </a:t>
            </a:r>
            <a:r>
              <a:rPr lang="en-US" altLang="zh-CN" sz="1300" b="0" i="0" u="none" strike="noStrike" dirty="0">
                <a:solidFill>
                  <a:srgbClr val="4A5568"/>
                </a:solidFill>
                <a:latin typeface="Noto Sans SC"/>
                <a:ea typeface="Noto Sans SC"/>
                <a:cs typeface="Noto Sans SC"/>
                <a:sym typeface="Noto Sans SC"/>
              </a:rPr>
              <a:t>L2 </a:t>
            </a:r>
            <a:r>
              <a:rPr lang="zh-CN" altLang="en-US" sz="1300" b="0" i="0" u="none" strike="noStrike" dirty="0">
                <a:solidFill>
                  <a:srgbClr val="4A5568"/>
                </a:solidFill>
                <a:latin typeface="Noto Sans SC"/>
                <a:ea typeface="Noto Sans SC"/>
                <a:cs typeface="Noto Sans SC"/>
                <a:sym typeface="Noto Sans SC"/>
              </a:rPr>
              <a:t>缓存时效果开始显现，配合 </a:t>
            </a:r>
            <a:r>
              <a:rPr lang="en-US" altLang="zh-CN" sz="1300" b="0" i="0" u="none" strike="noStrike" dirty="0">
                <a:solidFill>
                  <a:srgbClr val="4A5568"/>
                </a:solidFill>
                <a:latin typeface="Noto Sans SC"/>
                <a:ea typeface="Noto Sans SC"/>
                <a:cs typeface="Noto Sans SC"/>
                <a:sym typeface="Noto Sans SC"/>
              </a:rPr>
              <a:t>V2 </a:t>
            </a:r>
            <a:r>
              <a:rPr lang="zh-CN" altLang="en-US" sz="1300" b="0" i="0" u="none" strike="noStrike" dirty="0">
                <a:solidFill>
                  <a:srgbClr val="4A5568"/>
                </a:solidFill>
                <a:latin typeface="Noto Sans SC"/>
                <a:ea typeface="Noto Sans SC"/>
                <a:cs typeface="Noto Sans SC"/>
                <a:sym typeface="Noto Sans SC"/>
              </a:rPr>
              <a:t>使用效果最佳。</a:t>
            </a:r>
          </a:p>
        </p:txBody>
      </p:sp>
      <p:sp>
        <p:nvSpPr>
          <p:cNvPr id="20" name="AutoShape 20"/>
          <p:cNvSpPr/>
          <p:nvPr/>
        </p:nvSpPr>
        <p:spPr>
          <a:xfrm>
            <a:off x="6286500" y="4191000"/>
            <a:ext cx="5143500" cy="2159000"/>
          </a:xfrm>
          <a:prstGeom prst="roundRect">
            <a:avLst>
              <a:gd name="adj" fmla="val 7058"/>
            </a:avLst>
          </a:prstGeom>
          <a:solidFill>
            <a:srgbClr val="FFFFFF">
              <a:alpha val="100000"/>
            </a:srgbClr>
          </a:solidFill>
          <a:ln w="12700" cap="flat" cmpd="sng">
            <a:solidFill>
              <a:srgbClr val="E2E8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445000"/>
            <a:ext cx="355600" cy="355600"/>
          </a:xfrm>
          <a:prstGeom prst="rect">
            <a:avLst/>
          </a:prstGeom>
        </p:spPr>
      </p:pic>
      <p:sp>
        <p:nvSpPr>
          <p:cNvPr id="22" name="AutoShape 22"/>
          <p:cNvSpPr/>
          <p:nvPr/>
        </p:nvSpPr>
        <p:spPr>
          <a:xfrm>
            <a:off x="6985000" y="4419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700" b="1" i="0" u="none" strike="noStrike" dirty="0">
                <a:solidFill>
                  <a:srgbClr val="2D3748"/>
                </a:solidFill>
                <a:latin typeface="Noto Sans SC"/>
                <a:ea typeface="Noto Sans SC"/>
                <a:cs typeface="Noto Sans SC"/>
                <a:sym typeface="Noto Sans SC"/>
              </a:rPr>
              <a:t>核心洞察</a:t>
            </a:r>
            <a:endParaRPr lang="en-US" sz="1100" dirty="0"/>
          </a:p>
        </p:txBody>
      </p:sp>
      <p:sp>
        <p:nvSpPr>
          <p:cNvPr id="23" name="AutoShape 23"/>
          <p:cNvSpPr/>
          <p:nvPr/>
        </p:nvSpPr>
        <p:spPr>
          <a:xfrm>
            <a:off x="6477000" y="5080000"/>
            <a:ext cx="4762500" cy="10795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altLang="zh-CN" sz="1300" b="0" i="0" u="none" strike="noStrike" dirty="0">
                <a:solidFill>
                  <a:srgbClr val="4A5568"/>
                </a:solidFill>
                <a:latin typeface="Noto Sans SC"/>
                <a:ea typeface="Noto Sans SC"/>
                <a:cs typeface="Noto Sans SC"/>
                <a:sym typeface="Noto Sans SC"/>
              </a:rPr>
              <a:t>· </a:t>
            </a:r>
            <a:r>
              <a:rPr lang="zh-CN" altLang="en-US" sz="1300" b="0" i="0" u="none" strike="noStrike" dirty="0">
                <a:solidFill>
                  <a:srgbClr val="4A5568"/>
                </a:solidFill>
                <a:latin typeface="Noto Sans SC"/>
                <a:ea typeface="Noto Sans SC"/>
                <a:cs typeface="Noto Sans SC"/>
                <a:sym typeface="Noto Sans SC"/>
              </a:rPr>
              <a:t>内存带宽墙是最终瓶颈</a:t>
            </a:r>
            <a:r>
              <a:rPr lang="en-US" altLang="zh-CN" sz="1300" b="0" i="0" u="none" strike="noStrike" dirty="0">
                <a:solidFill>
                  <a:srgbClr val="4A5568"/>
                </a:solidFill>
                <a:latin typeface="Noto Sans SC"/>
                <a:ea typeface="Noto Sans SC"/>
                <a:cs typeface="Noto Sans SC"/>
                <a:sym typeface="Noto Sans SC"/>
              </a:rPr>
              <a:t>——SIMD </a:t>
            </a:r>
            <a:r>
              <a:rPr lang="zh-CN" altLang="en-US" sz="1300" b="0" i="0" u="none" strike="noStrike" dirty="0">
                <a:solidFill>
                  <a:srgbClr val="4A5568"/>
                </a:solidFill>
                <a:latin typeface="Noto Sans SC"/>
                <a:ea typeface="Noto Sans SC"/>
                <a:cs typeface="Noto Sans SC"/>
                <a:sym typeface="Noto Sans SC"/>
              </a:rPr>
              <a:t>理论 </a:t>
            </a:r>
            <a:r>
              <a:rPr lang="en-US" altLang="zh-CN" sz="1300" b="0" i="0" u="none" strike="noStrike" dirty="0">
                <a:solidFill>
                  <a:srgbClr val="4A5568"/>
                </a:solidFill>
                <a:latin typeface="Noto Sans SC"/>
                <a:ea typeface="Noto Sans SC"/>
                <a:cs typeface="Noto Sans SC"/>
                <a:sym typeface="Noto Sans SC"/>
              </a:rPr>
              <a:t>4x </a:t>
            </a:r>
            <a:r>
              <a:rPr lang="zh-CN" altLang="en-US" sz="1300" b="0" i="0" u="none" strike="noStrike" dirty="0">
                <a:solidFill>
                  <a:srgbClr val="4A5568"/>
                </a:solidFill>
                <a:latin typeface="Noto Sans SC"/>
                <a:ea typeface="Noto Sans SC"/>
                <a:cs typeface="Noto Sans SC"/>
                <a:sym typeface="Noto Sans SC"/>
              </a:rPr>
              <a:t>加速被限制为实测约 </a:t>
            </a:r>
            <a:r>
              <a:rPr lang="en-US" altLang="zh-CN" sz="1300" b="0" i="0" u="none" strike="noStrike" dirty="0">
                <a:solidFill>
                  <a:srgbClr val="4A5568"/>
                </a:solidFill>
                <a:latin typeface="Noto Sans SC"/>
                <a:ea typeface="Noto Sans SC"/>
                <a:cs typeface="Noto Sans SC"/>
                <a:sym typeface="Noto Sans SC"/>
              </a:rPr>
              <a:t>3%</a:t>
            </a:r>
          </a:p>
          <a:p>
            <a:pPr indent="0" algn="l">
              <a:lnSpc>
                <a:spcPct val="116666"/>
              </a:lnSpc>
              <a:defRPr/>
            </a:pPr>
            <a:r>
              <a:rPr lang="en-US" altLang="zh-CN" sz="1300" b="0" i="0" u="none" strike="noStrike" dirty="0">
                <a:solidFill>
                  <a:srgbClr val="4A5568"/>
                </a:solidFill>
                <a:latin typeface="Noto Sans SC"/>
                <a:ea typeface="Noto Sans SC"/>
                <a:cs typeface="Noto Sans SC"/>
                <a:sym typeface="Noto Sans SC"/>
              </a:rPr>
              <a:t>· </a:t>
            </a:r>
            <a:r>
              <a:rPr lang="zh-CN" altLang="en-US" sz="1300" b="0" i="0" u="none" strike="noStrike" dirty="0">
                <a:solidFill>
                  <a:srgbClr val="4A5568"/>
                </a:solidFill>
                <a:latin typeface="Noto Sans SC"/>
                <a:ea typeface="Noto Sans SC"/>
                <a:cs typeface="Noto Sans SC"/>
                <a:sym typeface="Noto Sans SC"/>
              </a:rPr>
              <a:t>性能优化是系统工程</a:t>
            </a:r>
            <a:r>
              <a:rPr lang="en-US" altLang="zh-CN" sz="1300" b="0" i="0" u="none" strike="noStrike" dirty="0">
                <a:solidFill>
                  <a:srgbClr val="4A5568"/>
                </a:solidFill>
                <a:latin typeface="Noto Sans SC"/>
                <a:ea typeface="Noto Sans SC"/>
                <a:cs typeface="Noto Sans SC"/>
                <a:sym typeface="Noto Sans SC"/>
              </a:rPr>
              <a:t>——</a:t>
            </a:r>
            <a:r>
              <a:rPr lang="zh-CN" altLang="en-US" sz="1300" b="0" i="0" u="none" strike="noStrike" dirty="0">
                <a:solidFill>
                  <a:srgbClr val="4A5568"/>
                </a:solidFill>
                <a:latin typeface="Noto Sans SC"/>
                <a:ea typeface="Noto Sans SC"/>
                <a:cs typeface="Noto Sans SC"/>
                <a:sym typeface="Noto Sans SC"/>
              </a:rPr>
              <a:t>需结合算法设计、内存系统、</a:t>
            </a:r>
            <a:r>
              <a:rPr lang="en-US" altLang="zh-CN" sz="1300" b="0" i="0" u="none" strike="noStrike" dirty="0">
                <a:solidFill>
                  <a:srgbClr val="4A5568"/>
                </a:solidFill>
                <a:latin typeface="Noto Sans SC"/>
                <a:ea typeface="Noto Sans SC"/>
                <a:cs typeface="Noto Sans SC"/>
                <a:sym typeface="Noto Sans SC"/>
              </a:rPr>
              <a:t>CPU </a:t>
            </a:r>
            <a:r>
              <a:rPr lang="zh-CN" altLang="en-US" sz="1300" b="0" i="0" u="none" strike="noStrike" dirty="0">
                <a:solidFill>
                  <a:srgbClr val="4A5568"/>
                </a:solidFill>
                <a:latin typeface="Noto Sans SC"/>
                <a:ea typeface="Noto Sans SC"/>
                <a:cs typeface="Noto Sans SC"/>
                <a:sym typeface="Noto Sans SC"/>
              </a:rPr>
              <a:t>指令集架构及编译环境协同优化</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800" b="1" i="0" u="none" strike="noStrike">
                <a:solidFill>
                  <a:srgbClr val="FFFFFF"/>
                </a:solidFill>
                <a:latin typeface="Noto Sans SC"/>
                <a:ea typeface="Noto Sans SC"/>
                <a:cs typeface="Noto Sans SC"/>
                <a:sym typeface="Noto Sans SC"/>
              </a:rPr>
              <a:t>THANKS</a:t>
            </a:r>
            <a:endParaRPr lang="en-US" sz="1100"/>
          </a:p>
        </p:txBody>
      </p:sp>
      <p:sp>
        <p:nvSpPr>
          <p:cNvPr id="4" name="AutoShape 4"/>
          <p:cNvSpPr/>
          <p:nvPr/>
        </p:nvSpPr>
        <p:spPr>
          <a:xfrm>
            <a:off x="0" y="3683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感谢观看</a:t>
            </a:r>
            <a:endParaRPr lang="en-US" sz="1100"/>
          </a:p>
        </p:txBody>
      </p:sp>
      <p:sp>
        <p:nvSpPr>
          <p:cNvPr id="5" name="AutoShape 5"/>
          <p:cNvSpPr/>
          <p:nvPr/>
        </p:nvSpPr>
        <p:spPr>
          <a:xfrm>
            <a:off x="0" y="5207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400">
                <a:solidFill>
                  <a:srgbClr val="FFFFFF">
                    <a:alpha val="80000"/>
                  </a:srgbClr>
                </a:solidFill>
                <a:latin typeface="Noto Sans SC"/>
                <a:ea typeface="Noto Sans SC"/>
                <a:cs typeface="Noto Sans SC"/>
                <a:sym typeface="Noto Sans SC"/>
              </a:rPr>
              <a:t>期待与您深入交流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TotalTime>
  <Words>3302</Words>
  <Application>Microsoft Office PowerPoint</Application>
  <PresentationFormat>宽屏</PresentationFormat>
  <Paragraphs>300</Paragraphs>
  <Slides>22</Slides>
  <Notes>22</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22</vt:i4>
      </vt:variant>
    </vt:vector>
  </HeadingPairs>
  <TitlesOfParts>
    <vt:vector size="29" baseType="lpstr">
      <vt:lpstr>Arial (正文)</vt:lpstr>
      <vt:lpstr>Noto Sans SC</vt:lpstr>
      <vt:lpstr>微软雅黑</vt:lpstr>
      <vt:lpstr>Arial</vt:lpstr>
      <vt:lpstr>Times New Roman</vt:lpstr>
      <vt:lpstr>Office 主题​​</vt:lpstr>
      <vt:lpstr>默认主题</vt:lpstr>
      <vt:lpstr>PowerPoint 演示文稿</vt:lpstr>
      <vt:lpstr>PowerPoint 演示文稿</vt:lpstr>
      <vt:lpstr>程序流程图</vt:lpstr>
      <vt:lpstr>PowerPoint 演示文稿</vt:lpstr>
      <vt:lpstr>PowerPoint 演示文稿</vt:lpstr>
      <vt:lpstr>PowerPoint 演示文稿</vt:lpstr>
      <vt:lpstr>程序流程图</vt:lpstr>
      <vt:lpstr>接口函数</vt:lpstr>
      <vt:lpstr>时间函数</vt:lpstr>
      <vt:lpstr>源代码文件</vt:lpstr>
      <vt:lpstr>PowerPoint 演示文稿</vt:lpstr>
      <vt:lpstr>程序流程图</vt:lpstr>
      <vt:lpstr>PowerPoint 演示文稿</vt:lpstr>
      <vt:lpstr>程序流程图</vt:lpstr>
      <vt:lpstr>PowerPoint 演示文稿</vt:lpstr>
      <vt:lpstr>程序流程图</vt:lpstr>
      <vt:lpstr>PowerPoint 演示文稿</vt:lpstr>
      <vt:lpstr>程序流程图</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周文雯</dc:creator>
  <cp:lastModifiedBy>文雯 周</cp:lastModifiedBy>
  <cp:revision>32</cp:revision>
  <dcterms:modified xsi:type="dcterms:W3CDTF">2026-05-12T15:44:34Z</dcterms:modified>
</cp:coreProperties>
</file>