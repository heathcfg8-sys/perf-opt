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634" r:id="rId2"/>
    <p:sldId id="632" r:id="rId3"/>
    <p:sldId id="631" r:id="rId4"/>
    <p:sldId id="638" r:id="rId5"/>
    <p:sldId id="635" r:id="rId6"/>
    <p:sldId id="636" r:id="rId7"/>
    <p:sldId id="637" r:id="rId8"/>
    <p:sldId id="639" r:id="rId9"/>
    <p:sldId id="640" r:id="rId10"/>
    <p:sldId id="641" r:id="rId11"/>
    <p:sldId id="642" r:id="rId12"/>
    <p:sldId id="644" r:id="rId13"/>
    <p:sldId id="645" r:id="rId14"/>
    <p:sldId id="646" r:id="rId15"/>
    <p:sldId id="648" r:id="rId16"/>
    <p:sldId id="647" r:id="rId17"/>
    <p:sldId id="650" r:id="rId18"/>
    <p:sldId id="651" r:id="rId19"/>
    <p:sldId id="653" r:id="rId20"/>
    <p:sldId id="649" r:id="rId21"/>
    <p:sldId id="654" r:id="rId22"/>
    <p:sldId id="655" r:id="rId23"/>
    <p:sldId id="656" r:id="rId24"/>
    <p:sldId id="657" r:id="rId25"/>
    <p:sldId id="652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4" userDrawn="1">
          <p15:clr>
            <a:srgbClr val="A4A3A4"/>
          </p15:clr>
        </p15:guide>
        <p15:guide id="2" pos="387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sus2" initials="a" lastIdx="12" clrIdx="0"/>
  <p:cmAuthor id="1" name="支小莉" initials="支小莉" lastIdx="1" clrIdx="0"/>
  <p:cmAuthor id="2" name="陈 程" initials="陈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F5FB"/>
    <a:srgbClr val="F5FAF1"/>
    <a:srgbClr val="F5FAFE"/>
    <a:srgbClr val="F7FBFE"/>
    <a:srgbClr val="F0F0F0"/>
    <a:srgbClr val="FFFCF3"/>
    <a:srgbClr val="F7FB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44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812" y="64"/>
      </p:cViewPr>
      <p:guideLst>
        <p:guide orient="horz" pos="2244"/>
        <p:guide pos="387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dirty="0"/>
              <a:t>全优化效果展示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39 horizon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Sheet1!$A$2:$A$7</c:f>
              <c:strCache>
                <c:ptCount val="6"/>
                <c:pt idx="0">
                  <c:v>原始版本</c:v>
                </c:pt>
                <c:pt idx="1">
                  <c:v>V1+编译优化</c:v>
                </c:pt>
                <c:pt idx="2">
                  <c:v>V2正确性修复</c:v>
                </c:pt>
                <c:pt idx="3">
                  <c:v>V3线程安全</c:v>
                </c:pt>
                <c:pt idx="4">
                  <c:v>V4</c:v>
                </c:pt>
                <c:pt idx="5">
                  <c:v>V5缓存优化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7.49</c:v>
                </c:pt>
                <c:pt idx="2">
                  <c:v>9.5329999999999995</c:v>
                </c:pt>
                <c:pt idx="3">
                  <c:v>10.371</c:v>
                </c:pt>
                <c:pt idx="4">
                  <c:v>14.667</c:v>
                </c:pt>
                <c:pt idx="5">
                  <c:v>9.1739999999999995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21-404F-AF61-1D3CBEDB73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78 horizon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Sheet1!$A$2:$A$7</c:f>
              <c:strCache>
                <c:ptCount val="6"/>
                <c:pt idx="0">
                  <c:v>原始版本</c:v>
                </c:pt>
                <c:pt idx="1">
                  <c:v>V1+编译优化</c:v>
                </c:pt>
                <c:pt idx="2">
                  <c:v>V2正确性修复</c:v>
                </c:pt>
                <c:pt idx="3">
                  <c:v>V3线程安全</c:v>
                </c:pt>
                <c:pt idx="4">
                  <c:v>V4</c:v>
                </c:pt>
                <c:pt idx="5">
                  <c:v>V5缓存优化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31.315000000000001</c:v>
                </c:pt>
                <c:pt idx="2">
                  <c:v>41.780999999999999</c:v>
                </c:pt>
                <c:pt idx="3">
                  <c:v>39.015000000000001</c:v>
                </c:pt>
                <c:pt idx="4">
                  <c:v>45.212000000000003</c:v>
                </c:pt>
                <c:pt idx="5">
                  <c:v>34.463999999999999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521-404F-AF61-1D3CBEDB730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156 horizon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Sheet1!$A$2:$A$7</c:f>
              <c:strCache>
                <c:ptCount val="6"/>
                <c:pt idx="0">
                  <c:v>原始版本</c:v>
                </c:pt>
                <c:pt idx="1">
                  <c:v>V1+编译优化</c:v>
                </c:pt>
                <c:pt idx="2">
                  <c:v>V2正确性修复</c:v>
                </c:pt>
                <c:pt idx="3">
                  <c:v>V3线程安全</c:v>
                </c:pt>
                <c:pt idx="4">
                  <c:v>V4</c:v>
                </c:pt>
                <c:pt idx="5">
                  <c:v>V5缓存优化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216</c:v>
                </c:pt>
                <c:pt idx="1">
                  <c:v>120.13</c:v>
                </c:pt>
                <c:pt idx="2">
                  <c:v>182.15899999999999</c:v>
                </c:pt>
                <c:pt idx="3">
                  <c:v>179.15700000000001</c:v>
                </c:pt>
                <c:pt idx="4">
                  <c:v>190.846</c:v>
                </c:pt>
                <c:pt idx="5">
                  <c:v>137.58600000000001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521-404F-AF61-1D3CBEDB73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033294175"/>
        <c:axId val="1033296095"/>
        <c:axId val="0"/>
      </c:bar3DChart>
      <c:catAx>
        <c:axId val="10332941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33296095"/>
        <c:crosses val="autoZero"/>
        <c:auto val="1"/>
        <c:lblAlgn val="ctr"/>
        <c:lblOffset val="100"/>
        <c:noMultiLvlLbl val="0"/>
      </c:catAx>
      <c:valAx>
        <c:axId val="10332960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332941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606585-1C82-4249-9E18-BDA40079DD2D}" type="datetimeFigureOut">
              <a:rPr kumimoji="1" lang="zh-CN" altLang="en-US" smtClean="0"/>
              <a:t>2026/5/23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CD23D8-31E4-4E4E-B9F6-C9829AE0A88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4810" y="164465"/>
            <a:ext cx="10389235" cy="549910"/>
          </a:xfrm>
        </p:spPr>
        <p:txBody>
          <a:bodyPr/>
          <a:lstStyle>
            <a:lvl1pPr>
              <a:defRPr sz="2600" u="none" strike="noStrike" kern="1200" cap="none" spc="0" normalizeH="0">
                <a:solidFill>
                  <a:schemeClr val="tx1"/>
                </a:solidFill>
                <a:uFillTx/>
                <a:latin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4810" y="894715"/>
            <a:ext cx="11521440" cy="5335905"/>
          </a:xfrm>
        </p:spPr>
        <p:txBody>
          <a:bodyPr/>
          <a:lstStyle>
            <a:lvl1pPr>
              <a:defRPr sz="2000" u="none" strike="noStrike" kern="1200" cap="none" spc="0" normalizeH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u="none" strike="noStrike" kern="1200" cap="none" spc="0" normalizeH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u="none" strike="noStrike" kern="1200" cap="none" spc="0" normalizeH="0">
                <a:solidFill>
                  <a:schemeClr val="tx1"/>
                </a:solidFill>
                <a:uFillTx/>
                <a:latin typeface="+mn-lt"/>
                <a:ea typeface="微软雅黑" panose="020B0503020204020204" charset="-122"/>
              </a:defRPr>
            </a:lvl3pPr>
            <a:lvl4pPr>
              <a:defRPr sz="1400" u="none" strike="noStrike" kern="1200" cap="none" spc="0" normalizeH="0">
                <a:solidFill>
                  <a:schemeClr val="tx1"/>
                </a:solidFill>
                <a:uFillTx/>
                <a:latin typeface="+mn-lt"/>
                <a:ea typeface="微软雅黑" panose="020B0503020204020204" charset="-122"/>
              </a:defRPr>
            </a:lvl4pPr>
            <a:lvl5pPr>
              <a:defRPr sz="1400" u="none" strike="noStrike" kern="1200" cap="none" spc="0" normalizeH="0">
                <a:solidFill>
                  <a:schemeClr val="tx1"/>
                </a:solidFill>
                <a:uFillTx/>
                <a:latin typeface="+mn-lt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7"/>
          <p:cNvCxnSpPr/>
          <p:nvPr userDrawn="1"/>
        </p:nvCxnSpPr>
        <p:spPr>
          <a:xfrm flipV="1">
            <a:off x="384636" y="725914"/>
            <a:ext cx="10257088" cy="21368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143339" y="836712"/>
            <a:ext cx="1180931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84810" y="69215"/>
            <a:ext cx="10515600" cy="894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0" y="6273800"/>
            <a:ext cx="12192000" cy="5842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1F1F1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6743700"/>
            <a:ext cx="12192000" cy="114300"/>
          </a:xfrm>
          <a:prstGeom prst="rect">
            <a:avLst/>
          </a:prstGeom>
        </p:spPr>
      </p:pic>
      <p:sp>
        <p:nvSpPr>
          <p:cNvPr id="15" name="灯片编号占位符 20"/>
          <p:cNvSpPr txBox="1"/>
          <p:nvPr userDrawn="1"/>
        </p:nvSpPr>
        <p:spPr>
          <a:xfrm>
            <a:off x="11751631" y="6343847"/>
            <a:ext cx="498578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fld id="{BF71A997-7E79-41BB-B83B-6503C36C821C}" type="slidenum">
              <a:rPr lang="zh-CN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直接连接符 7"/>
          <p:cNvCxnSpPr/>
          <p:nvPr userDrawn="1"/>
        </p:nvCxnSpPr>
        <p:spPr>
          <a:xfrm flipV="1">
            <a:off x="384636" y="725914"/>
            <a:ext cx="10257088" cy="21368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8AF61B92-9DDB-4DFB-8B39-CCFBAE235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MPC </a:t>
            </a:r>
            <a:r>
              <a:rPr lang="zh-CN" altLang="en-US" dirty="0"/>
              <a:t>性能优化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F675C03-A428-A27A-C3B7-1E186F769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7251" y="2214468"/>
            <a:ext cx="4658530" cy="1433706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dirty="0"/>
              <a:t>MPC </a:t>
            </a:r>
            <a:r>
              <a:rPr lang="zh-CN" altLang="en-US" sz="4000" dirty="0"/>
              <a:t>性能优化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4CD7CA5-CB36-7826-5AA0-CC87DCCF2B6C}"/>
              </a:ext>
            </a:extLst>
          </p:cNvPr>
          <p:cNvSpPr txBox="1"/>
          <p:nvPr/>
        </p:nvSpPr>
        <p:spPr>
          <a:xfrm>
            <a:off x="3489350" y="3298677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小组成员：孙鸣晨，潘伽玮，黄宇涛，陳韋霖</a:t>
            </a:r>
          </a:p>
        </p:txBody>
      </p:sp>
    </p:spTree>
    <p:extLst>
      <p:ext uri="{BB962C8B-B14F-4D97-AF65-F5344CB8AC3E}">
        <p14:creationId xmlns:p14="http://schemas.microsoft.com/office/powerpoint/2010/main" val="2435846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9AB81-1F5B-F092-AE46-BFC6E7305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2F173-E641-EDFD-1E7C-732503FBC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dirty="0"/>
              <a:t>程序整体功能概述</a:t>
            </a:r>
            <a:endParaRPr lang="en-US" altLang="zh-CN" dirty="0"/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600" dirty="0"/>
              <a:t>针对 </a:t>
            </a:r>
            <a:r>
              <a:rPr lang="en-US" altLang="zh-CN" sz="1600" dirty="0"/>
              <a:t>ARM </a:t>
            </a:r>
            <a:r>
              <a:rPr lang="zh-CN" altLang="en-US" sz="1600" dirty="0"/>
              <a:t>平台优化的模型预测控制 </a:t>
            </a:r>
            <a:r>
              <a:rPr lang="en-US" altLang="zh-CN" sz="1600" dirty="0"/>
              <a:t>(MPC) </a:t>
            </a:r>
            <a:r>
              <a:rPr lang="zh-CN" altLang="en-US" sz="1600" dirty="0"/>
              <a:t>车辆路径跟踪程序，核心目标是让车辆自动跟踪一条预设的参考路径，同时满足转向角、加速度及其变化率的物理约束。程序采用有限差分梯度下降法求解最优控制序列，结合</a:t>
            </a:r>
            <a:r>
              <a:rPr lang="en-US" altLang="zh-CN" sz="1600" dirty="0"/>
              <a:t>OpenMP</a:t>
            </a:r>
            <a:r>
              <a:rPr lang="zh-CN" altLang="en-US" sz="1600" dirty="0"/>
              <a:t>多线程并行和</a:t>
            </a:r>
            <a:r>
              <a:rPr lang="en-US" altLang="zh-CN" sz="1600" dirty="0"/>
              <a:t>ARM NEON </a:t>
            </a:r>
            <a:r>
              <a:rPr lang="zh-CN" altLang="en-US" sz="1600" dirty="0"/>
              <a:t>向量化指令提升计算性能，可评估不同预测步长 </a:t>
            </a:r>
            <a:r>
              <a:rPr lang="en-US" altLang="zh-CN" sz="1600" dirty="0"/>
              <a:t>(horizon) </a:t>
            </a:r>
            <a:r>
              <a:rPr lang="zh-CN" altLang="en-US" sz="1600" dirty="0"/>
              <a:t>下的求解耗时与跟踪精度。</a:t>
            </a:r>
            <a:endParaRPr lang="en-US" altLang="zh-CN" sz="1600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dirty="0"/>
              <a:t>状态变量与控制变量</a:t>
            </a:r>
            <a:endParaRPr lang="en-US" altLang="zh-CN" dirty="0"/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600" dirty="0"/>
              <a:t>车辆的每一个预测时刻</a:t>
            </a:r>
            <a:r>
              <a:rPr lang="en-US" altLang="zh-CN" sz="1600" dirty="0"/>
              <a:t>t</a:t>
            </a:r>
            <a:r>
              <a:rPr lang="zh-CN" altLang="en-US" sz="1600" dirty="0"/>
              <a:t>包含以下的状态变量</a:t>
            </a:r>
            <a:endParaRPr lang="en-US" altLang="zh-CN" sz="1600" dirty="0"/>
          </a:p>
          <a:p>
            <a:pPr marL="0" indent="0" eaLnBrk="0">
              <a:lnSpc>
                <a:spcPct val="116000"/>
              </a:lnSpc>
              <a:buNone/>
            </a:pPr>
            <a:r>
              <a:rPr lang="zh-CN" altLang="en-US" sz="1600" dirty="0"/>
              <a:t>控制变量：</a:t>
            </a:r>
            <a:endParaRPr lang="en-US" altLang="zh-CN" sz="1600" dirty="0"/>
          </a:p>
          <a:p>
            <a:pPr eaLnBrk="0">
              <a:lnSpc>
                <a:spcPct val="116000"/>
              </a:lnSpc>
            </a:pPr>
            <a:endParaRPr lang="en-US" altLang="zh-CN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B4509F-0529-7BD8-CA99-D22698F515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BF71A997-7E79-41BB-B83B-6503C36C821C}" type="slidenum">
              <a:rPr lang="en-US" altLang="zh-CN" smtClean="0"/>
              <a:t>2</a:t>
            </a:fld>
            <a:endParaRPr lang="en-US" altLang="zh-CN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685701AE-1478-CF3C-B9C3-7DEEBF785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算法介绍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7296C0C-B163-7D9C-556F-2749B53E7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067" y="3210176"/>
            <a:ext cx="4744112" cy="275310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24098CC-C47F-49BA-7460-4B755348B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180" y="2626727"/>
            <a:ext cx="2286319" cy="29531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A290E4F-7D50-070D-6445-D9AE1CBEEE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4034" y="2871043"/>
            <a:ext cx="1533739" cy="228632"/>
          </a:xfrm>
          <a:prstGeom prst="rect">
            <a:avLst/>
          </a:prstGeom>
        </p:spPr>
      </p:pic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A7AE62F1-6FD0-4879-218E-C871FC0323BA}"/>
              </a:ext>
            </a:extLst>
          </p:cNvPr>
          <p:cNvSpPr txBox="1">
            <a:spLocks/>
          </p:cNvSpPr>
          <p:nvPr/>
        </p:nvSpPr>
        <p:spPr>
          <a:xfrm>
            <a:off x="5308180" y="1951348"/>
            <a:ext cx="6035667" cy="268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u="none" strike="noStrike" kern="1200" cap="none" spc="0" normalizeH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u="none" strike="noStrike" kern="1200" cap="none" spc="0" normalizeH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u="none" strike="noStrike" kern="1200" cap="none" spc="0" normalizeH="0">
                <a:solidFill>
                  <a:schemeClr val="tx1"/>
                </a:solidFill>
                <a:uFillTx/>
                <a:latin typeface="+mn-lt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u="none" strike="noStrike" kern="1200" cap="none" spc="0" normalizeH="0">
                <a:solidFill>
                  <a:schemeClr val="tx1"/>
                </a:solidFill>
                <a:uFillTx/>
                <a:latin typeface="+mn-lt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u="none" strike="noStrike" kern="1200" cap="none" spc="0" normalizeH="0">
                <a:solidFill>
                  <a:schemeClr val="tx1"/>
                </a:solidFill>
                <a:uFillTx/>
                <a:latin typeface="+mn-lt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dirty="0"/>
              <a:t>状态转移方程</a:t>
            </a:r>
            <a:r>
              <a:rPr lang="en-US" altLang="zh-CN" dirty="0"/>
              <a:t>(</a:t>
            </a:r>
            <a:r>
              <a:rPr lang="zh-CN" altLang="en-US" dirty="0"/>
              <a:t>预测模型</a:t>
            </a:r>
            <a:r>
              <a:rPr lang="en-US" altLang="zh-CN" dirty="0"/>
              <a:t>)</a:t>
            </a:r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600" dirty="0"/>
              <a:t>根据当前状态，加上控制输入（方向盘角度、加速度），预测下一时刻的状态</a:t>
            </a:r>
            <a:endParaRPr lang="en-US" altLang="zh-CN" sz="160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D1E0AFE-7BAE-1DB2-B7EE-C0BC629763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9659" y="2922043"/>
            <a:ext cx="3115110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122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3C93B-332D-7469-86F4-DBB4C5166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7E0638-7ED6-6E5F-7CD4-FB4EE3F17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dirty="0"/>
              <a:t>程序流程图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73D1AD-859A-17B4-69F8-818FD1CFDD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BF71A997-7E79-41BB-B83B-6503C36C821C}" type="slidenum">
              <a:rPr lang="en-US" altLang="zh-CN" smtClean="0"/>
              <a:t>3</a:t>
            </a:fld>
            <a:endParaRPr lang="en-US" altLang="zh-CN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E1ECDB61-AE41-7A6A-4485-4DC07CC9E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程序流程图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660C6FE4-D2E2-A93E-8B14-B4E1633B2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69621"/>
            <a:ext cx="12192000" cy="1556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785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99F04-6D89-D54C-B075-BEDE44DE7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10444E6-F1BB-F439-8BBC-CF7CAF894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MPC </a:t>
            </a:r>
            <a:r>
              <a:rPr lang="zh-CN" altLang="en-US" dirty="0"/>
              <a:t>性能优化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6FD108E-F13A-698E-D400-D5ABCE5B7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7251" y="2214468"/>
            <a:ext cx="4658530" cy="1433706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4000" dirty="0"/>
              <a:t>原代码的优化内容</a:t>
            </a:r>
          </a:p>
        </p:txBody>
      </p:sp>
    </p:spTree>
    <p:extLst>
      <p:ext uri="{BB962C8B-B14F-4D97-AF65-F5344CB8AC3E}">
        <p14:creationId xmlns:p14="http://schemas.microsoft.com/office/powerpoint/2010/main" val="1520661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BE150-5D3C-C848-366E-000BF34A0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882C3-8A0B-1FC0-C33E-6232B09E9E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 eaLnBrk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zh-CN" altLang="en-US" dirty="0"/>
                  <a:t>向量旋转公式</a:t>
                </a:r>
                <a:endParaRPr lang="en-US" altLang="zh-CN" dirty="0"/>
              </a:p>
              <a:p>
                <a:pPr>
                  <a:buNone/>
                </a:pPr>
                <a:r>
                  <a:rPr lang="en-US" altLang="zh-CN" sz="1200" dirty="0">
                    <a:solidFill>
                      <a:srgbClr val="0000FF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void</a:t>
                </a:r>
                <a:r>
                  <a:rPr lang="en-US" altLang="zh-CN" sz="1200" dirty="0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 simulate(</a:t>
                </a:r>
                <a:r>
                  <a:rPr lang="en-US" altLang="zh-CN" sz="1200" dirty="0" err="1">
                    <a:solidFill>
                      <a:srgbClr val="2B91AF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State_t</a:t>
                </a:r>
                <a:r>
                  <a:rPr lang="en-US" altLang="zh-CN" sz="1200" dirty="0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 *</a:t>
                </a:r>
                <a:r>
                  <a:rPr lang="en-US" altLang="zh-CN" sz="1200" dirty="0">
                    <a:solidFill>
                      <a:srgbClr val="80808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s</a:t>
                </a:r>
                <a:r>
                  <a:rPr lang="en-US" altLang="zh-CN" sz="1200" dirty="0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, </a:t>
                </a:r>
                <a:r>
                  <a:rPr lang="en-US" altLang="zh-CN" sz="1200" dirty="0">
                    <a:solidFill>
                      <a:srgbClr val="0000FF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float</a:t>
                </a:r>
                <a:r>
                  <a:rPr lang="en-US" altLang="zh-CN" sz="1200" dirty="0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 *</a:t>
                </a:r>
                <a:r>
                  <a:rPr lang="en-US" altLang="zh-CN" sz="1200" dirty="0" err="1">
                    <a:solidFill>
                      <a:srgbClr val="80808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cos_psi</a:t>
                </a:r>
                <a:r>
                  <a:rPr lang="en-US" altLang="zh-CN" sz="1200" dirty="0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, </a:t>
                </a:r>
                <a:r>
                  <a:rPr lang="en-US" altLang="zh-CN" sz="1200" dirty="0">
                    <a:solidFill>
                      <a:srgbClr val="0000FF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float</a:t>
                </a:r>
                <a:r>
                  <a:rPr lang="en-US" altLang="zh-CN" sz="1200" dirty="0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 *</a:t>
                </a:r>
                <a:r>
                  <a:rPr lang="en-US" altLang="zh-CN" sz="1200" dirty="0" err="1">
                    <a:solidFill>
                      <a:srgbClr val="80808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sin_psi</a:t>
                </a:r>
                <a:r>
                  <a:rPr lang="en-US" altLang="zh-CN" sz="1200" dirty="0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, </a:t>
                </a:r>
                <a:r>
                  <a:rPr lang="en-US" altLang="zh-CN" sz="1200" dirty="0">
                    <a:solidFill>
                      <a:srgbClr val="0000FF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float</a:t>
                </a:r>
                <a:r>
                  <a:rPr lang="en-US" altLang="zh-CN" sz="1200" dirty="0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 </a:t>
                </a:r>
                <a:r>
                  <a:rPr lang="en-US" altLang="zh-CN" sz="1200" dirty="0">
                    <a:solidFill>
                      <a:srgbClr val="80808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delta</a:t>
                </a:r>
                <a:r>
                  <a:rPr lang="en-US" altLang="zh-CN" sz="1200" dirty="0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, </a:t>
                </a:r>
                <a:r>
                  <a:rPr lang="en-US" altLang="zh-CN" sz="1200" dirty="0">
                    <a:solidFill>
                      <a:srgbClr val="0000FF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float</a:t>
                </a:r>
                <a:r>
                  <a:rPr lang="en-US" altLang="zh-CN" sz="1200" dirty="0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 </a:t>
                </a:r>
                <a:r>
                  <a:rPr lang="en-US" altLang="zh-CN" sz="1200" dirty="0">
                    <a:solidFill>
                      <a:srgbClr val="80808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a</a:t>
                </a:r>
                <a:r>
                  <a:rPr lang="en-US" altLang="zh-CN" sz="1200" dirty="0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) {</a:t>
                </a:r>
              </a:p>
              <a:p>
                <a:pPr>
                  <a:buNone/>
                </a:pPr>
                <a:r>
                  <a:rPr lang="en-US" altLang="zh-CN" sz="1200" dirty="0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    </a:t>
                </a:r>
                <a:r>
                  <a:rPr lang="en-US" altLang="zh-CN" sz="1200" dirty="0">
                    <a:solidFill>
                      <a:srgbClr val="0000FF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float</a:t>
                </a:r>
                <a:r>
                  <a:rPr lang="en-US" altLang="zh-CN" sz="1200" dirty="0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 vx = *</a:t>
                </a:r>
                <a:r>
                  <a:rPr lang="en-US" altLang="zh-CN" sz="1200" dirty="0" err="1">
                    <a:solidFill>
                      <a:srgbClr val="80808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cos_psi</a:t>
                </a:r>
                <a:r>
                  <a:rPr lang="en-US" altLang="zh-CN" sz="1200" dirty="0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;</a:t>
                </a:r>
              </a:p>
              <a:p>
                <a:pPr>
                  <a:buNone/>
                </a:pPr>
                <a:r>
                  <a:rPr lang="en-US" altLang="zh-CN" sz="1200" dirty="0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    </a:t>
                </a:r>
                <a:r>
                  <a:rPr lang="en-US" altLang="zh-CN" sz="1200" dirty="0">
                    <a:solidFill>
                      <a:srgbClr val="0000FF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float</a:t>
                </a:r>
                <a:r>
                  <a:rPr lang="en-US" altLang="zh-CN" sz="1200" dirty="0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 </a:t>
                </a:r>
                <a:r>
                  <a:rPr lang="en-US" altLang="zh-CN" sz="1200" dirty="0" err="1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vy</a:t>
                </a:r>
                <a:r>
                  <a:rPr lang="en-US" altLang="zh-CN" sz="1200" dirty="0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 = *</a:t>
                </a:r>
                <a:r>
                  <a:rPr lang="en-US" altLang="zh-CN" sz="1200" dirty="0" err="1">
                    <a:solidFill>
                      <a:srgbClr val="80808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sin_psi</a:t>
                </a:r>
                <a:r>
                  <a:rPr lang="en-US" altLang="zh-CN" sz="1200" dirty="0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;</a:t>
                </a:r>
              </a:p>
              <a:p>
                <a:pPr>
                  <a:buNone/>
                </a:pPr>
                <a:r>
                  <a:rPr lang="en-US" altLang="zh-CN" sz="1200" dirty="0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    </a:t>
                </a:r>
                <a:r>
                  <a:rPr lang="en-US" altLang="zh-CN" sz="1200" dirty="0">
                    <a:solidFill>
                      <a:srgbClr val="0000FF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float</a:t>
                </a:r>
                <a:r>
                  <a:rPr lang="en-US" altLang="zh-CN" sz="1200" dirty="0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 delta_psi = </a:t>
                </a:r>
                <a:r>
                  <a:rPr lang="en-US" altLang="zh-CN" sz="1200" dirty="0">
                    <a:solidFill>
                      <a:srgbClr val="80808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s</a:t>
                </a:r>
                <a:r>
                  <a:rPr lang="en-US" altLang="zh-CN" sz="1200" dirty="0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-&gt;v * </a:t>
                </a:r>
                <a:r>
                  <a:rPr lang="en-US" altLang="zh-CN" sz="1200" dirty="0" err="1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tanf</a:t>
                </a:r>
                <a:r>
                  <a:rPr lang="en-US" altLang="zh-CN" sz="1200" dirty="0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(</a:t>
                </a:r>
                <a:r>
                  <a:rPr lang="en-US" altLang="zh-CN" sz="1200" dirty="0">
                    <a:solidFill>
                      <a:srgbClr val="80808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delta</a:t>
                </a:r>
                <a:r>
                  <a:rPr lang="en-US" altLang="zh-CN" sz="1200" dirty="0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) / </a:t>
                </a:r>
                <a:r>
                  <a:rPr lang="en-US" altLang="zh-CN" sz="1200" dirty="0">
                    <a:solidFill>
                      <a:srgbClr val="6F008A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LF</a:t>
                </a:r>
                <a:r>
                  <a:rPr lang="en-US" altLang="zh-CN" sz="1200" dirty="0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 * </a:t>
                </a:r>
                <a:r>
                  <a:rPr lang="en-US" altLang="zh-CN" sz="1200" dirty="0">
                    <a:solidFill>
                      <a:srgbClr val="6F008A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DT</a:t>
                </a:r>
                <a:r>
                  <a:rPr lang="en-US" altLang="zh-CN" sz="1200" dirty="0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;</a:t>
                </a:r>
              </a:p>
              <a:p>
                <a:pPr>
                  <a:buNone/>
                </a:pPr>
                <a:r>
                  <a:rPr lang="en-US" altLang="zh-CN" sz="1200" dirty="0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    </a:t>
                </a:r>
                <a:r>
                  <a:rPr lang="en-US" altLang="zh-CN" sz="1200" dirty="0">
                    <a:solidFill>
                      <a:srgbClr val="0000FF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float</a:t>
                </a:r>
                <a:r>
                  <a:rPr lang="en-US" altLang="zh-CN" sz="1200" dirty="0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 </a:t>
                </a:r>
                <a:r>
                  <a:rPr lang="en-US" altLang="zh-CN" sz="1200" dirty="0" err="1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cos_dpsi</a:t>
                </a:r>
                <a:r>
                  <a:rPr lang="en-US" altLang="zh-CN" sz="1200" dirty="0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 = </a:t>
                </a:r>
                <a:r>
                  <a:rPr lang="en-US" altLang="zh-CN" sz="1200" dirty="0" err="1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cosf</a:t>
                </a:r>
                <a:r>
                  <a:rPr lang="en-US" altLang="zh-CN" sz="1200" dirty="0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(delta_psi);</a:t>
                </a:r>
              </a:p>
              <a:p>
                <a:pPr>
                  <a:buNone/>
                </a:pPr>
                <a:r>
                  <a:rPr lang="en-US" altLang="zh-CN" sz="1200" dirty="0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    </a:t>
                </a:r>
                <a:r>
                  <a:rPr lang="en-US" altLang="zh-CN" sz="1200" dirty="0">
                    <a:solidFill>
                      <a:srgbClr val="0000FF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float</a:t>
                </a:r>
                <a:r>
                  <a:rPr lang="en-US" altLang="zh-CN" sz="1200" dirty="0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 </a:t>
                </a:r>
                <a:r>
                  <a:rPr lang="en-US" altLang="zh-CN" sz="1200" dirty="0" err="1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sin_dpsi</a:t>
                </a:r>
                <a:r>
                  <a:rPr lang="en-US" altLang="zh-CN" sz="1200" dirty="0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 = </a:t>
                </a:r>
                <a:r>
                  <a:rPr lang="en-US" altLang="zh-CN" sz="1200" dirty="0" err="1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sinf</a:t>
                </a:r>
                <a:r>
                  <a:rPr lang="en-US" altLang="zh-CN" sz="1200" dirty="0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(delta_psi);</a:t>
                </a:r>
              </a:p>
              <a:p>
                <a:pPr>
                  <a:buNone/>
                </a:pPr>
                <a:r>
                  <a:rPr lang="en-US" altLang="zh-CN" sz="1200" dirty="0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    </a:t>
                </a:r>
                <a:r>
                  <a:rPr lang="en-US" altLang="zh-CN" sz="1200" dirty="0">
                    <a:solidFill>
                      <a:srgbClr val="0000FF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float</a:t>
                </a:r>
                <a:r>
                  <a:rPr lang="en-US" altLang="zh-CN" sz="1200" dirty="0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 new_vx = vx * </a:t>
                </a:r>
                <a:r>
                  <a:rPr lang="en-US" altLang="zh-CN" sz="1200" dirty="0" err="1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cos_dpsi</a:t>
                </a:r>
                <a:r>
                  <a:rPr lang="en-US" altLang="zh-CN" sz="1200" dirty="0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 - </a:t>
                </a:r>
                <a:r>
                  <a:rPr lang="en-US" altLang="zh-CN" sz="1200" dirty="0" err="1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vy</a:t>
                </a:r>
                <a:r>
                  <a:rPr lang="en-US" altLang="zh-CN" sz="1200" dirty="0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 * </a:t>
                </a:r>
                <a:r>
                  <a:rPr lang="en-US" altLang="zh-CN" sz="1200" dirty="0" err="1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sin_dpsi</a:t>
                </a:r>
                <a:r>
                  <a:rPr lang="en-US" altLang="zh-CN" sz="1200" dirty="0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; 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1600" b="1" i="0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1600" b="1" i="0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600" b="1" i="0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en-US" altLang="zh-CN" sz="1600" b="1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1600" b="1" i="0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𝐜𝐨𝐬</m:t>
                        </m:r>
                      </m:fName>
                      <m:e>
                        <m:r>
                          <a:rPr lang="en-US" altLang="zh-CN" sz="1600" b="1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func>
                    <m:r>
                      <a:rPr lang="en-US" altLang="zh-CN" sz="1600" b="1" i="0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600" b="1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1600" b="1" i="0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en-US" altLang="zh-CN" sz="1600" b="1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1600" b="1" i="0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𝐬𝐢𝐧</m:t>
                        </m:r>
                      </m:fName>
                      <m:e>
                        <m:r>
                          <a:rPr lang="en-US" altLang="zh-CN" sz="1600" b="1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func>
                  </m:oMath>
                </a14:m>
                <a:endParaRPr lang="en-US" altLang="zh-CN" sz="1200" b="1" dirty="0">
                  <a:solidFill>
                    <a:srgbClr val="000000"/>
                  </a:solidFill>
                  <a:effectLst/>
                  <a:latin typeface="新宋体" panose="02010609030101010101" pitchFamily="49" charset="-122"/>
                  <a:ea typeface="新宋体" panose="02010609030101010101" pitchFamily="49" charset="-122"/>
                </a:endParaRPr>
              </a:p>
              <a:p>
                <a:pPr>
                  <a:buNone/>
                </a:pPr>
                <a:r>
                  <a:rPr lang="en-US" altLang="zh-CN" sz="1200" dirty="0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    </a:t>
                </a:r>
                <a:r>
                  <a:rPr lang="en-US" altLang="zh-CN" sz="1200" dirty="0">
                    <a:solidFill>
                      <a:srgbClr val="0000FF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float</a:t>
                </a:r>
                <a:r>
                  <a:rPr lang="en-US" altLang="zh-CN" sz="1200" dirty="0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 new_vy = </a:t>
                </a:r>
                <a:r>
                  <a:rPr lang="en-US" altLang="zh-CN" sz="1200" dirty="0" err="1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vy</a:t>
                </a:r>
                <a:r>
                  <a:rPr lang="en-US" altLang="zh-CN" sz="1200" dirty="0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 * </a:t>
                </a:r>
                <a:r>
                  <a:rPr lang="en-US" altLang="zh-CN" sz="1200" dirty="0" err="1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cos_dpsi</a:t>
                </a:r>
                <a:r>
                  <a:rPr lang="en-US" altLang="zh-CN" sz="1200" dirty="0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 + vx * </a:t>
                </a:r>
                <a:r>
                  <a:rPr lang="en-US" altLang="zh-CN" sz="1200" dirty="0" err="1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sin_dpsi</a:t>
                </a:r>
                <a:r>
                  <a:rPr lang="en-US" altLang="zh-CN" sz="1200" dirty="0">
                    <a:solidFill>
                      <a:srgbClr val="000000"/>
                    </a:solidFill>
                    <a:effectLst/>
                    <a:latin typeface="新宋体" panose="02010609030101010101" pitchFamily="49" charset="-122"/>
                    <a:ea typeface="新宋体" panose="02010609030101010101" pitchFamily="49" charset="-122"/>
                  </a:rPr>
                  <a:t>;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altLang="zh-CN" sz="1600" b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1600" b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altLang="zh-CN" sz="1600" b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en-US" altLang="zh-CN" sz="16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16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𝒄𝒐𝒔</m:t>
                        </m:r>
                      </m:fName>
                      <m:e>
                        <m:r>
                          <a:rPr lang="en-US" altLang="zh-CN" sz="16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func>
                    <m:r>
                      <a:rPr lang="en-US" altLang="zh-CN" sz="1600" b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600" b="1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altLang="zh-CN" sz="1600" b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en-US" altLang="zh-CN" sz="16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16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𝒔𝒊𝒏</m:t>
                        </m:r>
                      </m:fName>
                      <m:e>
                        <m:r>
                          <a:rPr lang="en-US" altLang="zh-CN" sz="16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func>
                  </m:oMath>
                </a14:m>
                <a:endParaRPr lang="en-US" altLang="zh-CN" sz="1200" b="1" dirty="0">
                  <a:solidFill>
                    <a:srgbClr val="000000"/>
                  </a:solidFill>
                  <a:effectLst/>
                  <a:latin typeface="新宋体" panose="02010609030101010101" pitchFamily="49" charset="-122"/>
                  <a:ea typeface="新宋体" panose="02010609030101010101" pitchFamily="49" charset="-122"/>
                </a:endParaRPr>
              </a:p>
              <a:p>
                <a:pPr>
                  <a:buNone/>
                </a:pPr>
                <a:endParaRPr lang="en-US" altLang="zh-CN" sz="1200" dirty="0">
                  <a:solidFill>
                    <a:srgbClr val="000000"/>
                  </a:solidFill>
                  <a:effectLst/>
                  <a:latin typeface="新宋体" panose="02010609030101010101" pitchFamily="49" charset="-122"/>
                  <a:ea typeface="新宋体" panose="02010609030101010101" pitchFamily="49" charset="-122"/>
                </a:endParaRPr>
              </a:p>
              <a:p>
                <a:pPr marL="0" indent="0" eaLnBrk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CN" sz="1600" dirty="0"/>
                  <a:t>vx = *</a:t>
                </a:r>
                <a:r>
                  <a:rPr lang="en-US" altLang="zh-CN" sz="1600" dirty="0" err="1"/>
                  <a:t>cos_psi</a:t>
                </a:r>
                <a:r>
                  <a:rPr lang="zh-CN" altLang="en-US" sz="1600" dirty="0"/>
                  <a:t>、</a:t>
                </a:r>
                <a:r>
                  <a:rPr lang="en-US" altLang="zh-CN" sz="1600" dirty="0" err="1"/>
                  <a:t>vy</a:t>
                </a:r>
                <a:r>
                  <a:rPr lang="en-US" altLang="zh-CN" sz="1600" dirty="0"/>
                  <a:t> = *</a:t>
                </a:r>
                <a:r>
                  <a:rPr lang="en-US" altLang="zh-CN" sz="1600" dirty="0" err="1"/>
                  <a:t>sin_psi</a:t>
                </a:r>
                <a:r>
                  <a:rPr lang="zh-CN" altLang="en-US" sz="1600" dirty="0"/>
                  <a:t>：车辆当前航向的方向向量</a:t>
                </a:r>
                <a:endParaRPr lang="en-US" altLang="zh-CN" sz="1600" dirty="0"/>
              </a:p>
              <a:p>
                <a:pPr marL="0" indent="0" eaLnBrk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CN" sz="1600" dirty="0"/>
                  <a:t>delta_psi</a:t>
                </a:r>
                <a:r>
                  <a:rPr lang="zh-CN" altLang="en-US" sz="1600" dirty="0"/>
                  <a:t>：车辆转向产生的角度增量（车辆转弯时，航向角变化的大小）</a:t>
                </a:r>
                <a:endParaRPr lang="en-US" altLang="zh-CN" sz="1600" dirty="0"/>
              </a:p>
              <a:p>
                <a:pPr marL="0" indent="0" eaLnBrk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CN" sz="1600" dirty="0" err="1"/>
                  <a:t>cos_dpsi</a:t>
                </a:r>
                <a:r>
                  <a:rPr lang="en-US" altLang="zh-CN" sz="1600" dirty="0"/>
                  <a:t> </a:t>
                </a:r>
                <a:r>
                  <a:rPr lang="zh-CN" altLang="en-US" sz="1600" dirty="0"/>
                  <a:t>、</a:t>
                </a:r>
                <a:r>
                  <a:rPr lang="en-US" altLang="zh-CN" sz="1600" dirty="0" err="1"/>
                  <a:t>sin_dpsi</a:t>
                </a:r>
                <a:r>
                  <a:rPr lang="en-US" altLang="zh-CN" sz="1600" dirty="0"/>
                  <a:t> </a:t>
                </a:r>
                <a:r>
                  <a:rPr lang="zh-CN" altLang="en-US" sz="1600" dirty="0"/>
                  <a:t>：角度增量的三角函数值</a:t>
                </a:r>
                <a:endParaRPr lang="en-US" altLang="zh-CN" sz="1600" dirty="0"/>
              </a:p>
              <a:p>
                <a:pPr marL="0" indent="0" eaLnBrk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CN" sz="1600" dirty="0"/>
                  <a:t>new_vx</a:t>
                </a:r>
                <a:r>
                  <a:rPr lang="zh-CN" altLang="en-US" sz="1600" dirty="0"/>
                  <a:t>、</a:t>
                </a:r>
                <a:r>
                  <a:rPr lang="en-US" altLang="zh-CN" sz="1600" dirty="0"/>
                  <a:t>new_vy</a:t>
                </a:r>
                <a:r>
                  <a:rPr lang="zh-CN" altLang="en-US" sz="1600" dirty="0"/>
                  <a:t>：转向后的新航向向量</a:t>
                </a:r>
                <a:endParaRPr lang="en-US" altLang="zh-CN" sz="1600" dirty="0"/>
              </a:p>
              <a:p>
                <a:pPr eaLnBrk="0">
                  <a:lnSpc>
                    <a:spcPct val="100000"/>
                  </a:lnSpc>
                  <a:spcBef>
                    <a:spcPts val="0"/>
                  </a:spcBef>
                </a:pPr>
                <a:endParaRPr lang="en-US" altLang="zh-CN" sz="1600" dirty="0"/>
              </a:p>
              <a:p>
                <a:pPr marL="0" indent="0" eaLnBrk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zh-CN" altLang="en-US" sz="1600" dirty="0"/>
                  <a:t>未优化：直接更新总角度 </a:t>
                </a:r>
                <a:r>
                  <a:rPr lang="en-US" altLang="zh-CN" sz="1600" dirty="0"/>
                  <a:t>psi </a:t>
                </a:r>
                <a:r>
                  <a:rPr lang="zh-CN" altLang="en-US" sz="1600" dirty="0"/>
                  <a:t>→ 重新计算总角度的三角函数</a:t>
                </a:r>
              </a:p>
              <a:p>
                <a:pPr>
                  <a:buNone/>
                </a:pPr>
                <a:r>
                  <a:rPr lang="en-US" altLang="zh-CN" sz="1200" dirty="0">
                    <a:solidFill>
                      <a:srgbClr val="000000"/>
                    </a:solidFill>
                    <a:latin typeface="新宋体" panose="02010609030101010101" pitchFamily="49" charset="-122"/>
                    <a:ea typeface="新宋体" panose="02010609030101010101" pitchFamily="49" charset="-122"/>
                  </a:rPr>
                  <a:t>	s-&gt;psi += delta_psi;          // </a:t>
                </a:r>
                <a:r>
                  <a:rPr lang="zh-CN" altLang="en-US" sz="1200" dirty="0">
                    <a:solidFill>
                      <a:srgbClr val="000000"/>
                    </a:solidFill>
                    <a:latin typeface="新宋体" panose="02010609030101010101" pitchFamily="49" charset="-122"/>
                    <a:ea typeface="新宋体" panose="02010609030101010101" pitchFamily="49" charset="-122"/>
                  </a:rPr>
                  <a:t>更新角度</a:t>
                </a:r>
              </a:p>
              <a:p>
                <a:pPr>
                  <a:buNone/>
                </a:pPr>
                <a:r>
                  <a:rPr lang="en-US" altLang="zh-CN" sz="1200" dirty="0">
                    <a:solidFill>
                      <a:srgbClr val="0000FF"/>
                    </a:solidFill>
                    <a:latin typeface="新宋体" panose="02010609030101010101" pitchFamily="49" charset="-122"/>
                    <a:ea typeface="新宋体" panose="02010609030101010101" pitchFamily="49" charset="-122"/>
                  </a:rPr>
                  <a:t>	float</a:t>
                </a:r>
                <a:r>
                  <a:rPr lang="en-US" altLang="zh-CN" sz="1200" dirty="0">
                    <a:solidFill>
                      <a:srgbClr val="000000"/>
                    </a:solidFill>
                    <a:latin typeface="新宋体" panose="02010609030101010101" pitchFamily="49" charset="-122"/>
                    <a:ea typeface="新宋体" panose="02010609030101010101" pitchFamily="49" charset="-122"/>
                  </a:rPr>
                  <a:t> new_vx = </a:t>
                </a:r>
                <a:r>
                  <a:rPr lang="en-US" altLang="zh-CN" sz="1200" dirty="0" err="1">
                    <a:solidFill>
                      <a:srgbClr val="000000"/>
                    </a:solidFill>
                    <a:latin typeface="新宋体" panose="02010609030101010101" pitchFamily="49" charset="-122"/>
                    <a:ea typeface="新宋体" panose="02010609030101010101" pitchFamily="49" charset="-122"/>
                  </a:rPr>
                  <a:t>cosf</a:t>
                </a:r>
                <a:r>
                  <a:rPr lang="en-US" altLang="zh-CN" sz="1200" dirty="0">
                    <a:solidFill>
                      <a:srgbClr val="000000"/>
                    </a:solidFill>
                    <a:latin typeface="新宋体" panose="02010609030101010101" pitchFamily="49" charset="-122"/>
                    <a:ea typeface="新宋体" panose="02010609030101010101" pitchFamily="49" charset="-122"/>
                  </a:rPr>
                  <a:t>(s-&gt;psi); </a:t>
                </a:r>
              </a:p>
              <a:p>
                <a:pPr>
                  <a:buNone/>
                </a:pPr>
                <a:r>
                  <a:rPr lang="en-US" altLang="zh-CN" sz="1200" dirty="0">
                    <a:solidFill>
                      <a:srgbClr val="0000FF"/>
                    </a:solidFill>
                    <a:latin typeface="新宋体" panose="02010609030101010101" pitchFamily="49" charset="-122"/>
                    <a:ea typeface="新宋体" panose="02010609030101010101" pitchFamily="49" charset="-122"/>
                  </a:rPr>
                  <a:t>	float</a:t>
                </a:r>
                <a:r>
                  <a:rPr lang="en-US" altLang="zh-CN" sz="1200" dirty="0">
                    <a:solidFill>
                      <a:srgbClr val="000000"/>
                    </a:solidFill>
                    <a:latin typeface="新宋体" panose="02010609030101010101" pitchFamily="49" charset="-122"/>
                    <a:ea typeface="新宋体" panose="02010609030101010101" pitchFamily="49" charset="-122"/>
                  </a:rPr>
                  <a:t> new_vy = </a:t>
                </a:r>
                <a:r>
                  <a:rPr lang="en-US" altLang="zh-CN" sz="1200" dirty="0" err="1">
                    <a:solidFill>
                      <a:srgbClr val="000000"/>
                    </a:solidFill>
                    <a:latin typeface="新宋体" panose="02010609030101010101" pitchFamily="49" charset="-122"/>
                    <a:ea typeface="新宋体" panose="02010609030101010101" pitchFamily="49" charset="-122"/>
                  </a:rPr>
                  <a:t>sinf</a:t>
                </a:r>
                <a:r>
                  <a:rPr lang="en-US" altLang="zh-CN" sz="1200" dirty="0">
                    <a:solidFill>
                      <a:srgbClr val="000000"/>
                    </a:solidFill>
                    <a:latin typeface="新宋体" panose="02010609030101010101" pitchFamily="49" charset="-122"/>
                    <a:ea typeface="新宋体" panose="02010609030101010101" pitchFamily="49" charset="-122"/>
                  </a:rPr>
                  <a:t>(s-&gt;psi); </a:t>
                </a:r>
              </a:p>
              <a:p>
                <a:pPr eaLnBrk="0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l"/>
                </a:pPr>
                <a:endParaRPr lang="en-US" altLang="zh-CN" dirty="0"/>
              </a:p>
              <a:p>
                <a:pPr eaLnBrk="0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l"/>
                </a:pPr>
                <a:endParaRPr lang="en-US" altLang="zh-CN" dirty="0"/>
              </a:p>
              <a:p>
                <a:pPr eaLnBrk="0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l"/>
                </a:pPr>
                <a:endParaRPr lang="en-US" altLang="zh-CN" dirty="0"/>
              </a:p>
              <a:p>
                <a:pPr eaLnBrk="0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l"/>
                </a:pPr>
                <a:endParaRPr lang="en-US" altLang="zh-CN" dirty="0"/>
              </a:p>
              <a:p>
                <a:pPr eaLnBrk="0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l"/>
                </a:pPr>
                <a:endParaRPr lang="en-US" altLang="zh-CN" dirty="0"/>
              </a:p>
              <a:p>
                <a:pPr eaLnBrk="0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l"/>
                </a:pPr>
                <a:endParaRPr lang="en-US" altLang="zh-CN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882C3-8A0B-1FC0-C33E-6232B09E9E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9" t="-12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156D7D-C278-223E-5E9F-3D0A9C3B40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BF71A997-7E79-41BB-B83B-6503C36C821C}" type="slidenum">
              <a:rPr lang="en-US" altLang="zh-CN" smtClean="0"/>
              <a:t>5</a:t>
            </a:fld>
            <a:endParaRPr lang="en-US" altLang="zh-CN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135438B1-BC5E-9030-6663-41847BC0D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MPC</a:t>
            </a:r>
            <a:r>
              <a:rPr lang="zh-CN" altLang="en-US" dirty="0"/>
              <a:t>算法优化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0135B50-4DC4-0073-438B-4E143B0DE2C5}"/>
              </a:ext>
            </a:extLst>
          </p:cNvPr>
          <p:cNvSpPr txBox="1"/>
          <p:nvPr/>
        </p:nvSpPr>
        <p:spPr>
          <a:xfrm>
            <a:off x="3321378" y="5593953"/>
            <a:ext cx="61274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2 </a:t>
            </a:r>
            <a:r>
              <a:rPr lang="zh-CN" altLang="en-US" dirty="0"/>
              <a:t>次三角函数（</a:t>
            </a:r>
            <a:r>
              <a:rPr lang="en-US" altLang="zh-CN" dirty="0" err="1"/>
              <a:t>cosf</a:t>
            </a:r>
            <a:r>
              <a:rPr lang="en-US" altLang="zh-CN" dirty="0"/>
              <a:t>/</a:t>
            </a:r>
            <a:r>
              <a:rPr lang="en-US" altLang="zh-CN" dirty="0" err="1"/>
              <a:t>sinf</a:t>
            </a:r>
            <a:r>
              <a:rPr lang="zh-CN" altLang="en-US" dirty="0"/>
              <a:t>）</a:t>
            </a:r>
            <a:r>
              <a:rPr lang="en-US" altLang="zh-CN" dirty="0">
                <a:sym typeface="Wingdings" panose="05000000000000000000" pitchFamily="2" charset="2"/>
              </a:rPr>
              <a:t>  4 </a:t>
            </a:r>
            <a:r>
              <a:rPr lang="zh-CN" altLang="en-US" dirty="0">
                <a:sym typeface="Wingdings" panose="05000000000000000000" pitchFamily="2" charset="2"/>
              </a:rPr>
              <a:t>次乘法 </a:t>
            </a:r>
            <a:r>
              <a:rPr lang="en-US" altLang="zh-CN" dirty="0">
                <a:sym typeface="Wingdings" panose="05000000000000000000" pitchFamily="2" charset="2"/>
              </a:rPr>
              <a:t>+ 2 </a:t>
            </a:r>
            <a:r>
              <a:rPr lang="zh-CN" altLang="en-US" dirty="0">
                <a:sym typeface="Wingdings" panose="05000000000000000000" pitchFamily="2" charset="2"/>
              </a:rPr>
              <a:t>次加减法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196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4CD1C-8882-2E02-8462-2EF7C0AAB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601084-2D03-E38E-BF34-BEFE0B1C6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dirty="0"/>
              <a:t>循环展开</a:t>
            </a:r>
            <a:endParaRPr lang="en-US" altLang="zh-CN" dirty="0"/>
          </a:p>
          <a:p>
            <a:pPr>
              <a:buNone/>
            </a:pPr>
            <a:r>
              <a:rPr lang="en-US" altLang="zh-CN" sz="1200" dirty="0">
                <a:solidFill>
                  <a:srgbClr val="80808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#pragma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omp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 parallel </a:t>
            </a:r>
            <a:r>
              <a:rPr lang="en-US" altLang="zh-CN" sz="1200" dirty="0">
                <a:solidFill>
                  <a:srgbClr val="0000FF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for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simd</a:t>
            </a:r>
            <a:endParaRPr lang="en-US" altLang="zh-CN" sz="1200" dirty="0">
              <a:solidFill>
                <a:srgbClr val="000000"/>
              </a:solidFill>
              <a:effectLst/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>
              <a:buNone/>
            </a:pPr>
            <a:r>
              <a:rPr lang="en-US" altLang="zh-CN" sz="1200" dirty="0">
                <a:solidFill>
                  <a:srgbClr val="0000FF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for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 (</a:t>
            </a:r>
            <a:r>
              <a:rPr lang="en-US" altLang="zh-CN" sz="1200" dirty="0">
                <a:solidFill>
                  <a:srgbClr val="0000FF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 = 0;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 &lt; horizon;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 += 4) {</a:t>
            </a:r>
            <a:r>
              <a:rPr lang="en-US" altLang="zh-CN" sz="1200" dirty="0"/>
              <a:t>// </a:t>
            </a:r>
            <a:r>
              <a:rPr lang="zh-CN" altLang="en-US" sz="1200" dirty="0"/>
              <a:t>手动循环展开</a:t>
            </a:r>
            <a:r>
              <a:rPr lang="en-US" altLang="zh-CN" sz="1200" dirty="0"/>
              <a:t>4</a:t>
            </a:r>
            <a:r>
              <a:rPr lang="zh-CN" altLang="en-US" sz="1200" dirty="0"/>
              <a:t>次</a:t>
            </a:r>
            <a:endParaRPr lang="en-US" altLang="zh-CN" sz="1200" dirty="0">
              <a:solidFill>
                <a:srgbClr val="000000"/>
              </a:solidFill>
              <a:effectLst/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>
              <a:buNone/>
            </a:pPr>
            <a:r>
              <a:rPr lang="en-US" altLang="zh-CN" sz="1200" dirty="0"/>
              <a:t>   	  // NEON SIMD</a:t>
            </a:r>
            <a:r>
              <a:rPr lang="zh-CN" altLang="en-US" sz="1200" dirty="0"/>
              <a:t>向量操作（单次处理</a:t>
            </a:r>
            <a:r>
              <a:rPr lang="en-US" altLang="zh-CN" sz="1200" dirty="0"/>
              <a:t>4</a:t>
            </a:r>
            <a:r>
              <a:rPr lang="zh-CN" altLang="en-US" sz="1200" dirty="0"/>
              <a:t>个</a:t>
            </a:r>
            <a:r>
              <a:rPr lang="en-US" altLang="zh-CN" sz="1200" dirty="0"/>
              <a:t>float</a:t>
            </a:r>
            <a:r>
              <a:rPr lang="zh-CN" altLang="en-US" sz="1200" dirty="0"/>
              <a:t>）</a:t>
            </a:r>
          </a:p>
          <a:p>
            <a:pPr>
              <a:buNone/>
            </a:pPr>
            <a:r>
              <a:rPr lang="zh-CN" altLang="en-US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1200" dirty="0">
                <a:solidFill>
                  <a:srgbClr val="2B91AF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float32x4_t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v_delta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 = </a:t>
            </a:r>
            <a:r>
              <a:rPr lang="en-US" altLang="zh-CN" sz="1200" dirty="0">
                <a:solidFill>
                  <a:srgbClr val="6F008A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vld1q_f32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(&amp;</a:t>
            </a:r>
            <a:r>
              <a:rPr lang="en-US" altLang="zh-CN" sz="1200" dirty="0" err="1">
                <a:solidFill>
                  <a:srgbClr val="80808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u_seq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-&gt;delta[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]);</a:t>
            </a:r>
            <a:r>
              <a:rPr lang="zh-CN" altLang="en-US" sz="1200" dirty="0"/>
              <a:t> </a:t>
            </a:r>
            <a:r>
              <a:rPr lang="en-US" altLang="zh-CN" sz="1200" dirty="0"/>
              <a:t>		// </a:t>
            </a:r>
            <a:r>
              <a:rPr lang="zh-CN" altLang="en-US" sz="1200" dirty="0"/>
              <a:t>加载</a:t>
            </a:r>
            <a:r>
              <a:rPr lang="en-US" altLang="zh-CN" sz="1200" dirty="0"/>
              <a:t>4</a:t>
            </a:r>
            <a:r>
              <a:rPr lang="zh-CN" altLang="en-US" sz="1200" dirty="0"/>
              <a:t>个</a:t>
            </a:r>
            <a:r>
              <a:rPr lang="en-US" altLang="zh-CN" sz="1200" dirty="0"/>
              <a:t>delta</a:t>
            </a:r>
            <a:r>
              <a:rPr lang="zh-CN" altLang="en-US" sz="1200" dirty="0"/>
              <a:t>值到</a:t>
            </a:r>
            <a:r>
              <a:rPr lang="en-US" altLang="zh-CN" sz="1200" dirty="0"/>
              <a:t>128</a:t>
            </a:r>
            <a:r>
              <a:rPr lang="zh-CN" altLang="en-US" sz="1200" dirty="0"/>
              <a:t>位向量寄存器</a:t>
            </a:r>
            <a:endParaRPr lang="en-US" altLang="zh-CN" sz="1200" dirty="0">
              <a:solidFill>
                <a:srgbClr val="000000"/>
              </a:solidFill>
              <a:effectLst/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>
              <a:buNone/>
            </a:pP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1200" dirty="0">
                <a:solidFill>
                  <a:srgbClr val="2B91AF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float32x4_t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v_grad_d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 = </a:t>
            </a:r>
            <a:r>
              <a:rPr lang="en-US" altLang="zh-CN" sz="1200" dirty="0">
                <a:solidFill>
                  <a:srgbClr val="6F008A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vld1q_f32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(&amp;</a:t>
            </a:r>
            <a:r>
              <a:rPr lang="en-US" altLang="zh-CN" sz="1200" dirty="0">
                <a:solidFill>
                  <a:srgbClr val="80808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grad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-&gt;delta[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]);</a:t>
            </a:r>
            <a:r>
              <a:rPr lang="zh-CN" altLang="en-US" sz="1200" dirty="0"/>
              <a:t> </a:t>
            </a:r>
            <a:r>
              <a:rPr lang="en-US" altLang="zh-CN" sz="1200" dirty="0"/>
              <a:t>		// </a:t>
            </a:r>
            <a:r>
              <a:rPr lang="zh-CN" altLang="en-US" sz="1200" dirty="0"/>
              <a:t>加载</a:t>
            </a:r>
            <a:r>
              <a:rPr lang="en-US" altLang="zh-CN" sz="1200" dirty="0"/>
              <a:t>4</a:t>
            </a:r>
            <a:r>
              <a:rPr lang="zh-CN" altLang="en-US" sz="1200" dirty="0"/>
              <a:t>个梯度值到向量寄存器</a:t>
            </a:r>
            <a:endParaRPr lang="en-US" altLang="zh-CN" sz="1200" dirty="0">
              <a:solidFill>
                <a:srgbClr val="000000"/>
              </a:solidFill>
              <a:effectLst/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>
              <a:buNone/>
            </a:pP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v_delta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 = </a:t>
            </a:r>
            <a:r>
              <a:rPr lang="en-US" altLang="zh-CN" sz="1200" dirty="0">
                <a:solidFill>
                  <a:srgbClr val="6F008A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vmlsq_f32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v_delta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v_lr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v_grad_d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 / 10000); </a:t>
            </a:r>
            <a:r>
              <a:rPr lang="en-US" altLang="zh-CN" sz="12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		</a:t>
            </a:r>
            <a:r>
              <a:rPr lang="en-US" altLang="zh-CN" sz="1200" dirty="0"/>
              <a:t>// </a:t>
            </a:r>
            <a:r>
              <a:rPr lang="zh-CN" altLang="en-US" sz="1200" dirty="0"/>
              <a:t>向量乘减：</a:t>
            </a:r>
            <a:r>
              <a:rPr lang="en-US" altLang="zh-CN" sz="1200" dirty="0"/>
              <a:t>delta -= </a:t>
            </a:r>
            <a:r>
              <a:rPr lang="en-US" altLang="zh-CN" sz="1200" dirty="0" err="1"/>
              <a:t>lr</a:t>
            </a:r>
            <a:r>
              <a:rPr lang="en-US" altLang="zh-CN" sz="1200" dirty="0"/>
              <a:t> * grad / 10000</a:t>
            </a:r>
            <a:endParaRPr lang="en-US" altLang="zh-CN" sz="1200" dirty="0">
              <a:solidFill>
                <a:srgbClr val="000000"/>
              </a:solidFill>
              <a:effectLst/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>
              <a:buNone/>
            </a:pP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v_delta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 = </a:t>
            </a:r>
            <a:r>
              <a:rPr lang="en-US" altLang="zh-CN" sz="1200" dirty="0">
                <a:solidFill>
                  <a:srgbClr val="6F008A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vmaxq_f32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(</a:t>
            </a:r>
            <a:r>
              <a:rPr lang="en-US" altLang="zh-CN" sz="1200" dirty="0">
                <a:solidFill>
                  <a:srgbClr val="6F008A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vminq_f32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v_delta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v_max_delta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),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v_min_delta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);</a:t>
            </a:r>
            <a:r>
              <a:rPr lang="zh-CN" altLang="en-US" sz="1200" dirty="0"/>
              <a:t>   </a:t>
            </a:r>
            <a:r>
              <a:rPr lang="en-US" altLang="zh-CN" sz="1200" dirty="0"/>
              <a:t>// </a:t>
            </a:r>
            <a:r>
              <a:rPr lang="zh-CN" altLang="en-US" sz="1200" dirty="0"/>
              <a:t>向量截断：限制</a:t>
            </a:r>
            <a:r>
              <a:rPr lang="en-US" altLang="zh-CN" sz="1200" dirty="0"/>
              <a:t>delta</a:t>
            </a:r>
            <a:r>
              <a:rPr lang="zh-CN" altLang="en-US" sz="1200" dirty="0"/>
              <a:t>范围</a:t>
            </a:r>
            <a:endParaRPr lang="en-US" altLang="zh-CN" sz="1200" dirty="0">
              <a:solidFill>
                <a:srgbClr val="000000"/>
              </a:solidFill>
              <a:effectLst/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>
              <a:buNone/>
            </a:pP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1200" dirty="0">
                <a:solidFill>
                  <a:srgbClr val="6F008A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vst1q_f32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(&amp;</a:t>
            </a:r>
            <a:r>
              <a:rPr lang="en-US" altLang="zh-CN" sz="1200" dirty="0" err="1">
                <a:solidFill>
                  <a:srgbClr val="80808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u_seq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-&gt;delta[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],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v_delta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);			</a:t>
            </a:r>
            <a:r>
              <a:rPr lang="en-US" altLang="zh-CN" sz="1200" dirty="0"/>
              <a:t>// </a:t>
            </a:r>
            <a:r>
              <a:rPr lang="zh-CN" altLang="en-US" sz="1200" dirty="0"/>
              <a:t>存储</a:t>
            </a:r>
            <a:r>
              <a:rPr lang="en-US" altLang="zh-CN" sz="1200" dirty="0"/>
              <a:t>4</a:t>
            </a:r>
            <a:r>
              <a:rPr lang="zh-CN" altLang="en-US" sz="1200" dirty="0"/>
              <a:t>个计算后的</a:t>
            </a:r>
            <a:r>
              <a:rPr lang="en-US" altLang="zh-CN" sz="1200" dirty="0"/>
              <a:t>delta</a:t>
            </a:r>
            <a:r>
              <a:rPr lang="zh-CN" altLang="en-US" sz="1200" dirty="0"/>
              <a:t>值回内存</a:t>
            </a:r>
            <a:endParaRPr lang="en-US" altLang="zh-CN" sz="1200" dirty="0">
              <a:solidFill>
                <a:srgbClr val="000000"/>
              </a:solidFill>
              <a:effectLst/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>
              <a:buNone/>
            </a:pP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    }</a:t>
            </a:r>
          </a:p>
          <a:p>
            <a:r>
              <a:rPr lang="zh-CN" altLang="en-US" sz="1600" dirty="0"/>
              <a:t>通过增加单次循环迭代处理的元素数量，减少循环总迭代次数，实现优化。</a:t>
            </a:r>
            <a:endParaRPr lang="en-US" altLang="zh-CN" sz="1600" dirty="0"/>
          </a:p>
          <a:p>
            <a:r>
              <a:rPr lang="zh-CN" altLang="en-US" sz="1600" dirty="0"/>
              <a:t>降低循环控制开销，只需要执行</a:t>
            </a:r>
            <a:r>
              <a:rPr lang="en-US" altLang="zh-CN" sz="1600" dirty="0"/>
              <a:t>horizon/4</a:t>
            </a:r>
            <a:r>
              <a:rPr lang="zh-CN" altLang="en-US" sz="1600" dirty="0"/>
              <a:t>次条件判断和</a:t>
            </a:r>
            <a:r>
              <a:rPr lang="en-US" altLang="zh-CN" sz="1600" dirty="0"/>
              <a:t>horizon/4</a:t>
            </a:r>
            <a:r>
              <a:rPr lang="zh-CN" altLang="en-US" sz="1600" dirty="0"/>
              <a:t>次自增</a:t>
            </a:r>
            <a:endParaRPr lang="en-US" altLang="zh-CN" sz="1600" dirty="0"/>
          </a:p>
          <a:p>
            <a:r>
              <a:rPr lang="zh-CN" altLang="en-US" sz="1600" dirty="0"/>
              <a:t>提高指令级并行度，</a:t>
            </a:r>
            <a:r>
              <a:rPr lang="en-US" altLang="zh-CN" sz="1600" dirty="0"/>
              <a:t>OpenMP </a:t>
            </a:r>
            <a:r>
              <a:rPr lang="zh-CN" altLang="en-US" sz="1600" dirty="0"/>
              <a:t>多线程并行</a:t>
            </a:r>
            <a:endParaRPr lang="en-US" altLang="zh-CN" sz="1600" dirty="0"/>
          </a:p>
          <a:p>
            <a:r>
              <a:rPr lang="zh-CN" altLang="en-US" sz="1600" dirty="0"/>
              <a:t>增加寄存器重用的机会，更多数据和常量保存在寄存器中，减少内存访问次数</a:t>
            </a:r>
          </a:p>
          <a:p>
            <a:pPr>
              <a:buNone/>
            </a:pPr>
            <a:endParaRPr lang="en-US" altLang="zh-CN" sz="1200" dirty="0">
              <a:solidFill>
                <a:srgbClr val="000000"/>
              </a:solidFill>
              <a:effectLst/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>
              <a:buNone/>
            </a:pPr>
            <a:endParaRPr lang="en-US" altLang="zh-CN" sz="1200" dirty="0">
              <a:solidFill>
                <a:srgbClr val="000000"/>
              </a:solidFill>
              <a:effectLst/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3D592D-7B9E-B35A-2327-5055D8295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BF71A997-7E79-41BB-B83B-6503C36C821C}" type="slidenum">
              <a:rPr lang="en-US" altLang="zh-CN" smtClean="0"/>
              <a:t>6</a:t>
            </a:fld>
            <a:endParaRPr lang="en-US" altLang="zh-CN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386D376F-FDC9-B5D3-067E-3D64E6F11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MPC</a:t>
            </a:r>
            <a:r>
              <a:rPr lang="zh-CN" altLang="en-US" dirty="0"/>
              <a:t>算法优化</a:t>
            </a:r>
          </a:p>
        </p:txBody>
      </p:sp>
    </p:spTree>
    <p:extLst>
      <p:ext uri="{BB962C8B-B14F-4D97-AF65-F5344CB8AC3E}">
        <p14:creationId xmlns:p14="http://schemas.microsoft.com/office/powerpoint/2010/main" val="2521710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5C97E-35C1-E4AD-0E6A-48DFC8260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EAEE88-D16E-8643-47A8-D19A2E23D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dirty="0"/>
              <a:t>指令优化</a:t>
            </a:r>
            <a:endParaRPr lang="en-US" altLang="zh-CN" dirty="0"/>
          </a:p>
          <a:p>
            <a:pPr>
              <a:buNone/>
            </a:pPr>
            <a:r>
              <a:rPr lang="en-US" altLang="zh-CN" sz="1200" dirty="0">
                <a:solidFill>
                  <a:srgbClr val="80808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#pragma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omp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 parallel </a:t>
            </a:r>
            <a:r>
              <a:rPr lang="en-US" altLang="zh-CN" sz="1200" dirty="0">
                <a:solidFill>
                  <a:srgbClr val="0000FF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for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simd</a:t>
            </a:r>
            <a:endParaRPr lang="en-US" altLang="zh-CN" sz="1200" dirty="0">
              <a:solidFill>
                <a:srgbClr val="000000"/>
              </a:solidFill>
              <a:effectLst/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>
              <a:buNone/>
            </a:pPr>
            <a:r>
              <a:rPr lang="en-US" altLang="zh-CN" sz="1200" dirty="0">
                <a:solidFill>
                  <a:srgbClr val="0000FF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for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 (</a:t>
            </a:r>
            <a:r>
              <a:rPr lang="en-US" altLang="zh-CN" sz="1200" dirty="0">
                <a:solidFill>
                  <a:srgbClr val="0000FF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 = 0;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 &lt; horizon;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 += 4) {</a:t>
            </a:r>
            <a:r>
              <a:rPr lang="en-US" altLang="zh-CN" sz="1200" dirty="0"/>
              <a:t>// </a:t>
            </a:r>
            <a:r>
              <a:rPr lang="zh-CN" altLang="en-US" sz="1200" dirty="0"/>
              <a:t>手动循环展开</a:t>
            </a:r>
            <a:r>
              <a:rPr lang="en-US" altLang="zh-CN" sz="1200" dirty="0"/>
              <a:t>4</a:t>
            </a:r>
            <a:r>
              <a:rPr lang="zh-CN" altLang="en-US" sz="1200" dirty="0"/>
              <a:t>次</a:t>
            </a:r>
            <a:endParaRPr lang="en-US" altLang="zh-CN" sz="1200" dirty="0">
              <a:solidFill>
                <a:srgbClr val="000000"/>
              </a:solidFill>
              <a:effectLst/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>
              <a:buNone/>
            </a:pPr>
            <a:r>
              <a:rPr lang="en-US" altLang="zh-CN" sz="1200" dirty="0"/>
              <a:t>   	  // NEON SIMD</a:t>
            </a:r>
            <a:r>
              <a:rPr lang="zh-CN" altLang="en-US" sz="1200" dirty="0"/>
              <a:t>向量操作（单次处理</a:t>
            </a:r>
            <a:r>
              <a:rPr lang="en-US" altLang="zh-CN" sz="1200" dirty="0"/>
              <a:t>4</a:t>
            </a:r>
            <a:r>
              <a:rPr lang="zh-CN" altLang="en-US" sz="1200" dirty="0"/>
              <a:t>个</a:t>
            </a:r>
            <a:r>
              <a:rPr lang="en-US" altLang="zh-CN" sz="1200" dirty="0"/>
              <a:t>float</a:t>
            </a:r>
            <a:r>
              <a:rPr lang="zh-CN" altLang="en-US" sz="1200" dirty="0"/>
              <a:t>）</a:t>
            </a:r>
          </a:p>
          <a:p>
            <a:pPr>
              <a:buNone/>
            </a:pPr>
            <a:r>
              <a:rPr lang="zh-CN" altLang="en-US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1200" dirty="0">
                <a:solidFill>
                  <a:srgbClr val="2B91AF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float32x4_t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v_delta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 = </a:t>
            </a:r>
            <a:r>
              <a:rPr lang="en-US" altLang="zh-CN" sz="1200" dirty="0">
                <a:solidFill>
                  <a:srgbClr val="6F008A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vld1q_f32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(&amp;</a:t>
            </a:r>
            <a:r>
              <a:rPr lang="en-US" altLang="zh-CN" sz="1200" dirty="0" err="1">
                <a:solidFill>
                  <a:srgbClr val="80808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u_seq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-&gt;delta[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]);</a:t>
            </a:r>
            <a:r>
              <a:rPr lang="zh-CN" altLang="en-US" sz="1200" dirty="0"/>
              <a:t> </a:t>
            </a:r>
            <a:r>
              <a:rPr lang="en-US" altLang="zh-CN" sz="1200" dirty="0"/>
              <a:t>		// </a:t>
            </a:r>
            <a:r>
              <a:rPr lang="zh-CN" altLang="en-US" sz="1200" dirty="0"/>
              <a:t>加载</a:t>
            </a:r>
            <a:r>
              <a:rPr lang="en-US" altLang="zh-CN" sz="1200" dirty="0"/>
              <a:t>4</a:t>
            </a:r>
            <a:r>
              <a:rPr lang="zh-CN" altLang="en-US" sz="1200" dirty="0"/>
              <a:t>个</a:t>
            </a:r>
            <a:r>
              <a:rPr lang="en-US" altLang="zh-CN" sz="1200" dirty="0"/>
              <a:t>delta</a:t>
            </a:r>
            <a:r>
              <a:rPr lang="zh-CN" altLang="en-US" sz="1200" dirty="0"/>
              <a:t>值到</a:t>
            </a:r>
            <a:r>
              <a:rPr lang="en-US" altLang="zh-CN" sz="1200" dirty="0"/>
              <a:t>128</a:t>
            </a:r>
            <a:r>
              <a:rPr lang="zh-CN" altLang="en-US" sz="1200" dirty="0"/>
              <a:t>位向量寄存器</a:t>
            </a:r>
            <a:endParaRPr lang="en-US" altLang="zh-CN" sz="1200" dirty="0">
              <a:solidFill>
                <a:srgbClr val="000000"/>
              </a:solidFill>
              <a:effectLst/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>
              <a:buNone/>
            </a:pP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1200" dirty="0">
                <a:solidFill>
                  <a:srgbClr val="2B91AF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float32x4_t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v_grad_d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 = </a:t>
            </a:r>
            <a:r>
              <a:rPr lang="en-US" altLang="zh-CN" sz="1200" dirty="0">
                <a:solidFill>
                  <a:srgbClr val="6F008A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vld1q_f32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(&amp;</a:t>
            </a:r>
            <a:r>
              <a:rPr lang="en-US" altLang="zh-CN" sz="1200" dirty="0">
                <a:solidFill>
                  <a:srgbClr val="80808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grad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-&gt;delta[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]);</a:t>
            </a:r>
            <a:r>
              <a:rPr lang="zh-CN" altLang="en-US" sz="1200" dirty="0"/>
              <a:t> </a:t>
            </a:r>
            <a:r>
              <a:rPr lang="en-US" altLang="zh-CN" sz="1200" dirty="0"/>
              <a:t>		// </a:t>
            </a:r>
            <a:r>
              <a:rPr lang="zh-CN" altLang="en-US" sz="1200" dirty="0"/>
              <a:t>加载</a:t>
            </a:r>
            <a:r>
              <a:rPr lang="en-US" altLang="zh-CN" sz="1200" dirty="0"/>
              <a:t>4</a:t>
            </a:r>
            <a:r>
              <a:rPr lang="zh-CN" altLang="en-US" sz="1200" dirty="0"/>
              <a:t>个梯度值到向量寄存器</a:t>
            </a:r>
            <a:endParaRPr lang="en-US" altLang="zh-CN" sz="1200" dirty="0">
              <a:solidFill>
                <a:srgbClr val="000000"/>
              </a:solidFill>
              <a:effectLst/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>
              <a:buNone/>
            </a:pP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v_delta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 = </a:t>
            </a:r>
            <a:r>
              <a:rPr lang="en-US" altLang="zh-CN" sz="1200" dirty="0">
                <a:solidFill>
                  <a:srgbClr val="6F008A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vmlsq_f32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v_delta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v_lr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v_grad_d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 / 10000); </a:t>
            </a:r>
            <a:r>
              <a:rPr lang="en-US" altLang="zh-CN" sz="12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		</a:t>
            </a:r>
            <a:r>
              <a:rPr lang="en-US" altLang="zh-CN" sz="1200" dirty="0"/>
              <a:t>// </a:t>
            </a:r>
            <a:r>
              <a:rPr lang="zh-CN" altLang="en-US" sz="1200" dirty="0"/>
              <a:t>向量乘减：</a:t>
            </a:r>
            <a:r>
              <a:rPr lang="en-US" altLang="zh-CN" sz="1200" dirty="0"/>
              <a:t>delta -= </a:t>
            </a:r>
            <a:r>
              <a:rPr lang="en-US" altLang="zh-CN" sz="1200" dirty="0" err="1"/>
              <a:t>lr</a:t>
            </a:r>
            <a:r>
              <a:rPr lang="en-US" altLang="zh-CN" sz="1200" dirty="0"/>
              <a:t> * grad / 10000</a:t>
            </a:r>
            <a:endParaRPr lang="en-US" altLang="zh-CN" sz="1200" dirty="0">
              <a:solidFill>
                <a:srgbClr val="000000"/>
              </a:solidFill>
              <a:effectLst/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>
              <a:buNone/>
            </a:pP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v_delta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 = </a:t>
            </a:r>
            <a:r>
              <a:rPr lang="en-US" altLang="zh-CN" sz="1200" dirty="0">
                <a:solidFill>
                  <a:srgbClr val="6F008A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vmaxq_f32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(</a:t>
            </a:r>
            <a:r>
              <a:rPr lang="en-US" altLang="zh-CN" sz="1200" dirty="0">
                <a:solidFill>
                  <a:srgbClr val="6F008A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vminq_f32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v_delta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v_max_delta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),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v_min_delta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);</a:t>
            </a:r>
            <a:r>
              <a:rPr lang="zh-CN" altLang="en-US" sz="1200" dirty="0"/>
              <a:t>   </a:t>
            </a:r>
            <a:r>
              <a:rPr lang="en-US" altLang="zh-CN" sz="1200" dirty="0"/>
              <a:t>// </a:t>
            </a:r>
            <a:r>
              <a:rPr lang="zh-CN" altLang="en-US" sz="1200" dirty="0"/>
              <a:t>向量截断：限制</a:t>
            </a:r>
            <a:r>
              <a:rPr lang="en-US" altLang="zh-CN" sz="1200" dirty="0"/>
              <a:t>delta</a:t>
            </a:r>
            <a:r>
              <a:rPr lang="zh-CN" altLang="en-US" sz="1200" dirty="0"/>
              <a:t>范围</a:t>
            </a:r>
            <a:endParaRPr lang="en-US" altLang="zh-CN" sz="1200" dirty="0">
              <a:solidFill>
                <a:srgbClr val="000000"/>
              </a:solidFill>
              <a:effectLst/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>
              <a:buNone/>
            </a:pP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1200" dirty="0">
                <a:solidFill>
                  <a:srgbClr val="6F008A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vst1q_f32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(&amp;</a:t>
            </a:r>
            <a:r>
              <a:rPr lang="en-US" altLang="zh-CN" sz="1200" dirty="0" err="1">
                <a:solidFill>
                  <a:srgbClr val="80808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u_seq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-&gt;delta[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],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v_delta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);			</a:t>
            </a:r>
            <a:r>
              <a:rPr lang="en-US" altLang="zh-CN" sz="1200" dirty="0"/>
              <a:t>// </a:t>
            </a:r>
            <a:r>
              <a:rPr lang="zh-CN" altLang="en-US" sz="1200" dirty="0"/>
              <a:t>存储</a:t>
            </a:r>
            <a:r>
              <a:rPr lang="en-US" altLang="zh-CN" sz="1200" dirty="0"/>
              <a:t>4</a:t>
            </a:r>
            <a:r>
              <a:rPr lang="zh-CN" altLang="en-US" sz="1200" dirty="0"/>
              <a:t>个计算后的</a:t>
            </a:r>
            <a:r>
              <a:rPr lang="en-US" altLang="zh-CN" sz="1200" dirty="0"/>
              <a:t>delta</a:t>
            </a:r>
            <a:r>
              <a:rPr lang="zh-CN" altLang="en-US" sz="1200" dirty="0"/>
              <a:t>值回内存</a:t>
            </a:r>
            <a:endParaRPr lang="en-US" altLang="zh-CN" sz="1200" dirty="0">
              <a:solidFill>
                <a:srgbClr val="000000"/>
              </a:solidFill>
              <a:effectLst/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>
              <a:buNone/>
            </a:pPr>
            <a:r>
              <a:rPr lang="en-US" altLang="zh-CN" sz="1200" dirty="0">
                <a:solidFill>
                  <a:srgbClr val="000000"/>
                </a:solidFill>
                <a:effectLst/>
                <a:latin typeface="新宋体" panose="02010609030101010101" pitchFamily="49" charset="-122"/>
                <a:ea typeface="新宋体" panose="02010609030101010101" pitchFamily="49" charset="-122"/>
              </a:rPr>
              <a:t>    }</a:t>
            </a:r>
          </a:p>
          <a:p>
            <a:pPr>
              <a:buNone/>
            </a:pPr>
            <a:endParaRPr lang="en-US" altLang="zh-CN" sz="1200" dirty="0">
              <a:solidFill>
                <a:srgbClr val="000000"/>
              </a:solidFill>
              <a:effectLst/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zh-CN" altLang="en-US" sz="1600" dirty="0"/>
              <a:t>这段代码的循环展开与 </a:t>
            </a:r>
            <a:r>
              <a:rPr lang="en-US" altLang="zh-CN" sz="1600" dirty="0"/>
              <a:t>ARM NEON SIMD </a:t>
            </a:r>
            <a:r>
              <a:rPr lang="zh-CN" altLang="en-US" sz="1600" dirty="0"/>
              <a:t>指令集完美匹配。向量化更新控制量（</a:t>
            </a:r>
            <a:r>
              <a:rPr lang="en-US" altLang="zh-CN" sz="1600" dirty="0"/>
              <a:t>delta</a:t>
            </a:r>
            <a:r>
              <a:rPr lang="zh-CN" altLang="en-US" sz="1600" dirty="0"/>
              <a:t>），对 </a:t>
            </a:r>
            <a:r>
              <a:rPr lang="en-US" altLang="zh-CN" sz="1600" dirty="0"/>
              <a:t>4 </a:t>
            </a:r>
            <a:r>
              <a:rPr lang="zh-CN" altLang="en-US" sz="1600" dirty="0"/>
              <a:t>个元素同时进行相同操作</a:t>
            </a:r>
            <a:endParaRPr lang="en-US" altLang="zh-CN" sz="1600" dirty="0"/>
          </a:p>
          <a:p>
            <a:r>
              <a:rPr lang="en-US" altLang="zh-CN" sz="1600" dirty="0"/>
              <a:t>float32x4_t</a:t>
            </a:r>
            <a:r>
              <a:rPr lang="zh-CN" altLang="en-US" sz="1600" dirty="0"/>
              <a:t>：</a:t>
            </a:r>
            <a:r>
              <a:rPr lang="en-US" altLang="zh-CN" sz="1600" dirty="0"/>
              <a:t>ARM NEON </a:t>
            </a:r>
            <a:r>
              <a:rPr lang="zh-CN" altLang="en-US" sz="1600" dirty="0"/>
              <a:t>的 </a:t>
            </a:r>
            <a:r>
              <a:rPr lang="en-US" altLang="zh-CN" sz="1600" dirty="0"/>
              <a:t>128 </a:t>
            </a:r>
            <a:r>
              <a:rPr lang="zh-CN" altLang="en-US" sz="1600" dirty="0"/>
              <a:t>位向量类型，可容纳 </a:t>
            </a:r>
            <a:r>
              <a:rPr lang="en-US" altLang="zh-CN" sz="1600" dirty="0"/>
              <a:t>4 </a:t>
            </a:r>
            <a:r>
              <a:rPr lang="zh-CN" altLang="en-US" sz="1600" dirty="0"/>
              <a:t>个 </a:t>
            </a:r>
            <a:r>
              <a:rPr lang="en-US" altLang="zh-CN" sz="1600" dirty="0"/>
              <a:t>32 </a:t>
            </a:r>
            <a:r>
              <a:rPr lang="zh-CN" altLang="en-US" sz="1600" dirty="0"/>
              <a:t>位浮点数</a:t>
            </a:r>
            <a:endParaRPr lang="en-US" altLang="zh-CN" sz="1600" dirty="0"/>
          </a:p>
          <a:p>
            <a:r>
              <a:rPr lang="en-US" altLang="zh-CN" sz="1600" dirty="0"/>
              <a:t>vldlq_f32 / vstlq_f32</a:t>
            </a:r>
            <a:r>
              <a:rPr lang="zh-CN" altLang="en-US" sz="1600" dirty="0"/>
              <a:t>：单次加载 </a:t>
            </a:r>
            <a:r>
              <a:rPr lang="en-US" altLang="zh-CN" sz="1600" dirty="0"/>
              <a:t>/ </a:t>
            </a:r>
            <a:r>
              <a:rPr lang="zh-CN" altLang="en-US" sz="1600" dirty="0"/>
              <a:t>存储 </a:t>
            </a:r>
            <a:r>
              <a:rPr lang="en-US" altLang="zh-CN" sz="1600" dirty="0"/>
              <a:t>4 </a:t>
            </a:r>
            <a:r>
              <a:rPr lang="zh-CN" altLang="en-US" sz="1600" dirty="0"/>
              <a:t>个连续的 </a:t>
            </a:r>
            <a:r>
              <a:rPr lang="en-US" altLang="zh-CN" sz="1600" dirty="0"/>
              <a:t>float </a:t>
            </a:r>
            <a:r>
              <a:rPr lang="zh-CN" altLang="en-US" sz="1600" dirty="0"/>
              <a:t>元素</a:t>
            </a:r>
            <a:endParaRPr lang="en-US" altLang="zh-CN" sz="1600" dirty="0"/>
          </a:p>
          <a:p>
            <a:pPr marL="0" indent="0">
              <a:buNone/>
            </a:pPr>
            <a:endParaRPr lang="en-US" altLang="zh-CN" sz="1600" dirty="0"/>
          </a:p>
          <a:p>
            <a:pPr>
              <a:buNone/>
            </a:pPr>
            <a:endParaRPr lang="en-US" altLang="zh-CN" sz="1600" dirty="0"/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C53D5D-EF13-B178-1AE2-13E40FBB08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BF71A997-7E79-41BB-B83B-6503C36C821C}" type="slidenum">
              <a:rPr lang="en-US" altLang="zh-CN" smtClean="0"/>
              <a:t>7</a:t>
            </a:fld>
            <a:endParaRPr lang="en-US" altLang="zh-CN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8B81BA20-7670-29C9-2DF6-6D24ECBC0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MPC</a:t>
            </a:r>
            <a:r>
              <a:rPr lang="zh-CN" altLang="en-US" dirty="0"/>
              <a:t>算法优化</a:t>
            </a:r>
          </a:p>
        </p:txBody>
      </p:sp>
    </p:spTree>
    <p:extLst>
      <p:ext uri="{BB962C8B-B14F-4D97-AF65-F5344CB8AC3E}">
        <p14:creationId xmlns:p14="http://schemas.microsoft.com/office/powerpoint/2010/main" val="1229702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010E1-61E6-E348-D707-0304EBFCC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8875804B-892B-A79D-032D-9DA7E17F8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MPC </a:t>
            </a:r>
            <a:r>
              <a:rPr lang="zh-CN" altLang="en-US" dirty="0"/>
              <a:t>性能优化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EC7CB57-E2D3-2F4A-78C3-B8E7E0817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7251" y="2214468"/>
            <a:ext cx="4658530" cy="1433706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4000" dirty="0"/>
              <a:t>新增优化内容</a:t>
            </a:r>
          </a:p>
        </p:txBody>
      </p:sp>
    </p:spTree>
    <p:extLst>
      <p:ext uri="{BB962C8B-B14F-4D97-AF65-F5344CB8AC3E}">
        <p14:creationId xmlns:p14="http://schemas.microsoft.com/office/powerpoint/2010/main" val="587322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C6F7E-F8BD-84AA-1879-93D04A38B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A3189B-0324-2D6F-8328-2A1F43AD5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dirty="0"/>
              <a:t>编译方式的改进</a:t>
            </a:r>
            <a:endParaRPr lang="en-US" altLang="zh-CN" dirty="0"/>
          </a:p>
          <a:p>
            <a:pPr>
              <a:buNone/>
            </a:pPr>
            <a:endParaRPr lang="en-US" altLang="zh-CN" sz="1200" dirty="0">
              <a:solidFill>
                <a:srgbClr val="000000"/>
              </a:solidFill>
              <a:effectLst/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>
              <a:buNone/>
            </a:pPr>
            <a:r>
              <a:rPr lang="en-US" altLang="zh-CN" sz="12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gcc</a:t>
            </a:r>
            <a:r>
              <a:rPr lang="en-US" altLang="zh-CN" sz="12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-O3 -march=native -</a:t>
            </a:r>
            <a:r>
              <a:rPr lang="en-US" altLang="zh-CN" sz="12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mtune</a:t>
            </a:r>
            <a:r>
              <a:rPr lang="en-US" altLang="zh-CN" sz="12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=native -</a:t>
            </a:r>
            <a:r>
              <a:rPr lang="en-US" altLang="zh-CN" sz="12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ffast</a:t>
            </a:r>
            <a:r>
              <a:rPr lang="en-US" altLang="zh-CN" sz="12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-math \</a:t>
            </a:r>
          </a:p>
          <a:p>
            <a:pPr>
              <a:buNone/>
            </a:pPr>
            <a:r>
              <a:rPr lang="en-US" altLang="zh-CN" sz="12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-</a:t>
            </a:r>
            <a:r>
              <a:rPr lang="en-US" altLang="zh-CN" sz="12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funroll</a:t>
            </a:r>
            <a:r>
              <a:rPr lang="en-US" altLang="zh-CN" sz="12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-loops -</a:t>
            </a:r>
            <a:r>
              <a:rPr lang="en-US" altLang="zh-CN" sz="12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finline</a:t>
            </a:r>
            <a:r>
              <a:rPr lang="en-US" altLang="zh-CN" sz="12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-functions \</a:t>
            </a:r>
          </a:p>
          <a:p>
            <a:pPr>
              <a:buNone/>
            </a:pPr>
            <a:r>
              <a:rPr lang="en-US" altLang="zh-CN" sz="12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-</a:t>
            </a:r>
            <a:r>
              <a:rPr lang="en-US" altLang="zh-CN" sz="12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fomit</a:t>
            </a:r>
            <a:r>
              <a:rPr lang="en-US" altLang="zh-CN" sz="12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-frame-pointer -</a:t>
            </a:r>
            <a:r>
              <a:rPr lang="en-US" altLang="zh-CN" sz="12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ftree</a:t>
            </a:r>
            <a:r>
              <a:rPr lang="en-US" altLang="zh-CN" sz="12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-vectorize \</a:t>
            </a:r>
          </a:p>
          <a:p>
            <a:pPr>
              <a:buNone/>
            </a:pPr>
            <a:r>
              <a:rPr lang="en-US" altLang="zh-CN" sz="12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-</a:t>
            </a:r>
            <a:r>
              <a:rPr lang="en-US" altLang="zh-CN" sz="12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fopenmp</a:t>
            </a:r>
            <a:r>
              <a:rPr lang="en-US" altLang="zh-CN" sz="12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\</a:t>
            </a:r>
          </a:p>
          <a:p>
            <a:pPr>
              <a:buNone/>
            </a:pPr>
            <a:r>
              <a:rPr lang="en-US" altLang="zh-CN" sz="12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-o mpc_test_v5_O3 </a:t>
            </a:r>
            <a:r>
              <a:rPr lang="en-US" altLang="zh-CN" sz="12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mpc_linux.c</a:t>
            </a:r>
            <a:r>
              <a:rPr lang="en-US" altLang="zh-CN" sz="12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mpc_linux_test.c</a:t>
            </a:r>
            <a:r>
              <a:rPr lang="en-US" altLang="zh-CN" sz="12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timestamp.c</a:t>
            </a:r>
            <a:r>
              <a:rPr lang="en-US" altLang="zh-CN" sz="12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–</a:t>
            </a:r>
            <a:r>
              <a:rPr lang="en-US" altLang="zh-CN" sz="12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lm</a:t>
            </a:r>
            <a:endParaRPr lang="en-US" altLang="zh-CN" sz="120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>
              <a:buNone/>
            </a:pPr>
            <a:endParaRPr lang="en-US" altLang="zh-CN" sz="1200" dirty="0">
              <a:solidFill>
                <a:srgbClr val="000000"/>
              </a:solidFill>
              <a:effectLst/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600" dirty="0"/>
              <a:t>使用了</a:t>
            </a:r>
            <a:r>
              <a:rPr lang="en-US" altLang="zh-CN" sz="1600" dirty="0"/>
              <a:t>O3</a:t>
            </a:r>
            <a:r>
              <a:rPr lang="zh-CN" altLang="en-US" sz="1600" dirty="0"/>
              <a:t>作为更先进的编译方式，效果远比</a:t>
            </a:r>
            <a:r>
              <a:rPr lang="en-US" altLang="zh-CN" sz="1600" dirty="0"/>
              <a:t>OO</a:t>
            </a:r>
            <a:r>
              <a:rPr lang="zh-CN" altLang="en-US" sz="1600" dirty="0"/>
              <a:t>好</a:t>
            </a:r>
            <a:endParaRPr lang="en-US" altLang="zh-CN" sz="1600" dirty="0"/>
          </a:p>
          <a:p>
            <a:pPr eaLnBrk="0">
              <a:lnSpc>
                <a:spcPct val="100000"/>
              </a:lnSpc>
              <a:spcBef>
                <a:spcPts val="0"/>
              </a:spcBef>
            </a:pPr>
            <a:endParaRPr lang="en-US" altLang="zh-CN" sz="160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2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bash-5.1# </a:t>
            </a:r>
            <a:r>
              <a:rPr lang="en-US" altLang="zh-CN" sz="12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gcc</a:t>
            </a:r>
            <a:r>
              <a:rPr lang="en-US" altLang="zh-CN" sz="12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-D_POSIX_C_SOURCE=199309L -std=c11 -O0 -g -Wall -</a:t>
            </a:r>
            <a:r>
              <a:rPr lang="en-US" altLang="zh-CN" sz="12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Wextra</a:t>
            </a:r>
            <a:r>
              <a:rPr lang="en-US" altLang="zh-CN" sz="12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-</a:t>
            </a:r>
            <a:r>
              <a:rPr lang="en-US" altLang="zh-CN" sz="12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fopenmp</a:t>
            </a:r>
            <a:r>
              <a:rPr lang="en-US" altLang="zh-CN" sz="12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\</a:t>
            </a:r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2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&gt;     </a:t>
            </a:r>
            <a:r>
              <a:rPr lang="en-US" altLang="zh-CN" sz="12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mpc_linux.c</a:t>
            </a:r>
            <a:r>
              <a:rPr lang="en-US" altLang="zh-CN" sz="12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timestamp.c</a:t>
            </a:r>
            <a:r>
              <a:rPr lang="en-US" altLang="zh-CN" sz="12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mpc_linux_test.c</a:t>
            </a:r>
            <a:r>
              <a:rPr lang="en-US" altLang="zh-CN" sz="12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\</a:t>
            </a:r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2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&gt;     -o mpc_test_v1_O0 –</a:t>
            </a:r>
            <a:r>
              <a:rPr lang="en-US" altLang="zh-CN" sz="12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lm</a:t>
            </a:r>
            <a:r>
              <a:rPr lang="en-US" altLang="zh-CN" sz="12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/>
              <a:t>Horizon-32  </a:t>
            </a:r>
            <a:r>
              <a:rPr lang="en-US" altLang="zh-CN" dirty="0" err="1"/>
              <a:t>total_time</a:t>
            </a:r>
            <a:r>
              <a:rPr lang="en-US" altLang="zh-CN" dirty="0"/>
              <a:t>=9298336 ns 9.298336 </a:t>
            </a:r>
            <a:r>
              <a:rPr lang="en-US" altLang="zh-CN" dirty="0" err="1"/>
              <a:t>ms</a:t>
            </a: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2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bash-5.1# </a:t>
            </a:r>
            <a:r>
              <a:rPr lang="en-US" altLang="zh-CN" sz="12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gcc</a:t>
            </a:r>
            <a:r>
              <a:rPr lang="en-US" altLang="zh-CN" sz="12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-D_POSIX_C_SOURCE=199309L -std=c11 –O3 -g -Wall -</a:t>
            </a:r>
            <a:r>
              <a:rPr lang="en-US" altLang="zh-CN" sz="12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Wextra</a:t>
            </a:r>
            <a:r>
              <a:rPr lang="en-US" altLang="zh-CN" sz="12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-</a:t>
            </a:r>
            <a:r>
              <a:rPr lang="en-US" altLang="zh-CN" sz="12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fopenmp</a:t>
            </a:r>
            <a:r>
              <a:rPr lang="en-US" altLang="zh-CN" sz="12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\</a:t>
            </a:r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2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&gt;     </a:t>
            </a:r>
            <a:r>
              <a:rPr lang="en-US" altLang="zh-CN" sz="12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mpc_linux.c</a:t>
            </a:r>
            <a:r>
              <a:rPr lang="en-US" altLang="zh-CN" sz="12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timestamp.c</a:t>
            </a:r>
            <a:r>
              <a:rPr lang="en-US" altLang="zh-CN" sz="12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mpc_linux_test.c</a:t>
            </a:r>
            <a:r>
              <a:rPr lang="en-US" altLang="zh-CN" sz="12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\</a:t>
            </a:r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2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&gt;     -o mpc_test_v1_O0 –</a:t>
            </a:r>
            <a:r>
              <a:rPr lang="en-US" altLang="zh-CN" sz="12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lm</a:t>
            </a:r>
            <a:r>
              <a:rPr lang="en-US" altLang="zh-CN" sz="12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/>
              <a:t>Horizon-32  </a:t>
            </a:r>
            <a:r>
              <a:rPr lang="en-US" altLang="zh-CN" dirty="0" err="1"/>
              <a:t>total_time</a:t>
            </a:r>
            <a:r>
              <a:rPr lang="en-US" altLang="zh-CN" dirty="0"/>
              <a:t>=5465264 ns 5.465264 </a:t>
            </a:r>
            <a:r>
              <a:rPr lang="en-US" altLang="zh-CN" dirty="0" err="1"/>
              <a:t>ms</a:t>
            </a:r>
            <a:endParaRPr lang="zh-CN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EFDF92-4F92-A1E1-2DE7-D0020881E2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BF71A997-7E79-41BB-B83B-6503C36C821C}" type="slidenum">
              <a:rPr lang="en-US" altLang="zh-CN" smtClean="0"/>
              <a:t>9</a:t>
            </a:fld>
            <a:endParaRPr lang="en-US" altLang="zh-CN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E9C2CC4E-8D68-79C1-BE45-3D9CA7CF5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MPC</a:t>
            </a:r>
            <a:r>
              <a:rPr lang="zh-CN" altLang="en-US" dirty="0"/>
              <a:t>算法优化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7AB237-168A-F88D-6464-D86754A25052}"/>
              </a:ext>
            </a:extLst>
          </p:cNvPr>
          <p:cNvSpPr txBox="1"/>
          <p:nvPr/>
        </p:nvSpPr>
        <p:spPr>
          <a:xfrm>
            <a:off x="7161940" y="1162010"/>
            <a:ext cx="5224507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-O3</a:t>
            </a:r>
            <a:r>
              <a:rPr lang="zh-CN" altLang="en-US" dirty="0"/>
              <a:t>选项会启用几乎所有的优化选项，</a:t>
            </a:r>
            <a:endParaRPr lang="en-US" altLang="zh-CN" dirty="0"/>
          </a:p>
          <a:p>
            <a:r>
              <a:rPr lang="zh-CN" altLang="en-US" dirty="0"/>
              <a:t>包括</a:t>
            </a:r>
            <a:r>
              <a:rPr lang="en-US" altLang="zh-CN" dirty="0"/>
              <a:t>-O2</a:t>
            </a:r>
            <a:r>
              <a:rPr lang="zh-CN" altLang="en-US" dirty="0"/>
              <a:t>所启用的所有优化。</a:t>
            </a:r>
            <a:endParaRPr lang="en-US" altLang="zh-CN" dirty="0"/>
          </a:p>
          <a:p>
            <a:r>
              <a:rPr lang="zh-CN" altLang="en-US" dirty="0"/>
              <a:t>这些优化旨在提高代码的执行速度，</a:t>
            </a:r>
            <a:endParaRPr lang="en-US" altLang="zh-CN" dirty="0"/>
          </a:p>
          <a:p>
            <a:r>
              <a:rPr lang="zh-CN" altLang="en-US" dirty="0"/>
              <a:t>会显著增加编译时间和生成代码的大小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进行内联函数扩展，</a:t>
            </a:r>
            <a:endParaRPr lang="en-US" altLang="zh-CN" dirty="0"/>
          </a:p>
          <a:p>
            <a:r>
              <a:rPr lang="zh-CN" altLang="en-US" dirty="0"/>
              <a:t>将小型函数调用替换为函数体，减少跳转开销。</a:t>
            </a:r>
            <a:endParaRPr lang="en-US" altLang="zh-CN" dirty="0"/>
          </a:p>
          <a:p>
            <a:r>
              <a:rPr lang="zh-CN" altLang="en-US" dirty="0"/>
              <a:t>对函数中的代码块重新排序，以减少分支数、</a:t>
            </a:r>
            <a:endParaRPr lang="en-US" altLang="zh-CN" dirty="0"/>
          </a:p>
          <a:p>
            <a:r>
              <a:rPr lang="zh-CN" altLang="en-US" dirty="0"/>
              <a:t>提高代码局部性</a:t>
            </a:r>
            <a:endParaRPr lang="en-US" altLang="zh-CN" dirty="0"/>
          </a:p>
          <a:p>
            <a:r>
              <a:rPr lang="zh-CN" altLang="en-US" dirty="0"/>
              <a:t>使用向量化算法，利用现代</a:t>
            </a:r>
            <a:r>
              <a:rPr lang="en-US" altLang="zh-CN" dirty="0"/>
              <a:t>CPU</a:t>
            </a:r>
            <a:r>
              <a:rPr lang="zh-CN" altLang="en-US" dirty="0"/>
              <a:t>的特性（流水线，</a:t>
            </a:r>
            <a:endParaRPr lang="en-US" altLang="zh-CN" dirty="0"/>
          </a:p>
          <a:p>
            <a:r>
              <a:rPr lang="zh-CN" altLang="en-US" dirty="0"/>
              <a:t>缓存）</a:t>
            </a:r>
            <a:endParaRPr lang="en-US" altLang="zh-CN" dirty="0"/>
          </a:p>
          <a:p>
            <a:r>
              <a:rPr lang="zh-CN" altLang="en-US" dirty="0"/>
              <a:t>来提高代码的并行执行能力。</a:t>
            </a:r>
            <a:endParaRPr lang="en-US" altLang="zh-CN" dirty="0"/>
          </a:p>
          <a:p>
            <a:r>
              <a:rPr lang="zh-CN" altLang="en-US" dirty="0"/>
              <a:t>使得在处理大量数据时，</a:t>
            </a:r>
            <a:endParaRPr lang="en-US" altLang="zh-CN" dirty="0"/>
          </a:p>
          <a:p>
            <a:r>
              <a:rPr lang="zh-CN" altLang="en-US" dirty="0"/>
              <a:t>程序的性能显著提升</a:t>
            </a:r>
            <a:endParaRPr lang="en-US" altLang="zh-CN" dirty="0"/>
          </a:p>
          <a:p>
            <a:r>
              <a:rPr lang="zh-CN" altLang="en-US" dirty="0"/>
              <a:t>通过静态分析调整分支预测方向。</a:t>
            </a:r>
            <a:endParaRPr lang="en-US" altLang="zh-CN" dirty="0"/>
          </a:p>
          <a:p>
            <a:r>
              <a:rPr lang="zh-CN" altLang="en-US" dirty="0"/>
              <a:t>移除未被调用的函数或不可达代码。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28307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A207C-F517-061E-EE53-B50DCD31C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AEA434-4FF7-31A7-9B94-258DE7DEC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dirty="0"/>
              <a:t>优化版本演进路线</a:t>
            </a:r>
            <a:endParaRPr lang="en-US" altLang="zh-CN" sz="1200" dirty="0">
              <a:solidFill>
                <a:srgbClr val="000000"/>
              </a:solidFill>
              <a:effectLst/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15EFF9-AD0F-732B-F25D-13C6F607AB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BF71A997-7E79-41BB-B83B-6503C36C821C}" type="slidenum">
              <a:rPr lang="en-US" altLang="zh-CN" smtClean="0"/>
              <a:t>10</a:t>
            </a:fld>
            <a:endParaRPr lang="en-US" altLang="zh-CN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479373E6-2D32-0DD4-B918-A2B1F04F7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MPC</a:t>
            </a:r>
            <a:r>
              <a:rPr lang="zh-CN" altLang="en-US" dirty="0"/>
              <a:t>算法优化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4A370B77-21BE-13DC-65D3-78CF69A2B6F7}"/>
              </a:ext>
            </a:extLst>
          </p:cNvPr>
          <p:cNvSpPr/>
          <p:nvPr/>
        </p:nvSpPr>
        <p:spPr>
          <a:xfrm>
            <a:off x="768096" y="1587398"/>
            <a:ext cx="1185062" cy="11558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V1</a:t>
            </a:r>
            <a:endParaRPr lang="zh-CN" altLang="en-US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99C1531E-5928-AB03-AC9D-68DF5EB6B419}"/>
              </a:ext>
            </a:extLst>
          </p:cNvPr>
          <p:cNvCxnSpPr>
            <a:stCxn id="2" idx="3"/>
          </p:cNvCxnSpPr>
          <p:nvPr/>
        </p:nvCxnSpPr>
        <p:spPr>
          <a:xfrm>
            <a:off x="1953158" y="2165299"/>
            <a:ext cx="1126541" cy="219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7F8692D-DB97-B5D2-3340-5D9A97AACE42}"/>
              </a:ext>
            </a:extLst>
          </p:cNvPr>
          <p:cNvSpPr/>
          <p:nvPr/>
        </p:nvSpPr>
        <p:spPr>
          <a:xfrm>
            <a:off x="3079699" y="1587398"/>
            <a:ext cx="1185062" cy="11558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V2</a:t>
            </a:r>
            <a:endParaRPr lang="zh-CN" altLang="en-US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C71DBF8-6DAA-B5A1-E9F6-DBE7B88925FC}"/>
              </a:ext>
            </a:extLst>
          </p:cNvPr>
          <p:cNvSpPr/>
          <p:nvPr/>
        </p:nvSpPr>
        <p:spPr>
          <a:xfrm>
            <a:off x="5374118" y="1587398"/>
            <a:ext cx="1185062" cy="11558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V3</a:t>
            </a:r>
            <a:endParaRPr lang="zh-CN" altLang="en-US" dirty="0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D83D511B-6AF3-0A4F-A6C8-B6C13370BB24}"/>
              </a:ext>
            </a:extLst>
          </p:cNvPr>
          <p:cNvCxnSpPr/>
          <p:nvPr/>
        </p:nvCxnSpPr>
        <p:spPr>
          <a:xfrm>
            <a:off x="4189056" y="2176272"/>
            <a:ext cx="1126541" cy="219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DE0B497-B95E-8B15-33AF-FEC778C94FDC}"/>
              </a:ext>
            </a:extLst>
          </p:cNvPr>
          <p:cNvSpPr/>
          <p:nvPr/>
        </p:nvSpPr>
        <p:spPr>
          <a:xfrm>
            <a:off x="7721078" y="1587398"/>
            <a:ext cx="1185062" cy="115580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V4</a:t>
            </a:r>
            <a:endParaRPr lang="zh-CN" altLang="en-US" dirty="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E028A63-9A74-5A50-82BB-C1C73EBD798A}"/>
              </a:ext>
            </a:extLst>
          </p:cNvPr>
          <p:cNvSpPr/>
          <p:nvPr/>
        </p:nvSpPr>
        <p:spPr>
          <a:xfrm>
            <a:off x="10181514" y="1527657"/>
            <a:ext cx="1185062" cy="11558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V5</a:t>
            </a:r>
            <a:endParaRPr lang="zh-CN" altLang="en-US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46E74E0B-2D2E-4C04-1783-C27152575F2E}"/>
              </a:ext>
            </a:extLst>
          </p:cNvPr>
          <p:cNvCxnSpPr/>
          <p:nvPr/>
        </p:nvCxnSpPr>
        <p:spPr>
          <a:xfrm>
            <a:off x="6541996" y="2143353"/>
            <a:ext cx="1126541" cy="219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7C6A1839-303D-55B6-CD45-733B570DAB47}"/>
              </a:ext>
            </a:extLst>
          </p:cNvPr>
          <p:cNvCxnSpPr/>
          <p:nvPr/>
        </p:nvCxnSpPr>
        <p:spPr>
          <a:xfrm>
            <a:off x="8937931" y="2154326"/>
            <a:ext cx="1126541" cy="219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07067797-9A76-580C-0531-CE05576D24B6}"/>
              </a:ext>
            </a:extLst>
          </p:cNvPr>
          <p:cNvSpPr txBox="1"/>
          <p:nvPr/>
        </p:nvSpPr>
        <p:spPr>
          <a:xfrm>
            <a:off x="384810" y="3006547"/>
            <a:ext cx="22706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原始迁移版本 </a:t>
            </a:r>
            <a:endParaRPr lang="en-US" altLang="zh-CN" dirty="0"/>
          </a:p>
          <a:p>
            <a:r>
              <a:rPr lang="en-US" altLang="zh-CN" dirty="0"/>
              <a:t>• </a:t>
            </a:r>
            <a:r>
              <a:rPr lang="zh-CN" altLang="en-US" dirty="0"/>
              <a:t>保留原始算法结构 </a:t>
            </a:r>
            <a:r>
              <a:rPr lang="en-US" altLang="zh-CN" dirty="0"/>
              <a:t>• </a:t>
            </a:r>
            <a:r>
              <a:rPr lang="zh-CN" altLang="en-US" dirty="0"/>
              <a:t>使用 </a:t>
            </a:r>
            <a:r>
              <a:rPr lang="en-US" altLang="zh-CN" dirty="0"/>
              <a:t>O3 </a:t>
            </a:r>
            <a:r>
              <a:rPr lang="zh-CN" altLang="en-US" dirty="0"/>
              <a:t>编译优化 </a:t>
            </a:r>
            <a:r>
              <a:rPr lang="en-US" altLang="zh-CN" dirty="0"/>
              <a:t>• </a:t>
            </a:r>
            <a:r>
              <a:rPr lang="zh-CN" altLang="en-US" dirty="0"/>
              <a:t>存在潜在并行数据竞争和 </a:t>
            </a:r>
            <a:r>
              <a:rPr lang="en-US" altLang="zh-CN" dirty="0"/>
              <a:t>SIMD </a:t>
            </a:r>
            <a:r>
              <a:rPr lang="zh-CN" altLang="en-US" dirty="0"/>
              <a:t>越界风险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7A04A9-1F45-2B11-41F4-FD09D7D6C0D4}"/>
              </a:ext>
            </a:extLst>
          </p:cNvPr>
          <p:cNvSpPr txBox="1"/>
          <p:nvPr/>
        </p:nvSpPr>
        <p:spPr>
          <a:xfrm>
            <a:off x="2640787" y="3005075"/>
            <a:ext cx="227060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正确性修复版本 </a:t>
            </a:r>
            <a:endParaRPr lang="en-US" altLang="zh-CN" dirty="0"/>
          </a:p>
          <a:p>
            <a:r>
              <a:rPr lang="en-US" altLang="zh-CN" dirty="0"/>
              <a:t>• </a:t>
            </a:r>
            <a:r>
              <a:rPr lang="zh-CN" altLang="en-US" dirty="0"/>
              <a:t>减少大量打印输出，降低 </a:t>
            </a:r>
            <a:r>
              <a:rPr lang="en-US" altLang="zh-CN" dirty="0"/>
              <a:t>I/O </a:t>
            </a:r>
            <a:r>
              <a:rPr lang="zh-CN" altLang="en-US" dirty="0"/>
              <a:t>干扰 </a:t>
            </a:r>
            <a:endParaRPr lang="en-US" altLang="zh-CN" dirty="0"/>
          </a:p>
          <a:p>
            <a:r>
              <a:rPr lang="en-US" altLang="zh-CN" dirty="0"/>
              <a:t>• </a:t>
            </a:r>
            <a:r>
              <a:rPr lang="zh-CN" altLang="en-US" dirty="0"/>
              <a:t>修复 </a:t>
            </a:r>
            <a:r>
              <a:rPr lang="en-US" altLang="zh-CN" dirty="0"/>
              <a:t>NEON </a:t>
            </a:r>
            <a:r>
              <a:rPr lang="zh-CN" altLang="en-US" dirty="0"/>
              <a:t>更新时 </a:t>
            </a:r>
            <a:r>
              <a:rPr lang="en-US" altLang="zh-CN" dirty="0"/>
              <a:t>horizon </a:t>
            </a:r>
            <a:r>
              <a:rPr lang="zh-CN" altLang="en-US" dirty="0"/>
              <a:t>不是 </a:t>
            </a:r>
            <a:r>
              <a:rPr lang="en-US" altLang="zh-CN" dirty="0"/>
              <a:t>4 </a:t>
            </a:r>
            <a:r>
              <a:rPr lang="zh-CN" altLang="en-US" dirty="0"/>
              <a:t>倍数导致的越界问题 </a:t>
            </a:r>
            <a:endParaRPr lang="en-US" altLang="zh-CN" dirty="0"/>
          </a:p>
          <a:p>
            <a:r>
              <a:rPr lang="en-US" altLang="zh-CN" dirty="0"/>
              <a:t>• </a:t>
            </a:r>
            <a:r>
              <a:rPr lang="zh-CN" altLang="en-US" dirty="0"/>
              <a:t>修复 </a:t>
            </a:r>
            <a:r>
              <a:rPr lang="en-US" altLang="zh-CN" dirty="0" err="1"/>
              <a:t>aligned_alloc</a:t>
            </a:r>
            <a:r>
              <a:rPr lang="en-US" altLang="zh-CN" dirty="0"/>
              <a:t> </a:t>
            </a:r>
            <a:r>
              <a:rPr lang="zh-CN" altLang="en-US" dirty="0"/>
              <a:t>对齐问题 </a:t>
            </a:r>
            <a:endParaRPr lang="en-US" altLang="zh-CN" dirty="0"/>
          </a:p>
          <a:p>
            <a:r>
              <a:rPr lang="en-US" altLang="zh-CN" dirty="0"/>
              <a:t>• </a:t>
            </a:r>
            <a:r>
              <a:rPr lang="zh-CN" altLang="en-US" dirty="0"/>
              <a:t>删除 </a:t>
            </a:r>
            <a:r>
              <a:rPr lang="en-US" altLang="zh-CN" dirty="0"/>
              <a:t>MAX_ITER </a:t>
            </a:r>
            <a:r>
              <a:rPr lang="zh-CN" altLang="en-US" dirty="0"/>
              <a:t>外层错误并行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47AD8B2-9880-BC72-E98D-5643203EBE36}"/>
              </a:ext>
            </a:extLst>
          </p:cNvPr>
          <p:cNvSpPr txBox="1"/>
          <p:nvPr/>
        </p:nvSpPr>
        <p:spPr>
          <a:xfrm>
            <a:off x="4911395" y="3005075"/>
            <a:ext cx="227060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线程安全梯度版本</a:t>
            </a:r>
            <a:endParaRPr lang="en-US" altLang="zh-CN" dirty="0"/>
          </a:p>
          <a:p>
            <a:r>
              <a:rPr lang="zh-CN" altLang="en-US" dirty="0"/>
              <a:t> </a:t>
            </a:r>
            <a:r>
              <a:rPr lang="en-US" altLang="zh-CN" dirty="0"/>
              <a:t>• </a:t>
            </a:r>
            <a:r>
              <a:rPr lang="zh-CN" altLang="en-US" dirty="0"/>
              <a:t>修复 </a:t>
            </a:r>
            <a:r>
              <a:rPr lang="en-US" altLang="zh-CN" dirty="0" err="1"/>
              <a:t>compute_gradient</a:t>
            </a:r>
            <a:r>
              <a:rPr lang="en-US" altLang="zh-CN" dirty="0"/>
              <a:t> </a:t>
            </a:r>
            <a:r>
              <a:rPr lang="zh-CN" altLang="en-US" dirty="0"/>
              <a:t>中的共享 </a:t>
            </a:r>
            <a:r>
              <a:rPr lang="en-US" altLang="zh-CN" dirty="0" err="1"/>
              <a:t>u_seq</a:t>
            </a:r>
            <a:r>
              <a:rPr lang="en-US" altLang="zh-CN" dirty="0"/>
              <a:t> </a:t>
            </a:r>
            <a:r>
              <a:rPr lang="zh-CN" altLang="en-US" dirty="0"/>
              <a:t>数据竞争 </a:t>
            </a:r>
            <a:endParaRPr lang="en-US" altLang="zh-CN" dirty="0"/>
          </a:p>
          <a:p>
            <a:r>
              <a:rPr lang="en-US" altLang="zh-CN" dirty="0"/>
              <a:t>• </a:t>
            </a:r>
            <a:r>
              <a:rPr lang="zh-CN" altLang="en-US" dirty="0"/>
              <a:t>新增 </a:t>
            </a:r>
            <a:r>
              <a:rPr lang="en-US" altLang="zh-CN" dirty="0" err="1"/>
              <a:t>rollout_tail_cost_perturbed</a:t>
            </a:r>
            <a:r>
              <a:rPr lang="en-US" altLang="zh-CN" dirty="0"/>
              <a:t>() • </a:t>
            </a:r>
            <a:r>
              <a:rPr lang="zh-CN" altLang="en-US" dirty="0"/>
              <a:t>使用局部变量模拟扰动，不再修改共享控制序列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DF87BE0-CBF7-8FA6-9749-1B6ED36DA163}"/>
              </a:ext>
            </a:extLst>
          </p:cNvPr>
          <p:cNvSpPr txBox="1"/>
          <p:nvPr/>
        </p:nvSpPr>
        <p:spPr>
          <a:xfrm>
            <a:off x="7230593" y="2972156"/>
            <a:ext cx="22706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OpenMP </a:t>
            </a:r>
            <a:r>
              <a:rPr lang="zh-CN" altLang="en-US" dirty="0"/>
              <a:t>并行区合并尝试</a:t>
            </a:r>
            <a:endParaRPr lang="en-US" altLang="zh-CN" dirty="0"/>
          </a:p>
          <a:p>
            <a:r>
              <a:rPr lang="zh-CN" altLang="en-US" dirty="0"/>
              <a:t> </a:t>
            </a:r>
            <a:r>
              <a:rPr lang="en-US" altLang="zh-CN" dirty="0"/>
              <a:t>• </a:t>
            </a:r>
            <a:r>
              <a:rPr lang="zh-CN" altLang="en-US" dirty="0"/>
              <a:t>尝试合并 </a:t>
            </a:r>
            <a:r>
              <a:rPr lang="en-US" altLang="zh-CN" dirty="0" err="1"/>
              <a:t>compute_gradient</a:t>
            </a:r>
            <a:r>
              <a:rPr lang="en-US" altLang="zh-CN" dirty="0"/>
              <a:t> </a:t>
            </a:r>
            <a:r>
              <a:rPr lang="zh-CN" altLang="en-US" dirty="0"/>
              <a:t>中两个 </a:t>
            </a:r>
            <a:r>
              <a:rPr lang="en-US" altLang="zh-CN" dirty="0"/>
              <a:t>parallel for </a:t>
            </a:r>
          </a:p>
          <a:p>
            <a:r>
              <a:rPr lang="en-US" altLang="zh-CN" dirty="0"/>
              <a:t>• </a:t>
            </a:r>
            <a:r>
              <a:rPr lang="zh-CN" altLang="en-US" dirty="0"/>
              <a:t>实测性能下降，最终未采用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998450F-1BB5-44FC-D55B-5099690CF2CD}"/>
              </a:ext>
            </a:extLst>
          </p:cNvPr>
          <p:cNvSpPr txBox="1"/>
          <p:nvPr/>
        </p:nvSpPr>
        <p:spPr>
          <a:xfrm>
            <a:off x="9536582" y="2972156"/>
            <a:ext cx="227060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缓存优化版本 </a:t>
            </a:r>
            <a:endParaRPr lang="en-US" altLang="zh-CN" dirty="0"/>
          </a:p>
          <a:p>
            <a:r>
              <a:rPr lang="en-US" altLang="zh-CN" dirty="0"/>
              <a:t>• </a:t>
            </a:r>
            <a:r>
              <a:rPr lang="zh-CN" altLang="en-US" dirty="0"/>
              <a:t>引入 </a:t>
            </a:r>
            <a:r>
              <a:rPr lang="en-US" altLang="zh-CN" dirty="0" err="1"/>
              <a:t>MPCThreadCache_t</a:t>
            </a:r>
            <a:r>
              <a:rPr lang="en-US" altLang="zh-CN" dirty="0"/>
              <a:t> </a:t>
            </a:r>
            <a:r>
              <a:rPr lang="zh-CN" altLang="en-US" dirty="0"/>
              <a:t>缓存结构</a:t>
            </a:r>
            <a:endParaRPr lang="en-US" altLang="zh-CN" dirty="0"/>
          </a:p>
          <a:p>
            <a:r>
              <a:rPr lang="zh-CN" altLang="en-US" dirty="0"/>
              <a:t> </a:t>
            </a:r>
            <a:r>
              <a:rPr lang="en-US" altLang="zh-CN" dirty="0"/>
              <a:t>• </a:t>
            </a:r>
            <a:r>
              <a:rPr lang="zh-CN" altLang="en-US" dirty="0"/>
              <a:t>复用 </a:t>
            </a:r>
            <a:r>
              <a:rPr lang="en-US" altLang="zh-CN" dirty="0" err="1"/>
              <a:t>u_seq</a:t>
            </a:r>
            <a:r>
              <a:rPr lang="zh-CN" altLang="en-US" dirty="0"/>
              <a:t>、</a:t>
            </a:r>
            <a:r>
              <a:rPr lang="en-US" altLang="zh-CN" dirty="0"/>
              <a:t>grad</a:t>
            </a:r>
            <a:r>
              <a:rPr lang="zh-CN" altLang="en-US" dirty="0"/>
              <a:t>、轨迹数组和 </a:t>
            </a:r>
            <a:r>
              <a:rPr lang="en-US" altLang="zh-CN" dirty="0" err="1"/>
              <a:t>tail_costs</a:t>
            </a:r>
            <a:r>
              <a:rPr lang="en-US" altLang="zh-CN" dirty="0"/>
              <a:t> • </a:t>
            </a:r>
            <a:r>
              <a:rPr lang="zh-CN" altLang="en-US" dirty="0"/>
              <a:t>减少重复内存分配和临时数组构造</a:t>
            </a:r>
            <a:endParaRPr lang="en-US" altLang="zh-CN" dirty="0"/>
          </a:p>
          <a:p>
            <a:r>
              <a:rPr lang="zh-CN" altLang="en-US" dirty="0"/>
              <a:t> </a:t>
            </a:r>
            <a:r>
              <a:rPr lang="en-US" altLang="zh-CN" dirty="0"/>
              <a:t>• </a:t>
            </a:r>
            <a:r>
              <a:rPr lang="zh-CN" altLang="en-US" dirty="0"/>
              <a:t>最终获得较明显加速</a:t>
            </a:r>
          </a:p>
        </p:txBody>
      </p:sp>
    </p:spTree>
    <p:extLst>
      <p:ext uri="{BB962C8B-B14F-4D97-AF65-F5344CB8AC3E}">
        <p14:creationId xmlns:p14="http://schemas.microsoft.com/office/powerpoint/2010/main" val="1462033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D550E-4F8F-F4E2-7E6A-DF673F33F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C44E20-F189-1B1C-2FA4-BFB5F9DF4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dirty="0"/>
              <a:t>基础代码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修正</a:t>
            </a:r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zh-CN" dirty="0"/>
              <a:t>改动</a:t>
            </a:r>
            <a:r>
              <a:rPr lang="en-US" altLang="zh-CN" dirty="0"/>
              <a:t>1.</a:t>
            </a:r>
            <a:r>
              <a:rPr lang="zh-CN" altLang="en-US" dirty="0"/>
              <a:t>减少打印输出</a:t>
            </a:r>
            <a:r>
              <a:rPr lang="en-US" altLang="zh-CN" dirty="0"/>
              <a:t>——</a:t>
            </a:r>
            <a:r>
              <a:rPr lang="zh-CN" altLang="en-US" dirty="0"/>
              <a:t>代码减少了原本每次都会进行的控制序列的打印，默认不打印而可以通过编译时选择是否打印</a:t>
            </a: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zh-CN" dirty="0"/>
              <a:t>改动</a:t>
            </a:r>
            <a:r>
              <a:rPr lang="en-US" altLang="zh-CN" dirty="0"/>
              <a:t>2.</a:t>
            </a:r>
            <a:r>
              <a:rPr lang="zh-CN" altLang="en-US" dirty="0"/>
              <a:t>修复</a:t>
            </a:r>
            <a:r>
              <a:rPr lang="en-US" altLang="zh-CN" dirty="0"/>
              <a:t>NEON SIMD</a:t>
            </a:r>
            <a:r>
              <a:rPr lang="zh-CN" altLang="en-US" dirty="0"/>
              <a:t>越界</a:t>
            </a:r>
            <a:endParaRPr lang="en-US" altLang="zh-CN" dirty="0"/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00" dirty="0"/>
              <a:t>原：</a:t>
            </a:r>
            <a:r>
              <a:rPr lang="nn-NO" altLang="zh-CN" sz="1200" dirty="0"/>
              <a:t>for (int i = 0; i &lt; horizon; i += 4) { vld1q_f32(&amp;u_seq-&gt;delta[i]); ... }</a:t>
            </a:r>
            <a:endParaRPr lang="en-US" altLang="zh-CN" sz="1200" dirty="0"/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200" dirty="0" err="1"/>
              <a:t>neon_update_controls</a:t>
            </a:r>
            <a:r>
              <a:rPr lang="en-US" altLang="zh-CN" sz="1200" dirty="0"/>
              <a:t>() </a:t>
            </a:r>
            <a:r>
              <a:rPr lang="zh-CN" altLang="zh-CN" sz="1200" dirty="0"/>
              <a:t>中改为</a:t>
            </a:r>
            <a:r>
              <a:rPr lang="en-US" altLang="zh-CN" sz="1200" dirty="0"/>
              <a:t>(int </a:t>
            </a:r>
            <a:r>
              <a:rPr lang="en-US" altLang="zh-CN" sz="1200" dirty="0" err="1"/>
              <a:t>i</a:t>
            </a:r>
            <a:r>
              <a:rPr lang="en-US" altLang="zh-CN" sz="1200" dirty="0"/>
              <a:t> = 0; </a:t>
            </a:r>
            <a:r>
              <a:rPr lang="en-US" altLang="zh-CN" sz="1200" dirty="0" err="1"/>
              <a:t>i</a:t>
            </a:r>
            <a:r>
              <a:rPr lang="en-US" altLang="zh-CN" sz="1200" dirty="0"/>
              <a:t> &lt; </a:t>
            </a:r>
            <a:r>
              <a:rPr lang="en-US" altLang="zh-CN" sz="1200" dirty="0" err="1"/>
              <a:t>simd_end</a:t>
            </a:r>
            <a:r>
              <a:rPr lang="en-US" altLang="zh-CN" sz="1200" dirty="0"/>
              <a:t>; </a:t>
            </a:r>
            <a:r>
              <a:rPr lang="en-US" altLang="zh-CN" sz="1200" dirty="0" err="1"/>
              <a:t>i</a:t>
            </a:r>
            <a:r>
              <a:rPr lang="en-US" altLang="zh-CN" sz="1200" dirty="0"/>
              <a:t> += 4) </a:t>
            </a:r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sz="1200" dirty="0"/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zh-CN" dirty="0"/>
              <a:t>以防止</a:t>
            </a:r>
            <a:r>
              <a:rPr lang="en-US" altLang="zh-CN" dirty="0"/>
              <a:t>horizon</a:t>
            </a:r>
            <a:r>
              <a:rPr lang="zh-CN" altLang="zh-CN" dirty="0"/>
              <a:t>不是</a:t>
            </a:r>
            <a:r>
              <a:rPr lang="en-US" altLang="zh-CN" dirty="0"/>
              <a:t>4</a:t>
            </a:r>
            <a:r>
              <a:rPr lang="zh-CN" altLang="zh-CN" dirty="0"/>
              <a:t>倍数时越界</a:t>
            </a:r>
            <a:endParaRPr lang="en-US" altLang="zh-CN" dirty="0"/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/>
              <a:t>—— </a:t>
            </a:r>
            <a:r>
              <a:rPr lang="zh-CN" altLang="en-US" dirty="0"/>
              <a:t>不过经实测，即使是</a:t>
            </a:r>
            <a:r>
              <a:rPr lang="en-US" altLang="zh-CN" dirty="0"/>
              <a:t>39</a:t>
            </a:r>
            <a:r>
              <a:rPr lang="zh-CN" altLang="en-US" dirty="0"/>
              <a:t>、</a:t>
            </a:r>
            <a:r>
              <a:rPr lang="en-US" altLang="zh-CN" dirty="0"/>
              <a:t>156</a:t>
            </a:r>
            <a:r>
              <a:rPr lang="zh-CN" altLang="en-US" dirty="0"/>
              <a:t>等数字也不会报错</a:t>
            </a:r>
            <a:r>
              <a:rPr lang="en-US" altLang="zh-CN" dirty="0"/>
              <a:t>…..</a:t>
            </a:r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zh-CN" dirty="0"/>
              <a:t>改动</a:t>
            </a:r>
            <a:r>
              <a:rPr lang="en-US" altLang="zh-CN" dirty="0"/>
              <a:t>3</a:t>
            </a:r>
            <a:r>
              <a:rPr lang="zh-CN" altLang="zh-CN" dirty="0"/>
              <a:t>：</a:t>
            </a:r>
            <a:r>
              <a:rPr lang="en-US" altLang="zh-CN" dirty="0" err="1"/>
              <a:t>init_controls</a:t>
            </a:r>
            <a:r>
              <a:rPr lang="en-US" altLang="zh-CN" dirty="0"/>
              <a:t>()</a:t>
            </a:r>
            <a:r>
              <a:rPr lang="zh-CN" altLang="zh-CN" dirty="0"/>
              <a:t>中改为不是</a:t>
            </a:r>
            <a:r>
              <a:rPr lang="en-US" altLang="zh-CN" dirty="0"/>
              <a:t>16</a:t>
            </a:r>
            <a:r>
              <a:rPr lang="zh-CN" altLang="zh-CN" dirty="0"/>
              <a:t>的整数倍时候自动填补</a:t>
            </a: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0" indent="0">
              <a:buNone/>
            </a:pPr>
            <a:r>
              <a:rPr lang="zh-CN" altLang="zh-CN" dirty="0"/>
              <a:t>改动</a:t>
            </a:r>
            <a:r>
              <a:rPr lang="en-US" altLang="zh-CN" dirty="0"/>
              <a:t>4</a:t>
            </a:r>
            <a:r>
              <a:rPr lang="zh-CN" altLang="zh-CN" dirty="0"/>
              <a:t>：删除了</a:t>
            </a:r>
            <a:r>
              <a:rPr lang="en-US" altLang="zh-CN" dirty="0" err="1"/>
              <a:t>mpc_control_with_plan</a:t>
            </a:r>
            <a:r>
              <a:rPr lang="zh-CN" altLang="zh-CN" dirty="0"/>
              <a:t>（）中的</a:t>
            </a:r>
          </a:p>
          <a:p>
            <a:pPr marL="0" indent="0">
              <a:buNone/>
            </a:pPr>
            <a:r>
              <a:rPr lang="en-US" altLang="zh-CN" dirty="0"/>
              <a:t>for (int iter = 0; iter &lt; MAX_ITER; ++iter) {…}</a:t>
            </a:r>
            <a:r>
              <a:rPr lang="zh-CN" altLang="zh-CN" dirty="0"/>
              <a:t>并行。</a:t>
            </a:r>
            <a:endParaRPr lang="en-US" altLang="zh-CN" dirty="0"/>
          </a:p>
          <a:p>
            <a:r>
              <a:rPr lang="zh-CN" altLang="zh-CN" dirty="0"/>
              <a:t>因为前后有关系，如果并行可能会导致数据出错</a:t>
            </a:r>
            <a:br>
              <a:rPr lang="en-US" altLang="zh-CN" dirty="0"/>
            </a:br>
            <a:endParaRPr lang="zh-CN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zh-CN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4D32E1-902E-8068-47A5-33204610DB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BF71A997-7E79-41BB-B83B-6503C36C821C}" type="slidenum">
              <a:rPr lang="en-US" altLang="zh-CN" smtClean="0"/>
              <a:t>11</a:t>
            </a:fld>
            <a:endParaRPr lang="en-US" altLang="zh-CN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EE1758EA-E0A5-86E3-43DC-5A867F23F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V2</a:t>
            </a:r>
            <a:endParaRPr lang="zh-CN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9C1E030-6586-3BC7-A0C2-08F8BC14A01A}"/>
              </a:ext>
            </a:extLst>
          </p:cNvPr>
          <p:cNvSpPr/>
          <p:nvPr/>
        </p:nvSpPr>
        <p:spPr>
          <a:xfrm>
            <a:off x="7468819" y="3679546"/>
            <a:ext cx="1433779" cy="4754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iter 0</a:t>
            </a:r>
            <a:endParaRPr lang="zh-CN" altLang="en-US" dirty="0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BC9CA140-4432-9ED9-975F-7C24EEC74154}"/>
              </a:ext>
            </a:extLst>
          </p:cNvPr>
          <p:cNvSpPr/>
          <p:nvPr/>
        </p:nvSpPr>
        <p:spPr>
          <a:xfrm>
            <a:off x="7468818" y="4403395"/>
            <a:ext cx="1433779" cy="4754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iter 0</a:t>
            </a:r>
            <a:endParaRPr lang="zh-CN" altLang="en-US" dirty="0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426A0885-8D55-A35B-85EE-863A6BE258E4}"/>
              </a:ext>
            </a:extLst>
          </p:cNvPr>
          <p:cNvSpPr/>
          <p:nvPr/>
        </p:nvSpPr>
        <p:spPr>
          <a:xfrm>
            <a:off x="7468817" y="5127244"/>
            <a:ext cx="1433779" cy="4754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iter 0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461FFD0-4CF9-E25F-427E-78474CA5FCBD}"/>
              </a:ext>
            </a:extLst>
          </p:cNvPr>
          <p:cNvSpPr txBox="1"/>
          <p:nvPr/>
        </p:nvSpPr>
        <p:spPr>
          <a:xfrm>
            <a:off x="7631708" y="312987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错误并行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87B0F1A-17D9-8C82-691C-5E536E5E31A5}"/>
              </a:ext>
            </a:extLst>
          </p:cNvPr>
          <p:cNvSpPr/>
          <p:nvPr/>
        </p:nvSpPr>
        <p:spPr>
          <a:xfrm>
            <a:off x="9180576" y="3628339"/>
            <a:ext cx="548640" cy="215066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同时修改</a:t>
            </a:r>
            <a:endParaRPr lang="en-US" altLang="zh-CN" dirty="0"/>
          </a:p>
          <a:p>
            <a:pPr algn="ctr"/>
            <a:r>
              <a:rPr lang="en-US" altLang="zh-CN" dirty="0" err="1"/>
              <a:t>u_seq</a:t>
            </a:r>
            <a:endParaRPr lang="zh-CN" altLang="en-US" dirty="0"/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EA9E0EB5-8063-CAED-18A3-B47F1C1EC9CA}"/>
              </a:ext>
            </a:extLst>
          </p:cNvPr>
          <p:cNvCxnSpPr/>
          <p:nvPr/>
        </p:nvCxnSpPr>
        <p:spPr>
          <a:xfrm>
            <a:off x="8902596" y="3913632"/>
            <a:ext cx="277980" cy="4897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567079FF-1676-D0E4-5BD0-0C4955C7BA47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8902597" y="4637481"/>
            <a:ext cx="219457" cy="36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907D1592-CCAA-DBD5-500E-F8CC79536DC4}"/>
              </a:ext>
            </a:extLst>
          </p:cNvPr>
          <p:cNvCxnSpPr>
            <a:cxnSpLocks/>
            <a:stCxn id="21" idx="3"/>
          </p:cNvCxnSpPr>
          <p:nvPr/>
        </p:nvCxnSpPr>
        <p:spPr>
          <a:xfrm flipV="1">
            <a:off x="8902596" y="4946904"/>
            <a:ext cx="277978" cy="418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1591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F7614-217F-A0F7-D0A9-64F8918F1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3E3215-F323-DACA-CE52-41C42407E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zh-CN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CE0BBB-B8A0-363B-381F-0BBBA4629F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BF71A997-7E79-41BB-B83B-6503C36C821C}" type="slidenum">
              <a:rPr lang="en-US" altLang="zh-CN" smtClean="0"/>
              <a:t>12</a:t>
            </a:fld>
            <a:endParaRPr lang="en-US" altLang="zh-CN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358C290D-2811-A025-3AE1-E03EF77E8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V2</a:t>
            </a:r>
            <a:endParaRPr lang="zh-CN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C4FA3F0-8888-C59C-38F2-F2A1D858E6A9}"/>
              </a:ext>
            </a:extLst>
          </p:cNvPr>
          <p:cNvSpPr txBox="1"/>
          <p:nvPr/>
        </p:nvSpPr>
        <p:spPr>
          <a:xfrm>
            <a:off x="384810" y="983345"/>
            <a:ext cx="61264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>
              <a:lnSpc>
                <a:spcPct val="1000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bash-5.1# ./mpc_test_v2_O3 39 78 156</a:t>
            </a:r>
          </a:p>
          <a:p>
            <a:pPr eaLnBrk="0">
              <a:lnSpc>
                <a:spcPct val="100000"/>
              </a:lnSpc>
              <a:spcBef>
                <a:spcPts val="0"/>
              </a:spcBef>
            </a:pPr>
            <a:endParaRPr lang="en-US" altLang="zh-CN" sz="120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0">
              <a:lnSpc>
                <a:spcPct val="1000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V2</a:t>
            </a:r>
          </a:p>
          <a:p>
            <a:pPr eaLnBrk="0">
              <a:lnSpc>
                <a:spcPct val="1000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==== Testing horizon=156 ====</a:t>
            </a:r>
          </a:p>
          <a:p>
            <a:pPr eaLnBrk="0">
              <a:lnSpc>
                <a:spcPct val="100000"/>
              </a:lnSpc>
              <a:spcBef>
                <a:spcPts val="0"/>
              </a:spcBef>
            </a:pPr>
            <a:r>
              <a:rPr lang="en-US" altLang="zh-CN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mpc_linux_ioself_profiling</a:t>
            </a:r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: horizon=156 </a:t>
            </a:r>
            <a:r>
              <a:rPr lang="en-US" altLang="zh-CN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total_time</a:t>
            </a:r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=182159017 ns </a:t>
            </a:r>
            <a:r>
              <a:rPr lang="en-US" altLang="zh-CN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182.159017 </a:t>
            </a:r>
            <a:r>
              <a:rPr lang="en-US" altLang="zh-CN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ms</a:t>
            </a:r>
            <a:endParaRPr lang="en-US" altLang="zh-CN" b="1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AD3AE04-6FB4-5D5E-87CD-0177206F5161}"/>
              </a:ext>
            </a:extLst>
          </p:cNvPr>
          <p:cNvSpPr txBox="1"/>
          <p:nvPr/>
        </p:nvSpPr>
        <p:spPr>
          <a:xfrm>
            <a:off x="472592" y="3374196"/>
            <a:ext cx="612648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>
              <a:lnSpc>
                <a:spcPct val="100000"/>
              </a:lnSpc>
              <a:spcBef>
                <a:spcPts val="0"/>
              </a:spcBef>
            </a:pPr>
            <a:r>
              <a:rPr lang="zh-CN" altLang="zh-CN" dirty="0"/>
              <a:t>原始版本作为参考：</a:t>
            </a: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</a:pPr>
            <a:endParaRPr lang="en-US" altLang="zh-CN" sz="120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0">
              <a:lnSpc>
                <a:spcPct val="1000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V1</a:t>
            </a:r>
          </a:p>
          <a:p>
            <a:pPr eaLnBrk="0">
              <a:lnSpc>
                <a:spcPct val="1000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==== Testing horizon=156 ====</a:t>
            </a:r>
          </a:p>
          <a:p>
            <a:r>
              <a:rPr lang="en-US" altLang="zh-CN" dirty="0" err="1"/>
              <a:t>mpc_linux_ioself_profiling</a:t>
            </a:r>
            <a:r>
              <a:rPr lang="en-US" altLang="zh-CN" dirty="0"/>
              <a:t>: horizon=156 </a:t>
            </a:r>
            <a:r>
              <a:rPr lang="en-US" altLang="zh-CN" dirty="0" err="1"/>
              <a:t>total_time</a:t>
            </a:r>
            <a:r>
              <a:rPr lang="en-US" altLang="zh-CN" dirty="0"/>
              <a:t>=120129901 ns </a:t>
            </a:r>
            <a:r>
              <a:rPr lang="en-US" altLang="zh-CN" b="1" dirty="0"/>
              <a:t>120.129901 </a:t>
            </a:r>
            <a:r>
              <a:rPr lang="en-US" altLang="zh-CN" b="1" dirty="0" err="1"/>
              <a:t>ms</a:t>
            </a:r>
            <a:endParaRPr lang="zh-CN" altLang="zh-CN" b="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BE7C925-9621-443B-3465-3F7977BA6D74}"/>
              </a:ext>
            </a:extLst>
          </p:cNvPr>
          <p:cNvSpPr txBox="1"/>
          <p:nvPr/>
        </p:nvSpPr>
        <p:spPr>
          <a:xfrm>
            <a:off x="5023050" y="2409026"/>
            <a:ext cx="716895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V2 </a:t>
            </a:r>
            <a:r>
              <a:rPr lang="zh-CN" altLang="en-US" sz="2400" dirty="0"/>
              <a:t>的运行时间比 </a:t>
            </a:r>
            <a:r>
              <a:rPr lang="en-US" altLang="zh-CN" sz="2400" dirty="0"/>
              <a:t>V1 </a:t>
            </a:r>
            <a:r>
              <a:rPr lang="zh-CN" altLang="en-US" sz="2400" dirty="0"/>
              <a:t>增加，并不代表优化失败。</a:t>
            </a:r>
            <a:endParaRPr lang="en-US" altLang="zh-CN" sz="2400" dirty="0"/>
          </a:p>
          <a:p>
            <a:r>
              <a:rPr lang="zh-CN" altLang="en-US" sz="2400" dirty="0"/>
              <a:t>因为 </a:t>
            </a:r>
            <a:r>
              <a:rPr lang="en-US" altLang="zh-CN" sz="2400" dirty="0"/>
              <a:t>V1 </a:t>
            </a:r>
            <a:r>
              <a:rPr lang="zh-CN" altLang="en-US" sz="2400" dirty="0"/>
              <a:t>外层迭代并行是不符合梯度下降依赖关系的</a:t>
            </a:r>
            <a:endParaRPr lang="en-US" altLang="zh-CN" sz="2400" dirty="0"/>
          </a:p>
          <a:p>
            <a:r>
              <a:rPr lang="zh-CN" altLang="en-US" sz="2400" dirty="0"/>
              <a:t>，会导致多个线程同时读写同一个控制序列。</a:t>
            </a:r>
            <a:endParaRPr lang="en-US" altLang="zh-CN" sz="2400" dirty="0"/>
          </a:p>
          <a:p>
            <a:r>
              <a:rPr lang="en-US" altLang="zh-CN" sz="2400" dirty="0"/>
              <a:t>V2 </a:t>
            </a:r>
            <a:r>
              <a:rPr lang="zh-CN" altLang="en-US" sz="2400" dirty="0"/>
              <a:t>删除了这个错误并行，使计算结果更可靠。</a:t>
            </a:r>
          </a:p>
        </p:txBody>
      </p:sp>
    </p:spTree>
    <p:extLst>
      <p:ext uri="{BB962C8B-B14F-4D97-AF65-F5344CB8AC3E}">
        <p14:creationId xmlns:p14="http://schemas.microsoft.com/office/powerpoint/2010/main" val="2341297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C87B0-E7DC-893C-307A-5837056A9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051F6C-4DD9-C409-835D-F8507B161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dirty="0"/>
              <a:t>修复有限差分梯度计算中的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数据竞争</a:t>
            </a:r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dirty="0"/>
              <a:t>原始 </a:t>
            </a:r>
            <a:r>
              <a:rPr lang="en-US" altLang="zh-CN" dirty="0" err="1"/>
              <a:t>compute_gradient</a:t>
            </a:r>
            <a:r>
              <a:rPr lang="en-US" altLang="zh-CN" dirty="0"/>
              <a:t> </a:t>
            </a:r>
            <a:r>
              <a:rPr lang="zh-CN" altLang="en-US" dirty="0"/>
              <a:t>的问题：</a:t>
            </a:r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zh-CN" altLang="en-US" dirty="0"/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dirty="0"/>
              <a:t>有限差分需要计算：</a:t>
            </a:r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/>
              <a:t>delta[t] + eps </a:t>
            </a:r>
            <a:r>
              <a:rPr lang="zh-CN" altLang="en-US" dirty="0"/>
              <a:t>后的代价</a:t>
            </a:r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/>
              <a:t>a[t] + eps </a:t>
            </a:r>
            <a:r>
              <a:rPr lang="zh-CN" altLang="en-US" dirty="0"/>
              <a:t>后的代价</a:t>
            </a:r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zh-CN" altLang="en-US" dirty="0"/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dirty="0"/>
              <a:t>原始做法是在并行循环中直接修改共享数组：</a:t>
            </a:r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 err="1"/>
              <a:t>u_seq</a:t>
            </a:r>
            <a:r>
              <a:rPr lang="en-US" altLang="zh-CN" dirty="0"/>
              <a:t>-&gt;delta[t] += GRAD_EPS;</a:t>
            </a:r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 err="1"/>
              <a:t>u_seq</a:t>
            </a:r>
            <a:r>
              <a:rPr lang="en-US" altLang="zh-CN" dirty="0"/>
              <a:t>-&gt;a[t] += GRAD_EPS;</a:t>
            </a:r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dirty="0"/>
              <a:t>但 </a:t>
            </a:r>
            <a:r>
              <a:rPr lang="en-US" altLang="zh-CN" dirty="0" err="1"/>
              <a:t>rollout_tail_cost</a:t>
            </a:r>
            <a:r>
              <a:rPr lang="en-US" altLang="zh-CN" dirty="0"/>
              <a:t>() </a:t>
            </a:r>
            <a:r>
              <a:rPr lang="zh-CN" altLang="en-US" dirty="0"/>
              <a:t>会读取后续整个控制序列，因此多个线程同时修改 </a:t>
            </a:r>
            <a:r>
              <a:rPr lang="en-US" altLang="zh-CN" dirty="0" err="1"/>
              <a:t>u_seq</a:t>
            </a:r>
            <a:r>
              <a:rPr lang="en-US" altLang="zh-CN" dirty="0"/>
              <a:t> </a:t>
            </a:r>
            <a:r>
              <a:rPr lang="zh-CN" altLang="en-US" dirty="0"/>
              <a:t>时，会造成数据竞争。</a:t>
            </a:r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zh-CN" altLang="en-US" dirty="0"/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/>
              <a:t>V3 </a:t>
            </a:r>
            <a:r>
              <a:rPr lang="zh-CN" altLang="en-US" dirty="0"/>
              <a:t>的解决方法：</a:t>
            </a: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zh-CN" altLang="en-US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dirty="0"/>
              <a:t>新增 </a:t>
            </a:r>
            <a:r>
              <a:rPr lang="en-US" altLang="zh-CN" dirty="0" err="1"/>
              <a:t>rollout_tail_cost_perturbed</a:t>
            </a:r>
            <a:r>
              <a:rPr lang="en-US" altLang="zh-CN" dirty="0"/>
              <a:t>()</a:t>
            </a:r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dirty="0"/>
              <a:t>新增 </a:t>
            </a:r>
            <a:r>
              <a:rPr lang="en-US" altLang="zh-CN" dirty="0" err="1"/>
              <a:t>local_cost_with_control</a:t>
            </a:r>
            <a:r>
              <a:rPr lang="en-US" altLang="zh-CN" dirty="0"/>
              <a:t>()</a:t>
            </a:r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扰动只作用于局部变量 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delta / a</a:t>
            </a:r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不再修改共享的 </a:t>
            </a:r>
            <a:r>
              <a:rPr lang="en-US" altLang="zh-CN" dirty="0" err="1">
                <a:solidFill>
                  <a:schemeClr val="accent1">
                    <a:lumMod val="75000"/>
                  </a:schemeClr>
                </a:solidFill>
              </a:rPr>
              <a:t>u_seq</a:t>
            </a:r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每个线程只读 </a:t>
            </a:r>
            <a:r>
              <a:rPr lang="en-US" altLang="zh-CN" dirty="0" err="1">
                <a:solidFill>
                  <a:schemeClr val="accent1">
                    <a:lumMod val="75000"/>
                  </a:schemeClr>
                </a:solidFill>
              </a:rPr>
              <a:t>u_seq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，只写自己负责的 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grad[t]</a:t>
            </a:r>
            <a:br>
              <a:rPr lang="en-US" altLang="zh-CN" dirty="0"/>
            </a:br>
            <a:endParaRPr lang="zh-CN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zh-CN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3237D4-A6B7-121B-B421-A81C21A4FF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BF71A997-7E79-41BB-B83B-6503C36C821C}" type="slidenum">
              <a:rPr lang="en-US" altLang="zh-CN" smtClean="0"/>
              <a:t>13</a:t>
            </a:fld>
            <a:endParaRPr lang="en-US" altLang="zh-CN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C900FEDF-3A64-6A14-18E4-2A07C2A30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V3</a:t>
            </a:r>
            <a:endParaRPr lang="zh-CN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6066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5F37C-9B71-1CCD-9F33-683D73E2E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D7D9AC-1275-D400-D964-3EB1C19D31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BF71A997-7E79-41BB-B83B-6503C36C821C}" type="slidenum">
              <a:rPr lang="en-US" altLang="zh-CN" smtClean="0"/>
              <a:t>14</a:t>
            </a:fld>
            <a:endParaRPr lang="en-US" altLang="zh-CN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7882EEEA-3924-0A2E-B986-5AAC1BA5B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V3</a:t>
            </a:r>
            <a:endParaRPr lang="zh-CN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F3FAFD4-72F0-E9D3-F6C2-723676E31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对比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235386E-3550-5476-9026-0D13A7AFC684}"/>
              </a:ext>
            </a:extLst>
          </p:cNvPr>
          <p:cNvSpPr/>
          <p:nvPr/>
        </p:nvSpPr>
        <p:spPr>
          <a:xfrm>
            <a:off x="1082650" y="1290015"/>
            <a:ext cx="1631289" cy="8851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V2-</a:t>
            </a:r>
            <a:r>
              <a:rPr lang="zh-CN" altLang="en-US" dirty="0"/>
              <a:t>基础修正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FC038E4-B4EB-AA51-4B4E-828409181835}"/>
              </a:ext>
            </a:extLst>
          </p:cNvPr>
          <p:cNvSpPr/>
          <p:nvPr/>
        </p:nvSpPr>
        <p:spPr>
          <a:xfrm>
            <a:off x="144856" y="2299537"/>
            <a:ext cx="1875587" cy="88514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Thread 0 </a:t>
            </a:r>
            <a:r>
              <a:rPr lang="zh-CN" altLang="en-US" dirty="0"/>
              <a:t>修改 </a:t>
            </a:r>
            <a:r>
              <a:rPr lang="en-US" altLang="zh-CN" dirty="0" err="1"/>
              <a:t>u_seq</a:t>
            </a:r>
            <a:r>
              <a:rPr lang="en-US" altLang="zh-CN" dirty="0"/>
              <a:t>[0]</a:t>
            </a:r>
            <a:endParaRPr lang="zh-CN" altLang="en-US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58F3864-E187-938B-3F98-5A32EA4D6FCE}"/>
              </a:ext>
            </a:extLst>
          </p:cNvPr>
          <p:cNvSpPr/>
          <p:nvPr/>
        </p:nvSpPr>
        <p:spPr>
          <a:xfrm>
            <a:off x="163144" y="3365017"/>
            <a:ext cx="1875587" cy="88514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Thread 1 </a:t>
            </a:r>
            <a:r>
              <a:rPr lang="zh-CN" altLang="en-US" dirty="0"/>
              <a:t>修改 </a:t>
            </a:r>
            <a:r>
              <a:rPr lang="en-US" altLang="zh-CN" dirty="0" err="1"/>
              <a:t>u_seq</a:t>
            </a:r>
            <a:r>
              <a:rPr lang="en-US" altLang="zh-CN" dirty="0"/>
              <a:t>[1]</a:t>
            </a:r>
            <a:endParaRPr lang="zh-CN" altLang="en-US" dirty="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E5B4CEF-99BF-9F07-DA58-FEB8501282A7}"/>
              </a:ext>
            </a:extLst>
          </p:cNvPr>
          <p:cNvSpPr/>
          <p:nvPr/>
        </p:nvSpPr>
        <p:spPr>
          <a:xfrm>
            <a:off x="144855" y="4554879"/>
            <a:ext cx="1875587" cy="88514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Thread 2 </a:t>
            </a:r>
            <a:r>
              <a:rPr lang="zh-CN" altLang="en-US" dirty="0"/>
              <a:t>修改 </a:t>
            </a:r>
            <a:r>
              <a:rPr lang="en-US" altLang="zh-CN" dirty="0" err="1"/>
              <a:t>u_seq</a:t>
            </a:r>
            <a:r>
              <a:rPr lang="en-US" altLang="zh-CN" dirty="0"/>
              <a:t>[2]</a:t>
            </a:r>
            <a:endParaRPr lang="zh-CN" altLang="en-US" dirty="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BB3B86C-242D-E39C-F884-CC8CBC8CA4D4}"/>
              </a:ext>
            </a:extLst>
          </p:cNvPr>
          <p:cNvSpPr/>
          <p:nvPr/>
        </p:nvSpPr>
        <p:spPr>
          <a:xfrm>
            <a:off x="2355495" y="2570455"/>
            <a:ext cx="1287475" cy="281267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rollout_tail_cost</a:t>
            </a:r>
            <a:r>
              <a:rPr lang="en-US" altLang="zh-CN" dirty="0"/>
              <a:t> </a:t>
            </a:r>
            <a:r>
              <a:rPr lang="zh-CN" altLang="en-US" dirty="0"/>
              <a:t>读取整个 </a:t>
            </a:r>
            <a:r>
              <a:rPr lang="en-US" altLang="zh-CN" dirty="0" err="1"/>
              <a:t>u_seq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51AAD23-A9BC-8F97-F67C-EE0EB7398D46}"/>
              </a:ext>
            </a:extLst>
          </p:cNvPr>
          <p:cNvSpPr txBox="1"/>
          <p:nvPr/>
        </p:nvSpPr>
        <p:spPr>
          <a:xfrm>
            <a:off x="2499970" y="5593953"/>
            <a:ext cx="114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FF0000"/>
                </a:solidFill>
                <a:effectLst/>
                <a:latin typeface="ui-monospace"/>
              </a:rPr>
              <a:t>数据竞争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7FA9CB46-0545-E8D6-44AF-7CA8F3F1EFD6}"/>
              </a:ext>
            </a:extLst>
          </p:cNvPr>
          <p:cNvCxnSpPr>
            <a:stCxn id="8" idx="3"/>
            <a:endCxn id="11" idx="1"/>
          </p:cNvCxnSpPr>
          <p:nvPr/>
        </p:nvCxnSpPr>
        <p:spPr>
          <a:xfrm>
            <a:off x="2020443" y="2742107"/>
            <a:ext cx="335052" cy="1234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84D9A472-A89A-C0BB-8C05-3368849724EC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2038731" y="3807587"/>
            <a:ext cx="316764" cy="1692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1671F759-72E6-EF6A-3BA4-C5F405C1D767}"/>
              </a:ext>
            </a:extLst>
          </p:cNvPr>
          <p:cNvCxnSpPr>
            <a:cxnSpLocks/>
          </p:cNvCxnSpPr>
          <p:nvPr/>
        </p:nvCxnSpPr>
        <p:spPr>
          <a:xfrm flipV="1">
            <a:off x="2029587" y="3976790"/>
            <a:ext cx="307619" cy="1065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0CA0F3C-F498-3D80-F962-A148CA15B713}"/>
              </a:ext>
            </a:extLst>
          </p:cNvPr>
          <p:cNvSpPr/>
          <p:nvPr/>
        </p:nvSpPr>
        <p:spPr>
          <a:xfrm>
            <a:off x="6348375" y="1292556"/>
            <a:ext cx="1631289" cy="8851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V3-</a:t>
            </a:r>
            <a:r>
              <a:rPr lang="zh-CN" altLang="en-US" dirty="0"/>
              <a:t>局部变量优化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75509990-A3C7-003B-D25D-633185799658}"/>
              </a:ext>
            </a:extLst>
          </p:cNvPr>
          <p:cNvSpPr/>
          <p:nvPr/>
        </p:nvSpPr>
        <p:spPr>
          <a:xfrm>
            <a:off x="5217566" y="2299537"/>
            <a:ext cx="1875587" cy="88514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Thread 0 </a:t>
            </a:r>
            <a:r>
              <a:rPr lang="zh-CN" altLang="en-US" dirty="0"/>
              <a:t>修改 </a:t>
            </a:r>
            <a:r>
              <a:rPr lang="en-US" altLang="zh-CN" dirty="0"/>
              <a:t>delta</a:t>
            </a:r>
            <a:r>
              <a:rPr lang="zh-CN" altLang="en-US" dirty="0"/>
              <a:t>局部变量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B71E994-E8BB-A648-F4BF-04064B056CD3}"/>
              </a:ext>
            </a:extLst>
          </p:cNvPr>
          <p:cNvSpPr/>
          <p:nvPr/>
        </p:nvSpPr>
        <p:spPr>
          <a:xfrm>
            <a:off x="5207736" y="3331029"/>
            <a:ext cx="1875587" cy="88514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Thread 0 </a:t>
            </a:r>
            <a:r>
              <a:rPr lang="zh-CN" altLang="en-US" dirty="0"/>
              <a:t>修改 </a:t>
            </a:r>
            <a:r>
              <a:rPr lang="en-US" altLang="zh-CN" dirty="0"/>
              <a:t>delta</a:t>
            </a:r>
            <a:r>
              <a:rPr lang="zh-CN" altLang="en-US" dirty="0"/>
              <a:t>局部变量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EDA74290-EC19-845D-D178-E4B9D5B37E38}"/>
              </a:ext>
            </a:extLst>
          </p:cNvPr>
          <p:cNvSpPr/>
          <p:nvPr/>
        </p:nvSpPr>
        <p:spPr>
          <a:xfrm>
            <a:off x="5158206" y="4396509"/>
            <a:ext cx="1875587" cy="88514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Thread 0 </a:t>
            </a:r>
            <a:r>
              <a:rPr lang="zh-CN" altLang="en-US" dirty="0"/>
              <a:t>修改 </a:t>
            </a:r>
            <a:r>
              <a:rPr lang="en-US" altLang="zh-CN" dirty="0"/>
              <a:t>delta</a:t>
            </a:r>
            <a:r>
              <a:rPr lang="zh-CN" altLang="en-US" dirty="0"/>
              <a:t>局部变量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11F94790-9501-04DB-F998-7F48B30C97F3}"/>
              </a:ext>
            </a:extLst>
          </p:cNvPr>
          <p:cNvSpPr/>
          <p:nvPr/>
        </p:nvSpPr>
        <p:spPr>
          <a:xfrm>
            <a:off x="7997646" y="2401253"/>
            <a:ext cx="1287475" cy="71502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u_seq</a:t>
            </a:r>
            <a:endParaRPr lang="en-US" altLang="zh-CN" dirty="0"/>
          </a:p>
          <a:p>
            <a:pPr algn="ctr"/>
            <a:r>
              <a:rPr lang="zh-CN" altLang="en-US" dirty="0"/>
              <a:t>只读</a:t>
            </a: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6A0FE53E-94E6-E5D9-EC74-361905ADB7AE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7093153" y="2742107"/>
            <a:ext cx="8865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8BC242CB-48B5-EC5C-1C7E-F428EE8BA11D}"/>
              </a:ext>
            </a:extLst>
          </p:cNvPr>
          <p:cNvCxnSpPr>
            <a:cxnSpLocks/>
          </p:cNvCxnSpPr>
          <p:nvPr/>
        </p:nvCxnSpPr>
        <p:spPr>
          <a:xfrm>
            <a:off x="7083323" y="3705872"/>
            <a:ext cx="8865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C7057B44-5926-10B8-B02B-ECC6666A5B5C}"/>
              </a:ext>
            </a:extLst>
          </p:cNvPr>
          <p:cNvCxnSpPr>
            <a:cxnSpLocks/>
          </p:cNvCxnSpPr>
          <p:nvPr/>
        </p:nvCxnSpPr>
        <p:spPr>
          <a:xfrm>
            <a:off x="7079055" y="4752568"/>
            <a:ext cx="8865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ED820919-1E5E-1C32-5EA3-04765CD45460}"/>
              </a:ext>
            </a:extLst>
          </p:cNvPr>
          <p:cNvSpPr/>
          <p:nvPr/>
        </p:nvSpPr>
        <p:spPr>
          <a:xfrm>
            <a:off x="7997645" y="3331029"/>
            <a:ext cx="1287475" cy="71502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u_seq</a:t>
            </a:r>
            <a:endParaRPr lang="en-US" altLang="zh-CN" dirty="0"/>
          </a:p>
          <a:p>
            <a:pPr algn="ctr"/>
            <a:r>
              <a:rPr lang="zh-CN" altLang="en-US" dirty="0"/>
              <a:t>只读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F8067DE4-1924-C2C1-5016-15C9F14F2CE7}"/>
              </a:ext>
            </a:extLst>
          </p:cNvPr>
          <p:cNvSpPr/>
          <p:nvPr/>
        </p:nvSpPr>
        <p:spPr>
          <a:xfrm>
            <a:off x="8062264" y="4326318"/>
            <a:ext cx="1287475" cy="71502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u_seq</a:t>
            </a:r>
            <a:endParaRPr lang="en-US" altLang="zh-CN" dirty="0"/>
          </a:p>
          <a:p>
            <a:pPr algn="ctr"/>
            <a:r>
              <a:rPr lang="zh-CN" altLang="en-US" dirty="0"/>
              <a:t>只读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DEB5625-EC52-64F0-F4F4-4FD968E9AF87}"/>
              </a:ext>
            </a:extLst>
          </p:cNvPr>
          <p:cNvSpPr txBox="1"/>
          <p:nvPr/>
        </p:nvSpPr>
        <p:spPr>
          <a:xfrm>
            <a:off x="4634091" y="5356383"/>
            <a:ext cx="61863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V3 </a:t>
            </a:r>
            <a:r>
              <a:rPr lang="zh-CN" altLang="en-US" dirty="0"/>
              <a:t>的核心思想是，不在并行区里写共享控制序列。</a:t>
            </a:r>
            <a:endParaRPr lang="en-US" altLang="zh-CN" dirty="0"/>
          </a:p>
          <a:p>
            <a:r>
              <a:rPr lang="zh-CN" altLang="en-US" dirty="0"/>
              <a:t>每个线程只通过局部变量模拟某个控制量被扰动后的情况，</a:t>
            </a:r>
            <a:endParaRPr lang="en-US" altLang="zh-CN" dirty="0"/>
          </a:p>
          <a:p>
            <a:r>
              <a:rPr lang="zh-CN" altLang="en-US" dirty="0"/>
              <a:t>这样 </a:t>
            </a:r>
            <a:r>
              <a:rPr lang="en-US" altLang="zh-CN" dirty="0"/>
              <a:t>horizon </a:t>
            </a:r>
            <a:r>
              <a:rPr lang="zh-CN" altLang="en-US" dirty="0"/>
              <a:t>维度上的并行才是安全的。</a:t>
            </a:r>
          </a:p>
        </p:txBody>
      </p:sp>
    </p:spTree>
    <p:extLst>
      <p:ext uri="{BB962C8B-B14F-4D97-AF65-F5344CB8AC3E}">
        <p14:creationId xmlns:p14="http://schemas.microsoft.com/office/powerpoint/2010/main" val="3386702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B47A1-C567-BCAB-E22D-F66BBCA8D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8D182E-35C6-5A16-235D-5FBEDFE56C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BF71A997-7E79-41BB-B83B-6503C36C821C}" type="slidenum">
              <a:rPr lang="en-US" altLang="zh-CN" smtClean="0"/>
              <a:t>15</a:t>
            </a:fld>
            <a:endParaRPr lang="en-US" altLang="zh-CN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DCF8F6F8-E791-DC33-935C-5A4509AEA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V3</a:t>
            </a:r>
            <a:endParaRPr lang="zh-CN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8467839-9ED4-F89E-8054-FF5B15C66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修改后的程序流程图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9C8C273-B333-A02B-E248-B215B4071D6D}"/>
              </a:ext>
            </a:extLst>
          </p:cNvPr>
          <p:cNvSpPr/>
          <p:nvPr/>
        </p:nvSpPr>
        <p:spPr>
          <a:xfrm>
            <a:off x="1082650" y="1290015"/>
            <a:ext cx="1719072" cy="8851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mpc_control_with_plan</a:t>
            </a:r>
            <a:endParaRPr lang="zh-CN" altLang="en-US" dirty="0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DC2981C-4CF4-B330-BD35-5FB5CF28E4E0}"/>
              </a:ext>
            </a:extLst>
          </p:cNvPr>
          <p:cNvSpPr/>
          <p:nvPr/>
        </p:nvSpPr>
        <p:spPr>
          <a:xfrm>
            <a:off x="4342561" y="1290015"/>
            <a:ext cx="1631289" cy="8851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compute_gradient</a:t>
            </a:r>
            <a:endParaRPr lang="zh-CN" altLang="en-US" dirty="0"/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F9E489C9-AEC2-3C4D-1BD3-DF9FFB3AC510}"/>
              </a:ext>
            </a:extLst>
          </p:cNvPr>
          <p:cNvCxnSpPr>
            <a:cxnSpLocks/>
            <a:stCxn id="7" idx="3"/>
            <a:endCxn id="22" idx="1"/>
          </p:cNvCxnSpPr>
          <p:nvPr/>
        </p:nvCxnSpPr>
        <p:spPr>
          <a:xfrm>
            <a:off x="2801722" y="1732585"/>
            <a:ext cx="15408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A71AE2F-29BB-8FAC-9BEB-72BEFB962B16}"/>
              </a:ext>
            </a:extLst>
          </p:cNvPr>
          <p:cNvSpPr/>
          <p:nvPr/>
        </p:nvSpPr>
        <p:spPr>
          <a:xfrm>
            <a:off x="4707103" y="2570455"/>
            <a:ext cx="3339617" cy="17509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zh-CN" altLang="en-US" dirty="0"/>
              <a:t>前向模拟生成 </a:t>
            </a:r>
            <a:r>
              <a:rPr lang="en-US" altLang="zh-CN" dirty="0" err="1"/>
              <a:t>traj</a:t>
            </a:r>
            <a:r>
              <a:rPr lang="en-US" altLang="zh-CN" dirty="0"/>
              <a:t>[ ] </a:t>
            </a:r>
          </a:p>
          <a:p>
            <a:pPr marL="342900" indent="-342900" algn="ctr">
              <a:buAutoNum type="arabicPeriod"/>
            </a:pPr>
            <a:r>
              <a:rPr lang="zh-CN" altLang="en-US" dirty="0"/>
              <a:t>计算 </a:t>
            </a:r>
            <a:r>
              <a:rPr lang="en-US" altLang="zh-CN" dirty="0"/>
              <a:t>base tail cost </a:t>
            </a:r>
          </a:p>
          <a:p>
            <a:pPr marL="342900" indent="-342900" algn="ctr">
              <a:buAutoNum type="arabicPeriod"/>
            </a:pPr>
            <a:r>
              <a:rPr lang="zh-CN" altLang="en-US" dirty="0"/>
              <a:t>计算 </a:t>
            </a:r>
            <a:r>
              <a:rPr lang="en-US" altLang="zh-CN" dirty="0"/>
              <a:t>perturbed cost </a:t>
            </a:r>
          </a:p>
          <a:p>
            <a:pPr marL="342900" indent="-342900" algn="ctr">
              <a:buAutoNum type="arabicPeriod"/>
            </a:pPr>
            <a:r>
              <a:rPr lang="zh-CN" altLang="en-US" dirty="0"/>
              <a:t>得到 </a:t>
            </a:r>
            <a:r>
              <a:rPr lang="en-US" altLang="zh-CN" dirty="0"/>
              <a:t>grad </a:t>
            </a:r>
            <a:endParaRPr lang="zh-CN" altLang="en-US" dirty="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BE12CBD-265D-9F88-A8A6-F296D1EC37BC}"/>
              </a:ext>
            </a:extLst>
          </p:cNvPr>
          <p:cNvSpPr/>
          <p:nvPr/>
        </p:nvSpPr>
        <p:spPr>
          <a:xfrm>
            <a:off x="8269604" y="1290015"/>
            <a:ext cx="1631289" cy="8851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neon_update_controls</a:t>
            </a:r>
            <a:endParaRPr lang="zh-CN" altLang="en-US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6F6044B-AA12-30D8-99C5-1F2807C3A667}"/>
              </a:ext>
            </a:extLst>
          </p:cNvPr>
          <p:cNvCxnSpPr>
            <a:cxnSpLocks/>
            <a:stCxn id="22" idx="2"/>
            <a:endCxn id="14" idx="0"/>
          </p:cNvCxnSpPr>
          <p:nvPr/>
        </p:nvCxnSpPr>
        <p:spPr>
          <a:xfrm>
            <a:off x="5158206" y="2175155"/>
            <a:ext cx="1218706" cy="395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55CF2D67-CCD1-A7F7-F0E5-F038F11D9327}"/>
              </a:ext>
            </a:extLst>
          </p:cNvPr>
          <p:cNvCxnSpPr>
            <a:cxnSpLocks/>
            <a:stCxn id="14" idx="0"/>
            <a:endCxn id="17" idx="2"/>
          </p:cNvCxnSpPr>
          <p:nvPr/>
        </p:nvCxnSpPr>
        <p:spPr>
          <a:xfrm flipV="1">
            <a:off x="6376912" y="2175155"/>
            <a:ext cx="2708337" cy="395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5AB12CFA-ADD6-D2A9-52FE-FB63302E5F60}"/>
              </a:ext>
            </a:extLst>
          </p:cNvPr>
          <p:cNvSpPr txBox="1"/>
          <p:nvPr/>
        </p:nvSpPr>
        <p:spPr>
          <a:xfrm>
            <a:off x="7942479" y="3193335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计算原始控制序列下的 </a:t>
            </a:r>
            <a:r>
              <a:rPr lang="en-US" altLang="zh-CN"/>
              <a:t>base cost</a:t>
            </a:r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AB12CFA-ADD6-D2A9-52FE-FB63302E5F60}"/>
              </a:ext>
            </a:extLst>
          </p:cNvPr>
          <p:cNvSpPr txBox="1"/>
          <p:nvPr/>
        </p:nvSpPr>
        <p:spPr>
          <a:xfrm>
            <a:off x="7942479" y="3509129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计算 </a:t>
            </a:r>
            <a:r>
              <a:rPr lang="en-US" altLang="zh-CN"/>
              <a:t>delta/a </a:t>
            </a:r>
            <a:r>
              <a:rPr lang="zh-CN" altLang="en-US"/>
              <a:t>扰动后的 </a:t>
            </a:r>
            <a:r>
              <a:rPr lang="en-US" altLang="zh-CN"/>
              <a:t>cost</a:t>
            </a:r>
            <a:endParaRPr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FFDB977-FF29-AB75-8848-A33A6854AEB6}"/>
              </a:ext>
            </a:extLst>
          </p:cNvPr>
          <p:cNvSpPr txBox="1"/>
          <p:nvPr/>
        </p:nvSpPr>
        <p:spPr>
          <a:xfrm>
            <a:off x="7942479" y="3816215"/>
            <a:ext cx="70341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262626"/>
                </a:solidFill>
                <a:effectLst/>
                <a:latin typeface="ui-monospace"/>
              </a:rPr>
              <a:t>使用传入的局部控制量计算代价</a:t>
            </a:r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160A91E-3560-1487-3ED8-5C4BE7D1F46C}"/>
              </a:ext>
            </a:extLst>
          </p:cNvPr>
          <p:cNvSpPr txBox="1"/>
          <p:nvPr/>
        </p:nvSpPr>
        <p:spPr>
          <a:xfrm>
            <a:off x="8451449" y="2301929"/>
            <a:ext cx="7487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262626"/>
                </a:solidFill>
                <a:effectLst/>
                <a:latin typeface="ui-monospace"/>
              </a:rPr>
              <a:t>根据梯度更新控制序列</a:t>
            </a:r>
            <a:endParaRPr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F265D221-3310-7EDA-2A06-6979C2683AC1}"/>
              </a:ext>
            </a:extLst>
          </p:cNvPr>
          <p:cNvSpPr txBox="1"/>
          <p:nvPr/>
        </p:nvSpPr>
        <p:spPr>
          <a:xfrm>
            <a:off x="7920741" y="2877541"/>
            <a:ext cx="7971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262626"/>
                </a:solidFill>
                <a:effectLst/>
                <a:latin typeface="ui-monospace"/>
              </a:rPr>
              <a:t>生成基准预测轨迹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8655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70C0B-C105-59DE-2237-8DB8109C1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7D0DDD-2F3F-49F3-D568-BBBDE1169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zh-CN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DB54C5-6A53-8688-4BB5-3956756F67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BF71A997-7E79-41BB-B83B-6503C36C821C}" type="slidenum">
              <a:rPr lang="en-US" altLang="zh-CN" smtClean="0"/>
              <a:t>16</a:t>
            </a:fld>
            <a:endParaRPr lang="en-US" altLang="zh-CN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27670828-C50C-B0A1-1ED0-7B4F5753D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V3</a:t>
            </a:r>
            <a:endParaRPr lang="zh-CN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2FF3F5E-52FF-5E92-A786-806775C1F328}"/>
              </a:ext>
            </a:extLst>
          </p:cNvPr>
          <p:cNvSpPr txBox="1"/>
          <p:nvPr/>
        </p:nvSpPr>
        <p:spPr>
          <a:xfrm>
            <a:off x="384810" y="983345"/>
            <a:ext cx="61264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>
              <a:lnSpc>
                <a:spcPct val="1000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bash-5.1# ./mpc_test_v3_O3 39 78 156</a:t>
            </a:r>
          </a:p>
          <a:p>
            <a:pPr eaLnBrk="0">
              <a:lnSpc>
                <a:spcPct val="100000"/>
              </a:lnSpc>
              <a:spcBef>
                <a:spcPts val="0"/>
              </a:spcBef>
            </a:pPr>
            <a:endParaRPr lang="en-US" altLang="zh-CN" sz="120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0">
              <a:lnSpc>
                <a:spcPct val="1000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V3</a:t>
            </a:r>
          </a:p>
          <a:p>
            <a:pPr eaLnBrk="0">
              <a:lnSpc>
                <a:spcPct val="1000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==== Testing horizon=156 ====</a:t>
            </a:r>
          </a:p>
          <a:p>
            <a:pPr eaLnBrk="0">
              <a:lnSpc>
                <a:spcPct val="100000"/>
              </a:lnSpc>
              <a:spcBef>
                <a:spcPts val="0"/>
              </a:spcBef>
            </a:pPr>
            <a:r>
              <a:rPr lang="en-US" altLang="zh-CN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mpc_linux_ioself_profiling</a:t>
            </a:r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: horizon=156 </a:t>
            </a:r>
            <a:r>
              <a:rPr lang="en-US" altLang="zh-CN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total_time</a:t>
            </a:r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=179364063 ns </a:t>
            </a:r>
            <a:r>
              <a:rPr lang="en-US" altLang="zh-CN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179.364063 </a:t>
            </a:r>
            <a:r>
              <a:rPr lang="en-US" altLang="zh-CN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ms</a:t>
            </a:r>
            <a:endParaRPr lang="en-US" altLang="zh-CN" b="1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F9846FE-3398-9867-8FE1-8BEBD061D420}"/>
              </a:ext>
            </a:extLst>
          </p:cNvPr>
          <p:cNvSpPr txBox="1"/>
          <p:nvPr/>
        </p:nvSpPr>
        <p:spPr>
          <a:xfrm>
            <a:off x="553463" y="3023503"/>
            <a:ext cx="77412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经多次测试，</a:t>
            </a:r>
            <a:r>
              <a:rPr lang="en-US" altLang="zh-CN" sz="2400" dirty="0"/>
              <a:t>V3</a:t>
            </a:r>
            <a:r>
              <a:rPr lang="zh-CN" altLang="en-US" sz="2400" dirty="0"/>
              <a:t>虽然没有进行性能上的优化，</a:t>
            </a:r>
            <a:endParaRPr lang="en-US" altLang="zh-CN" sz="2400" dirty="0"/>
          </a:p>
          <a:p>
            <a:r>
              <a:rPr lang="zh-CN" altLang="en-US" sz="2400" dirty="0"/>
              <a:t>但是修改后的计算模式减少了数据冲突</a:t>
            </a:r>
            <a:endParaRPr lang="en-US" altLang="zh-CN" sz="2400" dirty="0"/>
          </a:p>
          <a:p>
            <a:r>
              <a:rPr lang="zh-CN" altLang="en-US" sz="2400" dirty="0"/>
              <a:t>也有效的减少了约</a:t>
            </a:r>
            <a:r>
              <a:rPr lang="en-US" altLang="zh-CN" sz="2400" dirty="0"/>
              <a:t>10%</a:t>
            </a:r>
            <a:r>
              <a:rPr lang="zh-CN" altLang="en-US" sz="2400" dirty="0"/>
              <a:t>的时间</a:t>
            </a:r>
            <a:r>
              <a:rPr lang="en-US" altLang="zh-CN" sz="2400" dirty="0"/>
              <a:t>——</a:t>
            </a:r>
            <a:r>
              <a:rPr lang="zh-CN" altLang="en-US" sz="2400" dirty="0"/>
              <a:t>本质上是一种性能优化</a:t>
            </a:r>
          </a:p>
        </p:txBody>
      </p:sp>
    </p:spTree>
    <p:extLst>
      <p:ext uri="{BB962C8B-B14F-4D97-AF65-F5344CB8AC3E}">
        <p14:creationId xmlns:p14="http://schemas.microsoft.com/office/powerpoint/2010/main" val="26808227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DE4E1-76BE-3462-9F13-C4AB7B334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7BF450-B39A-3183-07D8-BFF5EE8F4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dirty="0"/>
              <a:t>这是一次 </a:t>
            </a:r>
            <a:r>
              <a:rPr lang="zh-CN" altLang="en-US" dirty="0">
                <a:solidFill>
                  <a:srgbClr val="FF0000"/>
                </a:solidFill>
              </a:rPr>
              <a:t>失败</a:t>
            </a:r>
            <a:r>
              <a:rPr lang="zh-CN" altLang="en-US" dirty="0"/>
              <a:t> 的优化测试</a:t>
            </a:r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dirty="0"/>
              <a:t>优化思路：</a:t>
            </a:r>
            <a:endParaRPr lang="en-US" altLang="zh-CN" dirty="0"/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/>
              <a:t>V3 </a:t>
            </a:r>
            <a:r>
              <a:rPr lang="zh-CN" altLang="en-US" dirty="0"/>
              <a:t>中 </a:t>
            </a:r>
            <a:r>
              <a:rPr lang="en-US" altLang="zh-CN" dirty="0" err="1"/>
              <a:t>compute_gradient</a:t>
            </a:r>
            <a:r>
              <a:rPr lang="en-US" altLang="zh-CN" dirty="0"/>
              <a:t>() </a:t>
            </a:r>
            <a:r>
              <a:rPr lang="zh-CN" altLang="en-US" dirty="0"/>
              <a:t>内部有两个 </a:t>
            </a:r>
            <a:r>
              <a:rPr lang="en-US" altLang="zh-CN" dirty="0"/>
              <a:t>parallel for </a:t>
            </a:r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dirty="0"/>
              <a:t>每次 </a:t>
            </a:r>
            <a:r>
              <a:rPr lang="en-US" altLang="zh-CN" dirty="0" err="1"/>
              <a:t>compute_gradient</a:t>
            </a:r>
            <a:r>
              <a:rPr lang="en-US" altLang="zh-CN" dirty="0"/>
              <a:t> </a:t>
            </a:r>
            <a:r>
              <a:rPr lang="zh-CN" altLang="en-US" dirty="0"/>
              <a:t>会启动两个 </a:t>
            </a:r>
            <a:r>
              <a:rPr lang="en-US" altLang="zh-CN" dirty="0"/>
              <a:t>OpenMP </a:t>
            </a:r>
            <a:r>
              <a:rPr lang="zh-CN" altLang="en-US" dirty="0"/>
              <a:t>并行区 </a:t>
            </a:r>
            <a:endParaRPr lang="en-US" altLang="zh-CN" dirty="0"/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/>
              <a:t>MAX_ITER </a:t>
            </a:r>
            <a:r>
              <a:rPr lang="zh-CN" altLang="en-US" dirty="0"/>
              <a:t>多次迭代会放大 </a:t>
            </a:r>
            <a:r>
              <a:rPr lang="en-US" altLang="zh-CN" dirty="0"/>
              <a:t>OpenMP </a:t>
            </a:r>
            <a:r>
              <a:rPr lang="zh-CN" altLang="en-US" dirty="0"/>
              <a:t>调度开销 </a:t>
            </a:r>
            <a:endParaRPr lang="en-US" altLang="zh-CN" dirty="0"/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dirty="0"/>
              <a:t>因此尝试将两个 </a:t>
            </a:r>
            <a:r>
              <a:rPr lang="en-US" altLang="zh-CN" dirty="0"/>
              <a:t>parallel for </a:t>
            </a:r>
            <a:r>
              <a:rPr lang="zh-CN" altLang="en-US" dirty="0"/>
              <a:t>合并到一个 </a:t>
            </a:r>
            <a:r>
              <a:rPr lang="en-US" altLang="zh-CN" dirty="0"/>
              <a:t>parallel </a:t>
            </a:r>
            <a:r>
              <a:rPr lang="zh-CN" altLang="en-US" dirty="0"/>
              <a:t>区域中</a:t>
            </a:r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dirty="0"/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altLang="zh-CN" dirty="0"/>
            </a:br>
            <a:endParaRPr lang="zh-CN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zh-CN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BEE788-C213-1B09-A40D-266B76439B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BF71A997-7E79-41BB-B83B-6503C36C821C}" type="slidenum">
              <a:rPr lang="en-US" altLang="zh-CN" smtClean="0"/>
              <a:t>17</a:t>
            </a:fld>
            <a:endParaRPr lang="en-US" altLang="zh-CN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36E49195-F927-D703-41EC-7B66E4EBD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V4</a:t>
            </a:r>
            <a:endParaRPr lang="zh-CN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FCE4EDC-839C-72E3-4B65-A5CAB40BDA51}"/>
              </a:ext>
            </a:extLst>
          </p:cNvPr>
          <p:cNvSpPr txBox="1"/>
          <p:nvPr/>
        </p:nvSpPr>
        <p:spPr>
          <a:xfrm>
            <a:off x="7364579" y="1441094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B78ED84-E9B0-E824-247F-8B7544BE7B48}"/>
              </a:ext>
            </a:extLst>
          </p:cNvPr>
          <p:cNvSpPr txBox="1"/>
          <p:nvPr/>
        </p:nvSpPr>
        <p:spPr>
          <a:xfrm>
            <a:off x="6767778" y="894715"/>
            <a:ext cx="4747565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1200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#pragma </a:t>
            </a:r>
            <a:r>
              <a:rPr lang="en-US" altLang="zh-CN" sz="1200" dirty="0" err="1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omp</a:t>
            </a:r>
            <a:r>
              <a:rPr lang="en-US" altLang="zh-CN" sz="1200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parallel for schedule(static)</a:t>
            </a:r>
          </a:p>
          <a:p>
            <a:pPr>
              <a:buNone/>
            </a:pPr>
            <a:r>
              <a:rPr lang="en-US" altLang="zh-CN" sz="1200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for (int t = 0; t &lt; horizon; t++) {</a:t>
            </a:r>
          </a:p>
          <a:p>
            <a:pPr>
              <a:buNone/>
            </a:pPr>
            <a:r>
              <a:rPr lang="en-US" altLang="zh-CN" sz="1200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1200" dirty="0" err="1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cost_base_tail</a:t>
            </a:r>
            <a:r>
              <a:rPr lang="en-US" altLang="zh-CN" sz="1200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[t] = </a:t>
            </a:r>
            <a:r>
              <a:rPr lang="en-US" altLang="zh-CN" sz="1200" dirty="0" err="1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rollout_tail_cost</a:t>
            </a:r>
            <a:r>
              <a:rPr lang="en-US" altLang="zh-CN" sz="1200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(...);</a:t>
            </a:r>
          </a:p>
          <a:p>
            <a:pPr>
              <a:buNone/>
            </a:pPr>
            <a:r>
              <a:rPr lang="en-US" altLang="zh-CN" sz="1200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</a:p>
          <a:p>
            <a:pPr>
              <a:buNone/>
            </a:pPr>
            <a:endParaRPr lang="en-US" altLang="zh-CN" sz="1200" dirty="0">
              <a:solidFill>
                <a:srgbClr val="80808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>
              <a:buNone/>
            </a:pPr>
            <a:r>
              <a:rPr lang="en-US" altLang="zh-CN" sz="1200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#pragma </a:t>
            </a:r>
            <a:r>
              <a:rPr lang="en-US" altLang="zh-CN" sz="1200" dirty="0" err="1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omp</a:t>
            </a:r>
            <a:r>
              <a:rPr lang="en-US" altLang="zh-CN" sz="1200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parallel for schedule(static)</a:t>
            </a:r>
          </a:p>
          <a:p>
            <a:pPr>
              <a:buNone/>
            </a:pPr>
            <a:r>
              <a:rPr lang="en-US" altLang="zh-CN" sz="1200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for (int t = 0; t &lt; horizon; t++) {</a:t>
            </a:r>
          </a:p>
          <a:p>
            <a:pPr>
              <a:buNone/>
            </a:pPr>
            <a:r>
              <a:rPr lang="en-US" altLang="zh-CN" sz="1200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float </a:t>
            </a:r>
            <a:r>
              <a:rPr lang="en-US" altLang="zh-CN" sz="1200" dirty="0" err="1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cost_plus_delta</a:t>
            </a:r>
            <a:r>
              <a:rPr lang="en-US" altLang="zh-CN" sz="1200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= </a:t>
            </a:r>
            <a:r>
              <a:rPr lang="en-US" altLang="zh-CN" sz="1200" dirty="0" err="1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rollout_tail_cost_perturbed</a:t>
            </a:r>
            <a:r>
              <a:rPr lang="en-US" altLang="zh-CN" sz="1200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(...);</a:t>
            </a:r>
          </a:p>
          <a:p>
            <a:pPr>
              <a:buNone/>
            </a:pPr>
            <a:r>
              <a:rPr lang="en-US" altLang="zh-CN" sz="1200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float </a:t>
            </a:r>
            <a:r>
              <a:rPr lang="en-US" altLang="zh-CN" sz="1200" dirty="0" err="1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cost_plus_a</a:t>
            </a:r>
            <a:r>
              <a:rPr lang="en-US" altLang="zh-CN" sz="1200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= </a:t>
            </a:r>
            <a:r>
              <a:rPr lang="en-US" altLang="zh-CN" sz="1200" dirty="0" err="1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rollout_tail_cost_perturbed</a:t>
            </a:r>
            <a:r>
              <a:rPr lang="en-US" altLang="zh-CN" sz="1200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(...);</a:t>
            </a:r>
          </a:p>
          <a:p>
            <a:pPr>
              <a:buNone/>
            </a:pPr>
            <a:endParaRPr lang="en-US" altLang="zh-CN" sz="1200" dirty="0">
              <a:solidFill>
                <a:srgbClr val="80808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>
              <a:buNone/>
            </a:pPr>
            <a:r>
              <a:rPr lang="en-US" altLang="zh-CN" sz="1200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grad-&gt;delta[t] = ...</a:t>
            </a:r>
          </a:p>
          <a:p>
            <a:pPr>
              <a:buNone/>
            </a:pPr>
            <a:r>
              <a:rPr lang="en-US" altLang="zh-CN" sz="1200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grad-&gt;a[t] = ...</a:t>
            </a:r>
          </a:p>
          <a:p>
            <a:pPr>
              <a:buNone/>
            </a:pPr>
            <a:r>
              <a:rPr lang="en-US" altLang="zh-CN" sz="1200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</a:p>
          <a:p>
            <a:endParaRPr lang="zh-CN" altLang="en-US" dirty="0"/>
          </a:p>
        </p:txBody>
      </p:sp>
      <p:sp>
        <p:nvSpPr>
          <p:cNvPr id="8" name="箭头: 下 7">
            <a:extLst>
              <a:ext uri="{FF2B5EF4-FFF2-40B4-BE49-F238E27FC236}">
                <a16:creationId xmlns:a16="http://schemas.microsoft.com/office/drawing/2014/main" id="{20E58176-0A36-7835-34D3-55858DACA71A}"/>
              </a:ext>
            </a:extLst>
          </p:cNvPr>
          <p:cNvSpPr/>
          <p:nvPr/>
        </p:nvSpPr>
        <p:spPr>
          <a:xfrm>
            <a:off x="8185709" y="3562667"/>
            <a:ext cx="1263091" cy="66551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D402093-D1E5-25C1-832F-E4A79B7496AE}"/>
              </a:ext>
            </a:extLst>
          </p:cNvPr>
          <p:cNvSpPr txBox="1"/>
          <p:nvPr/>
        </p:nvSpPr>
        <p:spPr>
          <a:xfrm>
            <a:off x="7578547" y="4689043"/>
            <a:ext cx="2746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尝试加入同一个</a:t>
            </a:r>
            <a:r>
              <a:rPr lang="en-US" altLang="zh-CN" dirty="0"/>
              <a:t>parallel</a:t>
            </a:r>
            <a:r>
              <a:rPr lang="zh-CN" altLang="en-US" dirty="0"/>
              <a:t>中</a:t>
            </a:r>
          </a:p>
        </p:txBody>
      </p:sp>
    </p:spTree>
    <p:extLst>
      <p:ext uri="{BB962C8B-B14F-4D97-AF65-F5344CB8AC3E}">
        <p14:creationId xmlns:p14="http://schemas.microsoft.com/office/powerpoint/2010/main" val="42241462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D173B-755F-35C7-21FF-63E1DA302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B6E3A0-7712-61EB-0CA6-F4C81EF96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zh-CN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A49EF2-647A-8BCB-E820-ABAE4450C2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BF71A997-7E79-41BB-B83B-6503C36C821C}" type="slidenum">
              <a:rPr lang="en-US" altLang="zh-CN" smtClean="0"/>
              <a:t>18</a:t>
            </a:fld>
            <a:endParaRPr lang="en-US" altLang="zh-CN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FE605D02-3C2A-FE4C-6670-2CEB397FA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V4</a:t>
            </a:r>
            <a:endParaRPr lang="zh-CN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ECD18E6-4865-CD10-A474-1D366E38BB2E}"/>
              </a:ext>
            </a:extLst>
          </p:cNvPr>
          <p:cNvSpPr txBox="1"/>
          <p:nvPr/>
        </p:nvSpPr>
        <p:spPr>
          <a:xfrm>
            <a:off x="384810" y="983345"/>
            <a:ext cx="61264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>
              <a:lnSpc>
                <a:spcPct val="100000"/>
              </a:lnSpc>
              <a:spcBef>
                <a:spcPts val="0"/>
              </a:spcBef>
            </a:pPr>
            <a:r>
              <a:rPr lang="en-US" altLang="zh-CN" sz="12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bash-5.1# ./mpc_test_v3_O3 39 78 156</a:t>
            </a:r>
          </a:p>
          <a:p>
            <a:pPr eaLnBrk="0">
              <a:lnSpc>
                <a:spcPct val="100000"/>
              </a:lnSpc>
              <a:spcBef>
                <a:spcPts val="0"/>
              </a:spcBef>
            </a:pPr>
            <a:endParaRPr lang="en-US" altLang="zh-CN" sz="120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0">
              <a:lnSpc>
                <a:spcPct val="1000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V3</a:t>
            </a:r>
          </a:p>
          <a:p>
            <a:pPr eaLnBrk="0">
              <a:lnSpc>
                <a:spcPct val="1000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</a:rPr>
              <a:t>==== Testing horizon=156 ====</a:t>
            </a:r>
          </a:p>
          <a:p>
            <a:pPr eaLnBrk="0">
              <a:lnSpc>
                <a:spcPct val="100000"/>
              </a:lnSpc>
              <a:spcBef>
                <a:spcPts val="0"/>
              </a:spcBef>
            </a:pPr>
            <a:r>
              <a:rPr lang="en-US" altLang="zh-CN" dirty="0" err="1">
                <a:solidFill>
                  <a:srgbClr val="000000"/>
                </a:solidFill>
                <a:latin typeface="等线" panose="02010600030101010101" pitchFamily="2" charset="-122"/>
              </a:rPr>
              <a:t>mpc_linux_ioself_profiling</a:t>
            </a:r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</a:rPr>
              <a:t>: horizon=156 </a:t>
            </a:r>
            <a:r>
              <a:rPr lang="en-US" altLang="zh-CN" dirty="0" err="1">
                <a:solidFill>
                  <a:srgbClr val="000000"/>
                </a:solidFill>
                <a:latin typeface="等线" panose="02010600030101010101" pitchFamily="2" charset="-122"/>
              </a:rPr>
              <a:t>total_time</a:t>
            </a:r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</a:rPr>
              <a:t>=179364063 ns </a:t>
            </a:r>
            <a:r>
              <a:rPr lang="en-US" altLang="zh-CN" b="1" dirty="0">
                <a:solidFill>
                  <a:srgbClr val="000000"/>
                </a:solidFill>
                <a:latin typeface="等线" panose="02010600030101010101" pitchFamily="2" charset="-122"/>
              </a:rPr>
              <a:t>179.364063 </a:t>
            </a:r>
            <a:r>
              <a:rPr lang="en-US" altLang="zh-CN" b="1" dirty="0" err="1">
                <a:solidFill>
                  <a:srgbClr val="000000"/>
                </a:solidFill>
                <a:latin typeface="等线" panose="02010600030101010101" pitchFamily="2" charset="-122"/>
              </a:rPr>
              <a:t>ms</a:t>
            </a:r>
            <a:endParaRPr lang="en-US" altLang="zh-CN" b="1" dirty="0">
              <a:solidFill>
                <a:srgbClr val="000000"/>
              </a:solidFill>
              <a:latin typeface="等线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452561D-A971-E287-86C6-73E363F5EB01}"/>
              </a:ext>
            </a:extLst>
          </p:cNvPr>
          <p:cNvSpPr txBox="1"/>
          <p:nvPr/>
        </p:nvSpPr>
        <p:spPr>
          <a:xfrm>
            <a:off x="472592" y="3374196"/>
            <a:ext cx="61264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>
              <a:lnSpc>
                <a:spcPct val="100000"/>
              </a:lnSpc>
              <a:spcBef>
                <a:spcPts val="0"/>
              </a:spcBef>
            </a:pPr>
            <a:endParaRPr lang="en-US" altLang="zh-CN" sz="120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0">
              <a:lnSpc>
                <a:spcPct val="1000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V4</a:t>
            </a:r>
          </a:p>
          <a:p>
            <a:pPr eaLnBrk="0">
              <a:lnSpc>
                <a:spcPct val="1000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==== Testing horizon=156 ====</a:t>
            </a:r>
          </a:p>
          <a:p>
            <a:pPr eaLnBrk="0">
              <a:lnSpc>
                <a:spcPct val="100000"/>
              </a:lnSpc>
              <a:spcBef>
                <a:spcPts val="0"/>
              </a:spcBef>
            </a:pPr>
            <a:r>
              <a:rPr lang="en-US" altLang="zh-CN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mpc_linux_ioself_profiling</a:t>
            </a:r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: horizon=156 </a:t>
            </a:r>
            <a:r>
              <a:rPr lang="en-US" altLang="zh-CN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total_time</a:t>
            </a:r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=190846426 ns </a:t>
            </a:r>
            <a:r>
              <a:rPr lang="en-US" altLang="zh-CN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190.846426 </a:t>
            </a:r>
            <a:r>
              <a:rPr lang="en-US" altLang="zh-CN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ms</a:t>
            </a:r>
            <a:endParaRPr lang="en-US" altLang="zh-CN" b="1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A4F2E04-BFE9-E204-D8DF-0B4A94B31979}"/>
              </a:ext>
            </a:extLst>
          </p:cNvPr>
          <p:cNvSpPr txBox="1"/>
          <p:nvPr/>
        </p:nvSpPr>
        <p:spPr>
          <a:xfrm>
            <a:off x="5483907" y="2782669"/>
            <a:ext cx="58112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V4 </a:t>
            </a:r>
            <a:r>
              <a:rPr lang="zh-CN" altLang="en-US" sz="2400" dirty="0"/>
              <a:t>在 </a:t>
            </a:r>
            <a:r>
              <a:rPr lang="en-US" altLang="zh-CN" sz="2400" dirty="0"/>
              <a:t>horizon=39</a:t>
            </a:r>
            <a:r>
              <a:rPr lang="zh-CN" altLang="en-US" sz="2400" dirty="0"/>
              <a:t>、</a:t>
            </a:r>
            <a:r>
              <a:rPr lang="en-US" altLang="zh-CN" sz="2400" dirty="0"/>
              <a:t>78</a:t>
            </a:r>
            <a:r>
              <a:rPr lang="zh-CN" altLang="en-US" sz="2400" dirty="0"/>
              <a:t>、</a:t>
            </a:r>
            <a:r>
              <a:rPr lang="en-US" altLang="zh-CN" sz="2400" dirty="0"/>
              <a:t>156 </a:t>
            </a:r>
            <a:r>
              <a:rPr lang="zh-CN" altLang="en-US" sz="2400" dirty="0"/>
              <a:t>下均慢于 </a:t>
            </a:r>
            <a:r>
              <a:rPr lang="en-US" altLang="zh-CN" sz="2400" dirty="0"/>
              <a:t>V3 </a:t>
            </a:r>
          </a:p>
          <a:p>
            <a:r>
              <a:rPr lang="en-US" altLang="zh-CN" sz="2400" dirty="0"/>
              <a:t> </a:t>
            </a:r>
            <a:r>
              <a:rPr lang="zh-CN" altLang="en-US" sz="2400" dirty="0"/>
              <a:t>因此该优化未被最终采用</a:t>
            </a:r>
          </a:p>
        </p:txBody>
      </p:sp>
    </p:spTree>
    <p:extLst>
      <p:ext uri="{BB962C8B-B14F-4D97-AF65-F5344CB8AC3E}">
        <p14:creationId xmlns:p14="http://schemas.microsoft.com/office/powerpoint/2010/main" val="14489693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98AAE-E9F6-E62B-1D81-B6C10D7FF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4F3C52-A714-86D1-402E-8ABE23A92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zh-CN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15F262-3019-0B7D-09F5-98E0A0811F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BF71A997-7E79-41BB-B83B-6503C36C821C}" type="slidenum">
              <a:rPr lang="en-US" altLang="zh-CN" smtClean="0"/>
              <a:t>19</a:t>
            </a:fld>
            <a:endParaRPr lang="en-US" altLang="zh-CN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7CF43249-0319-D623-31E1-C86BE252B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V5 – 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原理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2182EC4-8728-B517-9DD7-84F2ECD0C3E3}"/>
              </a:ext>
            </a:extLst>
          </p:cNvPr>
          <p:cNvSpPr txBox="1"/>
          <p:nvPr/>
        </p:nvSpPr>
        <p:spPr>
          <a:xfrm>
            <a:off x="684733" y="1198282"/>
            <a:ext cx="472918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compute_gradient</a:t>
            </a:r>
            <a:r>
              <a:rPr lang="en-US" altLang="zh-CN" dirty="0"/>
              <a:t> </a:t>
            </a:r>
            <a:r>
              <a:rPr lang="zh-CN" altLang="en-US" dirty="0"/>
              <a:t>是 </a:t>
            </a:r>
            <a:r>
              <a:rPr lang="en-US" altLang="zh-CN" dirty="0"/>
              <a:t>MPC </a:t>
            </a:r>
            <a:r>
              <a:rPr lang="zh-CN" altLang="en-US" dirty="0"/>
              <a:t>中最耗时的部分。</a:t>
            </a:r>
            <a:endParaRPr lang="en-US" altLang="zh-CN" dirty="0"/>
          </a:p>
          <a:p>
            <a:r>
              <a:rPr lang="zh-CN" altLang="en-US" dirty="0"/>
              <a:t> 对每个时刻 </a:t>
            </a:r>
            <a:r>
              <a:rPr lang="en-US" altLang="zh-CN" dirty="0"/>
              <a:t>t</a:t>
            </a:r>
            <a:r>
              <a:rPr lang="zh-CN" altLang="en-US" dirty="0"/>
              <a:t>，需要计算： </a:t>
            </a:r>
            <a:endParaRPr lang="en-US" altLang="zh-CN" dirty="0"/>
          </a:p>
          <a:p>
            <a:r>
              <a:rPr lang="zh-CN" altLang="en-US" dirty="0"/>
              <a:t>原始控制序列下的 </a:t>
            </a:r>
            <a:r>
              <a:rPr lang="en-US" altLang="zh-CN" dirty="0"/>
              <a:t>base tail cost </a:t>
            </a:r>
          </a:p>
          <a:p>
            <a:r>
              <a:rPr lang="en-US" altLang="zh-CN" dirty="0"/>
              <a:t>delta[t] + eps </a:t>
            </a:r>
            <a:r>
              <a:rPr lang="zh-CN" altLang="en-US" dirty="0"/>
              <a:t>后的 </a:t>
            </a:r>
            <a:r>
              <a:rPr lang="en-US" altLang="zh-CN" dirty="0"/>
              <a:t>perturbed cost </a:t>
            </a:r>
          </a:p>
          <a:p>
            <a:r>
              <a:rPr lang="en-US" altLang="zh-CN" dirty="0"/>
              <a:t>a[t] + eps </a:t>
            </a:r>
            <a:r>
              <a:rPr lang="zh-CN" altLang="en-US" dirty="0"/>
              <a:t>后的 </a:t>
            </a:r>
            <a:r>
              <a:rPr lang="en-US" altLang="zh-CN" dirty="0"/>
              <a:t>perturbed cost</a:t>
            </a:r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2B6B76D-C0D0-50F2-4D51-F7F1CE1C585F}"/>
              </a:ext>
            </a:extLst>
          </p:cNvPr>
          <p:cNvSpPr txBox="1"/>
          <p:nvPr/>
        </p:nvSpPr>
        <p:spPr>
          <a:xfrm>
            <a:off x="684733" y="3040494"/>
            <a:ext cx="22781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总</a:t>
            </a:r>
            <a:r>
              <a:rPr lang="en-US" altLang="zh-CN" sz="2400" dirty="0"/>
              <a:t>rollout</a:t>
            </a:r>
            <a:r>
              <a:rPr lang="zh-CN" altLang="en-US" sz="2400" dirty="0"/>
              <a:t>步数：</a:t>
            </a:r>
            <a:endParaRPr lang="en-US" altLang="zh-CN" sz="2400" dirty="0"/>
          </a:p>
          <a:p>
            <a:endParaRPr lang="zh-CN" altLang="en-US" sz="2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93B5BA9-C1EB-0D27-F5BC-6952E4481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921" y="2855950"/>
            <a:ext cx="3934374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8563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1853" y="1027494"/>
            <a:ext cx="4672330" cy="2715260"/>
          </a:xfrm>
        </p:spPr>
        <p:txBody>
          <a:bodyPr>
            <a:normAutofit/>
          </a:bodyPr>
          <a:lstStyle/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dirty="0"/>
              <a:t>基于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缓存</a:t>
            </a:r>
            <a:r>
              <a:rPr lang="zh-CN" altLang="en-US" dirty="0"/>
              <a:t>结构的梯度计算优化</a:t>
            </a:r>
            <a:endParaRPr lang="en-US" altLang="zh-CN" dirty="0"/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endParaRPr lang="zh-CN" altLang="en-US" dirty="0"/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dirty="0"/>
              <a:t>改动</a:t>
            </a:r>
            <a:r>
              <a:rPr lang="en-US" altLang="zh-CN" dirty="0"/>
              <a:t>1</a:t>
            </a:r>
            <a:r>
              <a:rPr lang="zh-CN" altLang="en-US" dirty="0"/>
              <a:t>：新增线程局部存储缓存结构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BF71A997-7E79-41BB-B83B-6503C36C821C}" type="slidenum">
              <a:rPr lang="en-US" altLang="zh-CN" smtClean="0"/>
              <a:t>20</a:t>
            </a:fld>
            <a:endParaRPr lang="en-US" altLang="zh-CN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V5</a:t>
            </a:r>
            <a:endParaRPr lang="zh-CN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5866892" y="793826"/>
            <a:ext cx="2607945" cy="356171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typedef struct {</a:t>
            </a:r>
          </a:p>
          <a:p>
            <a:pPr algn="ctr"/>
            <a:r>
              <a:rPr lang="en-US" altLang="zh-CN" dirty="0"/>
              <a:t>        Controls_t u_seq;</a:t>
            </a:r>
          </a:p>
          <a:p>
            <a:pPr algn="ctr"/>
            <a:r>
              <a:rPr lang="en-US" altLang="zh-CN" dirty="0"/>
              <a:t>        Controls_t grad;</a:t>
            </a:r>
          </a:p>
          <a:p>
            <a:pPr algn="ctr"/>
            <a:r>
              <a:rPr lang="en-US" altLang="zh-CN" dirty="0"/>
              <a:t>        State_t* traj_states;</a:t>
            </a:r>
          </a:p>
          <a:p>
            <a:pPr algn="ctr"/>
            <a:r>
              <a:rPr lang="en-US" altLang="zh-CN" dirty="0"/>
              <a:t>        float* cos_arr;</a:t>
            </a:r>
          </a:p>
          <a:p>
            <a:pPr algn="ctr"/>
            <a:r>
              <a:rPr lang="en-US" altLang="zh-CN" dirty="0"/>
              <a:t>        float* sin_arr;</a:t>
            </a:r>
          </a:p>
          <a:p>
            <a:pPr algn="ctr"/>
            <a:r>
              <a:rPr lang="en-US" altLang="zh-CN" dirty="0"/>
              <a:t>        float* tail_costs;</a:t>
            </a:r>
          </a:p>
          <a:p>
            <a:pPr algn="ctr"/>
            <a:r>
              <a:rPr lang="en-US" altLang="zh-CN" dirty="0"/>
              <a:t>        int max_horizon;</a:t>
            </a:r>
          </a:p>
          <a:p>
            <a:pPr algn="ctr"/>
            <a:r>
              <a:rPr lang="en-US" altLang="zh-CN" dirty="0"/>
              <a:t>        bool initialized;</a:t>
            </a:r>
          </a:p>
          <a:p>
            <a:pPr algn="ctr"/>
            <a:r>
              <a:rPr lang="en-US" altLang="zh-CN" dirty="0"/>
              <a:t>} MPCThreadCache_t;</a:t>
            </a:r>
          </a:p>
          <a:p>
            <a:pPr algn="ctr"/>
            <a:endParaRPr lang="en-US" altLang="zh-CN" dirty="0"/>
          </a:p>
        </p:txBody>
      </p:sp>
      <p:cxnSp>
        <p:nvCxnSpPr>
          <p:cNvPr id="2" name="直接箭头连接符 1"/>
          <p:cNvCxnSpPr>
            <a:cxnSpLocks/>
          </p:cNvCxnSpPr>
          <p:nvPr/>
        </p:nvCxnSpPr>
        <p:spPr>
          <a:xfrm>
            <a:off x="4893869" y="1894637"/>
            <a:ext cx="855878" cy="1975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B86EFE77-D5BA-DB64-1BE8-614D45533962}"/>
              </a:ext>
            </a:extLst>
          </p:cNvPr>
          <p:cNvSpPr txBox="1"/>
          <p:nvPr/>
        </p:nvSpPr>
        <p:spPr>
          <a:xfrm>
            <a:off x="8613548" y="111984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控制序列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387E83C-EEE8-8647-9219-615256BAB090}"/>
              </a:ext>
            </a:extLst>
          </p:cNvPr>
          <p:cNvSpPr txBox="1"/>
          <p:nvPr/>
        </p:nvSpPr>
        <p:spPr>
          <a:xfrm>
            <a:off x="8613548" y="148917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梯度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4F9A9E9-1212-BD58-85B9-10E59F121D51}"/>
              </a:ext>
            </a:extLst>
          </p:cNvPr>
          <p:cNvSpPr txBox="1"/>
          <p:nvPr/>
        </p:nvSpPr>
        <p:spPr>
          <a:xfrm>
            <a:off x="8591982" y="79382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缓存内容：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4F06D96-9D86-5A53-0312-6155311FDF6E}"/>
              </a:ext>
            </a:extLst>
          </p:cNvPr>
          <p:cNvSpPr txBox="1"/>
          <p:nvPr/>
        </p:nvSpPr>
        <p:spPr>
          <a:xfrm>
            <a:off x="8707427" y="201579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预测轨迹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E262030-F044-4D49-F7D6-6C64A0E5965F}"/>
              </a:ext>
            </a:extLst>
          </p:cNvPr>
          <p:cNvSpPr txBox="1"/>
          <p:nvPr/>
        </p:nvSpPr>
        <p:spPr>
          <a:xfrm>
            <a:off x="8707427" y="252647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航向角缓存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140B0C2-2D63-3ED8-E830-678F79563BFD}"/>
              </a:ext>
            </a:extLst>
          </p:cNvPr>
          <p:cNvSpPr txBox="1"/>
          <p:nvPr/>
        </p:nvSpPr>
        <p:spPr>
          <a:xfrm>
            <a:off x="8707426" y="3049627"/>
            <a:ext cx="17386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tail_costs</a:t>
            </a:r>
            <a:r>
              <a:rPr lang="en-US" altLang="zh-CN" dirty="0"/>
              <a:t> </a:t>
            </a:r>
            <a:r>
              <a:rPr lang="zh-CN" altLang="en-US" dirty="0"/>
              <a:t>缓存数组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712BF38-35DC-7B11-865F-FA484B7237FE}"/>
              </a:ext>
            </a:extLst>
          </p:cNvPr>
          <p:cNvSpPr txBox="1"/>
          <p:nvPr/>
        </p:nvSpPr>
        <p:spPr>
          <a:xfrm>
            <a:off x="1906512" y="2472538"/>
            <a:ext cx="186301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多次 </a:t>
            </a:r>
            <a:r>
              <a:rPr lang="en-US" altLang="zh-CN" dirty="0"/>
              <a:t>MPC </a:t>
            </a:r>
            <a:r>
              <a:rPr lang="zh-CN" altLang="en-US" dirty="0"/>
              <a:t>调用 </a:t>
            </a:r>
            <a:endParaRPr lang="en-US" altLang="zh-CN" dirty="0"/>
          </a:p>
          <a:p>
            <a:r>
              <a:rPr lang="zh-CN" altLang="en-US" dirty="0"/>
              <a:t>↓ </a:t>
            </a:r>
            <a:endParaRPr lang="en-US" altLang="zh-CN" dirty="0"/>
          </a:p>
          <a:p>
            <a:r>
              <a:rPr lang="zh-CN" altLang="en-US" dirty="0"/>
              <a:t>复用同一块缓存 </a:t>
            </a:r>
            <a:endParaRPr lang="en-US" altLang="zh-CN" dirty="0"/>
          </a:p>
          <a:p>
            <a:r>
              <a:rPr lang="zh-CN" altLang="en-US" dirty="0"/>
              <a:t>↓ </a:t>
            </a:r>
            <a:endParaRPr lang="en-US" altLang="zh-CN" dirty="0"/>
          </a:p>
          <a:p>
            <a:r>
              <a:rPr lang="zh-CN" altLang="en-US" dirty="0"/>
              <a:t>减少重复分配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68B12A9-F845-F3F7-85C0-02D0AE5032BD}"/>
              </a:ext>
            </a:extLst>
          </p:cNvPr>
          <p:cNvSpPr txBox="1"/>
          <p:nvPr/>
        </p:nvSpPr>
        <p:spPr>
          <a:xfrm>
            <a:off x="1117396" y="4612473"/>
            <a:ext cx="61264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262626"/>
                </a:solidFill>
                <a:effectLst/>
                <a:latin typeface="ui-monospace"/>
              </a:rPr>
              <a:t>V5 </a:t>
            </a:r>
            <a:r>
              <a:rPr lang="zh-CN" altLang="en-US" b="0" i="0" dirty="0">
                <a:solidFill>
                  <a:srgbClr val="262626"/>
                </a:solidFill>
                <a:effectLst/>
                <a:latin typeface="ui-monospace"/>
              </a:rPr>
              <a:t>的思路是把 </a:t>
            </a:r>
            <a:r>
              <a:rPr lang="en-US" altLang="zh-CN" b="0" i="0" dirty="0" err="1">
                <a:solidFill>
                  <a:srgbClr val="262626"/>
                </a:solidFill>
                <a:effectLst/>
                <a:latin typeface="ui-monospace"/>
              </a:rPr>
              <a:t>compute_gradient</a:t>
            </a:r>
            <a:r>
              <a:rPr lang="en-US" altLang="zh-CN" b="0" i="0" dirty="0">
                <a:solidFill>
                  <a:srgbClr val="262626"/>
                </a:solidFill>
                <a:effectLst/>
                <a:latin typeface="ui-monospace"/>
              </a:rPr>
              <a:t> </a:t>
            </a:r>
            <a:r>
              <a:rPr lang="zh-CN" altLang="en-US" b="0" i="0" dirty="0">
                <a:solidFill>
                  <a:srgbClr val="262626"/>
                </a:solidFill>
                <a:effectLst/>
                <a:latin typeface="ui-monospace"/>
              </a:rPr>
              <a:t>中反复使用的临时数组从函数内部搬到缓存结构中，提前申请并复用，避免每次迭代都重新构造这些数据。</a:t>
            </a:r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D5201-CA76-DB8F-B6E5-9E32236D4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2C8E42-D48B-7DCC-399F-D9C320B42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852" y="1027494"/>
            <a:ext cx="10895229" cy="2715260"/>
          </a:xfrm>
        </p:spPr>
        <p:txBody>
          <a:bodyPr>
            <a:normAutofit/>
          </a:bodyPr>
          <a:lstStyle/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dirty="0"/>
              <a:t>比起原本的新增：</a:t>
            </a: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zh-CN" altLang="en-US" dirty="0"/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dirty="0"/>
              <a:t>改动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V5 </a:t>
            </a:r>
            <a:r>
              <a:rPr lang="zh-CN" altLang="en-US" dirty="0"/>
              <a:t>新增接口： </a:t>
            </a:r>
            <a:endParaRPr lang="en-US" altLang="zh-CN" dirty="0"/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 err="1"/>
              <a:t>RetCode_t</a:t>
            </a:r>
            <a:r>
              <a:rPr lang="en-US" altLang="zh-CN" dirty="0"/>
              <a:t> </a:t>
            </a:r>
            <a:r>
              <a:rPr lang="en-US" altLang="zh-CN" dirty="0" err="1"/>
              <a:t>mpc_linux_iopointer_cached</a:t>
            </a:r>
            <a:r>
              <a:rPr lang="en-US" altLang="zh-CN" dirty="0"/>
              <a:t>( int horizon, void* input, void* output, </a:t>
            </a:r>
            <a:r>
              <a:rPr lang="en-US" altLang="zh-CN" dirty="0" err="1"/>
              <a:t>MPCThreadCache_t</a:t>
            </a:r>
            <a:r>
              <a:rPr lang="en-US" altLang="zh-CN" dirty="0"/>
              <a:t>* cache );</a:t>
            </a:r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641AC8-4FFE-B2BC-8BCC-137B5D2D4E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BF71A997-7E79-41BB-B83B-6503C36C821C}" type="slidenum">
              <a:rPr lang="en-US" altLang="zh-CN" smtClean="0"/>
              <a:t>21</a:t>
            </a:fld>
            <a:endParaRPr lang="en-US" altLang="zh-CN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BF96E254-A05E-1B67-A98B-2CF7FC9C6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V5</a:t>
            </a:r>
            <a:endParaRPr lang="zh-CN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793CBF9-A621-3EB9-8A3D-E18E1236DFF2}"/>
              </a:ext>
            </a:extLst>
          </p:cNvPr>
          <p:cNvSpPr txBox="1"/>
          <p:nvPr/>
        </p:nvSpPr>
        <p:spPr>
          <a:xfrm>
            <a:off x="4562247" y="2385124"/>
            <a:ext cx="612648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使用优化后的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compute_gradient_cached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函数</a:t>
            </a: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//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前向模拟并缓存所有状态</a:t>
            </a: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traj_states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[0] = current;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cos_arr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[0] = 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cosf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current.psi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sin_arr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[0] = 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sinf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current.psi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for (int t = 0; t &lt; horizon; t++) {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traj_states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[t + 1] = 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traj_states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[t];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cos_arr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[t + 1] = 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cos_arr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[t];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sin_arr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[t + 1] = 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sin_arr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[t];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simulate(&amp;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traj_states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[t + 1], &amp;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cos_arr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[t + 1], &amp;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sin_arr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[t + 1],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u_seq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-&gt;delta[t], 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u_seq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-&gt;a[t]);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}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8312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9C8D7-AD89-5844-0BB4-9C4357525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D77BD9-DB32-CCD3-7799-2DFDFA939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852" y="1027494"/>
            <a:ext cx="10895229" cy="2715260"/>
          </a:xfrm>
        </p:spPr>
        <p:txBody>
          <a:bodyPr>
            <a:normAutofit/>
          </a:bodyPr>
          <a:lstStyle/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dirty="0"/>
              <a:t>伪代码</a:t>
            </a:r>
            <a:endParaRPr lang="en-US" altLang="zh-CN" dirty="0"/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dirty="0"/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endParaRPr lang="zh-CN" altLang="en-US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4E64D8-7A18-B7A9-2BF7-5EF0B0236D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BF71A997-7E79-41BB-B83B-6503C36C821C}" type="slidenum">
              <a:rPr lang="en-US" altLang="zh-CN" smtClean="0"/>
              <a:t>22</a:t>
            </a:fld>
            <a:endParaRPr lang="en-US" altLang="zh-CN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5AB997DF-7B46-708F-2B69-231940209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V5</a:t>
            </a:r>
            <a:endParaRPr lang="zh-CN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E50F930-AF58-D77D-229B-BDE6303B6A83}"/>
              </a:ext>
            </a:extLst>
          </p:cNvPr>
          <p:cNvSpPr txBox="1"/>
          <p:nvPr/>
        </p:nvSpPr>
        <p:spPr>
          <a:xfrm>
            <a:off x="501852" y="1558506"/>
            <a:ext cx="612648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for iter = 0 to MAX_ITER - 1: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compute_gradient_cached</a:t>
            </a:r>
            <a:r>
              <a:rPr lang="en-US" altLang="zh-CN" dirty="0"/>
              <a:t>(</a:t>
            </a:r>
            <a:endParaRPr lang="zh-CN" altLang="zh-CN" dirty="0"/>
          </a:p>
          <a:p>
            <a:r>
              <a:rPr lang="en-US" altLang="zh-CN" dirty="0"/>
              <a:t>        current,</a:t>
            </a:r>
            <a:endParaRPr lang="zh-CN" altLang="zh-CN" dirty="0"/>
          </a:p>
          <a:p>
            <a:r>
              <a:rPr lang="en-US" altLang="zh-CN" dirty="0"/>
              <a:t>        cache-&gt;</a:t>
            </a:r>
            <a:r>
              <a:rPr lang="en-US" altLang="zh-CN" dirty="0" err="1"/>
              <a:t>u_seq</a:t>
            </a:r>
            <a:r>
              <a:rPr lang="en-US" altLang="zh-CN" dirty="0"/>
              <a:t>,</a:t>
            </a:r>
            <a:endParaRPr lang="zh-CN" altLang="zh-CN" dirty="0"/>
          </a:p>
          <a:p>
            <a:r>
              <a:rPr lang="en-US" altLang="zh-CN" dirty="0"/>
              <a:t>        cache-&gt;grad,</a:t>
            </a:r>
            <a:endParaRPr lang="zh-CN" altLang="zh-CN" dirty="0"/>
          </a:p>
          <a:p>
            <a:r>
              <a:rPr lang="en-US" altLang="zh-CN" dirty="0"/>
              <a:t>        cache-&gt;</a:t>
            </a:r>
            <a:r>
              <a:rPr lang="en-US" altLang="zh-CN" dirty="0" err="1"/>
              <a:t>traj_states</a:t>
            </a:r>
            <a:r>
              <a:rPr lang="en-US" altLang="zh-CN" dirty="0"/>
              <a:t>,</a:t>
            </a:r>
            <a:endParaRPr lang="zh-CN" altLang="zh-CN" dirty="0"/>
          </a:p>
          <a:p>
            <a:r>
              <a:rPr lang="en-US" altLang="zh-CN" dirty="0"/>
              <a:t>        cache-&gt;</a:t>
            </a:r>
            <a:r>
              <a:rPr lang="en-US" altLang="zh-CN" dirty="0" err="1"/>
              <a:t>cos_arr</a:t>
            </a:r>
            <a:r>
              <a:rPr lang="en-US" altLang="zh-CN" dirty="0"/>
              <a:t>,</a:t>
            </a:r>
            <a:endParaRPr lang="zh-CN" altLang="zh-CN" dirty="0"/>
          </a:p>
          <a:p>
            <a:r>
              <a:rPr lang="en-US" altLang="zh-CN" dirty="0"/>
              <a:t>        cache-&gt;</a:t>
            </a:r>
            <a:r>
              <a:rPr lang="en-US" altLang="zh-CN" dirty="0" err="1"/>
              <a:t>sin_arr</a:t>
            </a:r>
            <a:r>
              <a:rPr lang="en-US" altLang="zh-CN" dirty="0"/>
              <a:t>,</a:t>
            </a:r>
            <a:endParaRPr lang="zh-CN" altLang="zh-CN" dirty="0"/>
          </a:p>
          <a:p>
            <a:r>
              <a:rPr lang="en-US" altLang="zh-CN" dirty="0"/>
              <a:t>        cache-&gt;</a:t>
            </a:r>
            <a:r>
              <a:rPr lang="en-US" altLang="zh-CN" dirty="0" err="1"/>
              <a:t>tail_costs</a:t>
            </a:r>
            <a:endParaRPr lang="zh-CN" altLang="zh-CN" dirty="0"/>
          </a:p>
          <a:p>
            <a:r>
              <a:rPr lang="en-US" altLang="zh-CN" dirty="0"/>
              <a:t>    )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neon_update_controls</a:t>
            </a:r>
            <a:r>
              <a:rPr lang="en-US" altLang="zh-CN" dirty="0"/>
              <a:t>(cache-&gt;</a:t>
            </a:r>
            <a:r>
              <a:rPr lang="en-US" altLang="zh-CN" dirty="0" err="1"/>
              <a:t>u_seq</a:t>
            </a:r>
            <a:r>
              <a:rPr lang="en-US" altLang="zh-CN" dirty="0"/>
              <a:t>, cache-&gt;grad)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apply_rate_constraints</a:t>
            </a:r>
            <a:r>
              <a:rPr lang="en-US" altLang="zh-CN" dirty="0"/>
              <a:t>(cache-&gt;</a:t>
            </a:r>
            <a:r>
              <a:rPr lang="en-US" altLang="zh-CN" dirty="0" err="1"/>
              <a:t>u_seq</a:t>
            </a:r>
            <a:r>
              <a:rPr lang="en-US" altLang="zh-CN" dirty="0"/>
              <a:t>)</a:t>
            </a:r>
            <a:endParaRPr lang="zh-CN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2C784F4-C790-13CE-FC78-13E83B34341D}"/>
              </a:ext>
            </a:extLst>
          </p:cNvPr>
          <p:cNvSpPr txBox="1"/>
          <p:nvPr/>
        </p:nvSpPr>
        <p:spPr>
          <a:xfrm>
            <a:off x="6216091" y="1646460"/>
            <a:ext cx="429585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262626"/>
                </a:solidFill>
                <a:effectLst/>
                <a:latin typeface="ui-monospace"/>
              </a:rPr>
              <a:t>1.</a:t>
            </a:r>
            <a:r>
              <a:rPr lang="zh-CN" altLang="en-US" b="0" i="0" dirty="0">
                <a:solidFill>
                  <a:srgbClr val="262626"/>
                </a:solidFill>
                <a:effectLst/>
                <a:latin typeface="ui-monospace"/>
              </a:rPr>
              <a:t>初始化或检查缓存空间 </a:t>
            </a:r>
            <a:endParaRPr lang="en-US" altLang="zh-CN" dirty="0">
              <a:solidFill>
                <a:srgbClr val="262626"/>
              </a:solidFill>
              <a:latin typeface="ui-monospace"/>
            </a:endParaRPr>
          </a:p>
          <a:p>
            <a:r>
              <a:rPr lang="en-US" altLang="zh-CN" b="0" i="0" dirty="0">
                <a:solidFill>
                  <a:srgbClr val="262626"/>
                </a:solidFill>
                <a:effectLst/>
                <a:latin typeface="ui-monospace"/>
              </a:rPr>
              <a:t>2.</a:t>
            </a:r>
            <a:r>
              <a:rPr lang="zh-CN" altLang="en-US" b="0" i="0" dirty="0">
                <a:solidFill>
                  <a:srgbClr val="262626"/>
                </a:solidFill>
                <a:effectLst/>
                <a:latin typeface="ui-monospace"/>
              </a:rPr>
              <a:t>将输入状态转换为 </a:t>
            </a:r>
            <a:r>
              <a:rPr lang="en-US" altLang="zh-CN" b="0" i="0" dirty="0">
                <a:solidFill>
                  <a:srgbClr val="262626"/>
                </a:solidFill>
                <a:effectLst/>
                <a:latin typeface="ui-monospace"/>
              </a:rPr>
              <a:t>MPC </a:t>
            </a:r>
            <a:r>
              <a:rPr lang="zh-CN" altLang="en-US" b="0" i="0" dirty="0">
                <a:solidFill>
                  <a:srgbClr val="262626"/>
                </a:solidFill>
                <a:effectLst/>
                <a:latin typeface="ui-monospace"/>
              </a:rPr>
              <a:t>初始状态 </a:t>
            </a:r>
            <a:endParaRPr lang="en-US" altLang="zh-CN" b="0" i="0" dirty="0">
              <a:solidFill>
                <a:srgbClr val="262626"/>
              </a:solidFill>
              <a:effectLst/>
              <a:latin typeface="ui-monospace"/>
            </a:endParaRPr>
          </a:p>
          <a:p>
            <a:r>
              <a:rPr lang="en-US" altLang="zh-CN" b="0" i="0" dirty="0">
                <a:solidFill>
                  <a:srgbClr val="262626"/>
                </a:solidFill>
                <a:effectLst/>
                <a:latin typeface="ui-monospace"/>
              </a:rPr>
              <a:t>3. </a:t>
            </a:r>
            <a:r>
              <a:rPr lang="zh-CN" altLang="en-US" b="0" i="0" dirty="0">
                <a:solidFill>
                  <a:srgbClr val="262626"/>
                </a:solidFill>
                <a:effectLst/>
                <a:latin typeface="ui-monospace"/>
              </a:rPr>
              <a:t>调用 </a:t>
            </a:r>
            <a:r>
              <a:rPr lang="en-US" altLang="zh-CN" b="0" i="0" dirty="0" err="1">
                <a:solidFill>
                  <a:srgbClr val="262626"/>
                </a:solidFill>
                <a:effectLst/>
                <a:latin typeface="ui-monospace"/>
              </a:rPr>
              <a:t>mpc_control_with_plan_cached</a:t>
            </a:r>
            <a:r>
              <a:rPr lang="en-US" altLang="zh-CN" b="0" i="0" dirty="0">
                <a:solidFill>
                  <a:srgbClr val="262626"/>
                </a:solidFill>
                <a:effectLst/>
                <a:latin typeface="ui-monospace"/>
              </a:rPr>
              <a:t>() </a:t>
            </a:r>
          </a:p>
          <a:p>
            <a:r>
              <a:rPr lang="en-US" altLang="zh-CN" b="0" i="0" dirty="0">
                <a:solidFill>
                  <a:srgbClr val="262626"/>
                </a:solidFill>
                <a:effectLst/>
                <a:latin typeface="ui-monospace"/>
              </a:rPr>
              <a:t>4. </a:t>
            </a:r>
            <a:r>
              <a:rPr lang="zh-CN" altLang="en-US" b="0" i="0" dirty="0">
                <a:solidFill>
                  <a:srgbClr val="262626"/>
                </a:solidFill>
                <a:effectLst/>
                <a:latin typeface="ui-monospace"/>
              </a:rPr>
              <a:t>在 </a:t>
            </a:r>
            <a:r>
              <a:rPr lang="en-US" altLang="zh-CN" b="0" i="0" dirty="0">
                <a:solidFill>
                  <a:srgbClr val="262626"/>
                </a:solidFill>
                <a:effectLst/>
                <a:latin typeface="ui-monospace"/>
              </a:rPr>
              <a:t>MAX_ITER </a:t>
            </a:r>
            <a:r>
              <a:rPr lang="zh-CN" altLang="en-US" b="0" i="0" dirty="0">
                <a:solidFill>
                  <a:srgbClr val="262626"/>
                </a:solidFill>
                <a:effectLst/>
                <a:latin typeface="ui-monospace"/>
              </a:rPr>
              <a:t>迭代中复用缓存数组 </a:t>
            </a:r>
            <a:endParaRPr lang="en-US" altLang="zh-CN" b="0" i="0" dirty="0">
              <a:solidFill>
                <a:srgbClr val="262626"/>
              </a:solidFill>
              <a:effectLst/>
              <a:latin typeface="ui-monospace"/>
            </a:endParaRPr>
          </a:p>
          <a:p>
            <a:r>
              <a:rPr lang="en-US" altLang="zh-CN" b="0" i="0" dirty="0">
                <a:solidFill>
                  <a:srgbClr val="262626"/>
                </a:solidFill>
                <a:effectLst/>
                <a:latin typeface="ui-monospace"/>
              </a:rPr>
              <a:t>5. </a:t>
            </a:r>
            <a:r>
              <a:rPr lang="zh-CN" altLang="en-US" b="0" i="0" dirty="0">
                <a:solidFill>
                  <a:srgbClr val="262626"/>
                </a:solidFill>
                <a:effectLst/>
                <a:latin typeface="ui-monospace"/>
              </a:rPr>
              <a:t>输出最终控制序列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4328745-FA9D-596F-99F3-BB491210A4DB}"/>
              </a:ext>
            </a:extLst>
          </p:cNvPr>
          <p:cNvSpPr txBox="1"/>
          <p:nvPr/>
        </p:nvSpPr>
        <p:spPr>
          <a:xfrm>
            <a:off x="7335317" y="3543665"/>
            <a:ext cx="29571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 err="1">
                <a:solidFill>
                  <a:srgbClr val="262626"/>
                </a:solidFill>
                <a:effectLst/>
                <a:latin typeface="ui-monospace"/>
              </a:rPr>
              <a:t>compute_gradient_cached</a:t>
            </a:r>
            <a:r>
              <a:rPr lang="en-US" altLang="zh-CN" b="0" i="0" dirty="0">
                <a:solidFill>
                  <a:srgbClr val="262626"/>
                </a:solidFill>
                <a:effectLst/>
                <a:latin typeface="ui-monospace"/>
              </a:rPr>
              <a:t>() </a:t>
            </a:r>
          </a:p>
          <a:p>
            <a:r>
              <a:rPr lang="en-US" altLang="zh-CN" b="0" i="0" dirty="0" err="1">
                <a:solidFill>
                  <a:srgbClr val="262626"/>
                </a:solidFill>
                <a:effectLst/>
                <a:latin typeface="ui-monospace"/>
              </a:rPr>
              <a:t>neon_update_controls</a:t>
            </a:r>
            <a:r>
              <a:rPr lang="en-US" altLang="zh-CN" b="0" i="0" dirty="0">
                <a:solidFill>
                  <a:srgbClr val="262626"/>
                </a:solidFill>
                <a:effectLst/>
                <a:latin typeface="ui-monospace"/>
              </a:rPr>
              <a:t>() </a:t>
            </a:r>
          </a:p>
          <a:p>
            <a:r>
              <a:rPr lang="zh-CN" altLang="en-US" b="0" i="0" dirty="0">
                <a:solidFill>
                  <a:srgbClr val="262626"/>
                </a:solidFill>
                <a:effectLst/>
                <a:latin typeface="ui-monospace"/>
              </a:rPr>
              <a:t>控制变化率约束 </a:t>
            </a:r>
            <a:endParaRPr lang="en-US" altLang="zh-CN" b="0" i="0" dirty="0">
              <a:solidFill>
                <a:srgbClr val="262626"/>
              </a:solidFill>
              <a:effectLst/>
              <a:latin typeface="ui-monospace"/>
            </a:endParaRPr>
          </a:p>
          <a:p>
            <a:r>
              <a:rPr lang="en-US" altLang="zh-CN" b="0" i="0" dirty="0">
                <a:solidFill>
                  <a:srgbClr val="262626"/>
                </a:solidFill>
                <a:effectLst/>
                <a:latin typeface="ui-monospace"/>
              </a:rPr>
              <a:t> </a:t>
            </a:r>
            <a:r>
              <a:rPr lang="zh-CN" altLang="en-US" b="0" i="0" dirty="0">
                <a:solidFill>
                  <a:srgbClr val="262626"/>
                </a:solidFill>
                <a:effectLst/>
                <a:latin typeface="ui-monospace"/>
              </a:rPr>
              <a:t>输出 </a:t>
            </a:r>
            <a:r>
              <a:rPr lang="en-US" altLang="zh-CN" b="0" i="0" dirty="0" err="1">
                <a:solidFill>
                  <a:srgbClr val="262626"/>
                </a:solidFill>
                <a:effectLst/>
                <a:latin typeface="ui-monospace"/>
              </a:rPr>
              <a:t>plan_out</a:t>
            </a:r>
            <a:endParaRPr lang="zh-CN" altLang="en-US" dirty="0"/>
          </a:p>
        </p:txBody>
      </p:sp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DE171885-076F-B0EB-6A2E-B796B86F20DE}"/>
              </a:ext>
            </a:extLst>
          </p:cNvPr>
          <p:cNvCxnSpPr>
            <a:stCxn id="6" idx="3"/>
            <a:endCxn id="9" idx="3"/>
          </p:cNvCxnSpPr>
          <p:nvPr/>
        </p:nvCxnSpPr>
        <p:spPr>
          <a:xfrm flipH="1">
            <a:off x="10292487" y="2385124"/>
            <a:ext cx="219455" cy="1758706"/>
          </a:xfrm>
          <a:prstGeom prst="bentConnector3">
            <a:avLst>
              <a:gd name="adj1" fmla="val -1041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A29725C4-D0F9-0B6F-3D65-92CBF796DBCB}"/>
              </a:ext>
            </a:extLst>
          </p:cNvPr>
          <p:cNvSpPr txBox="1"/>
          <p:nvPr/>
        </p:nvSpPr>
        <p:spPr>
          <a:xfrm>
            <a:off x="4972508" y="5136506"/>
            <a:ext cx="61264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262626"/>
                </a:solidFill>
                <a:effectLst/>
                <a:latin typeface="ui-monospace"/>
              </a:rPr>
              <a:t>V5 </a:t>
            </a:r>
            <a:r>
              <a:rPr lang="zh-CN" altLang="en-US" b="0" i="0" dirty="0">
                <a:solidFill>
                  <a:srgbClr val="262626"/>
                </a:solidFill>
                <a:effectLst/>
                <a:latin typeface="ui-monospace"/>
              </a:rPr>
              <a:t>没有改变 </a:t>
            </a:r>
            <a:r>
              <a:rPr lang="en-US" altLang="zh-CN" b="0" i="0" dirty="0">
                <a:solidFill>
                  <a:srgbClr val="262626"/>
                </a:solidFill>
                <a:effectLst/>
                <a:latin typeface="ui-monospace"/>
              </a:rPr>
              <a:t>MPC </a:t>
            </a:r>
            <a:r>
              <a:rPr lang="zh-CN" altLang="en-US" b="0" i="0" dirty="0">
                <a:solidFill>
                  <a:srgbClr val="262626"/>
                </a:solidFill>
                <a:effectLst/>
                <a:latin typeface="ui-monospace"/>
              </a:rPr>
              <a:t>主流程，而是把原来函数内部反复创建的临时数组变成可复用缓存。这样尤其在 </a:t>
            </a:r>
            <a:r>
              <a:rPr lang="en-US" altLang="zh-CN" b="0" i="0" dirty="0">
                <a:solidFill>
                  <a:srgbClr val="262626"/>
                </a:solidFill>
                <a:effectLst/>
                <a:latin typeface="ui-monospace"/>
              </a:rPr>
              <a:t>horizon </a:t>
            </a:r>
            <a:r>
              <a:rPr lang="zh-CN" altLang="en-US" b="0" i="0" dirty="0">
                <a:solidFill>
                  <a:srgbClr val="262626"/>
                </a:solidFill>
                <a:effectLst/>
                <a:latin typeface="ui-monospace"/>
              </a:rPr>
              <a:t>较大时，内存访问和临时对象开销会明显下降。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70211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92342-5F9F-6242-2215-A89AC6AE4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D2E679-69A6-FD00-BB14-1A0AA169D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zh-CN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FB0E83-9BFD-49FD-7B67-5A3C1A6E2B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BF71A997-7E79-41BB-B83B-6503C36C821C}" type="slidenum">
              <a:rPr lang="en-US" altLang="zh-CN" smtClean="0"/>
              <a:t>23</a:t>
            </a:fld>
            <a:endParaRPr lang="en-US" altLang="zh-CN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D8AC5A6E-0439-438A-F788-4A8B18F29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V5</a:t>
            </a:r>
            <a:endParaRPr lang="zh-CN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BC77378-FD6F-64B7-82A4-5B68AF978DA8}"/>
              </a:ext>
            </a:extLst>
          </p:cNvPr>
          <p:cNvSpPr txBox="1"/>
          <p:nvPr/>
        </p:nvSpPr>
        <p:spPr>
          <a:xfrm>
            <a:off x="384810" y="983345"/>
            <a:ext cx="61264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>
              <a:lnSpc>
                <a:spcPct val="100000"/>
              </a:lnSpc>
              <a:spcBef>
                <a:spcPts val="0"/>
              </a:spcBef>
            </a:pPr>
            <a:endParaRPr lang="en-US" altLang="zh-CN" sz="120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0">
              <a:lnSpc>
                <a:spcPct val="1000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V3</a:t>
            </a:r>
          </a:p>
          <a:p>
            <a:pPr eaLnBrk="0">
              <a:lnSpc>
                <a:spcPct val="1000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</a:rPr>
              <a:t>==== Testing horizon=156 ====</a:t>
            </a:r>
          </a:p>
          <a:p>
            <a:pPr eaLnBrk="0">
              <a:lnSpc>
                <a:spcPct val="100000"/>
              </a:lnSpc>
              <a:spcBef>
                <a:spcPts val="0"/>
              </a:spcBef>
            </a:pPr>
            <a:r>
              <a:rPr lang="en-US" altLang="zh-CN" dirty="0" err="1">
                <a:solidFill>
                  <a:srgbClr val="000000"/>
                </a:solidFill>
                <a:latin typeface="等线" panose="02010600030101010101" pitchFamily="2" charset="-122"/>
              </a:rPr>
              <a:t>mpc_linux_ioself_profiling</a:t>
            </a:r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</a:rPr>
              <a:t>: horizon=156 </a:t>
            </a:r>
            <a:r>
              <a:rPr lang="en-US" altLang="zh-CN" dirty="0" err="1">
                <a:solidFill>
                  <a:srgbClr val="000000"/>
                </a:solidFill>
                <a:latin typeface="等线" panose="02010600030101010101" pitchFamily="2" charset="-122"/>
              </a:rPr>
              <a:t>total_time</a:t>
            </a:r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</a:rPr>
              <a:t>=179364063 ns </a:t>
            </a:r>
            <a:r>
              <a:rPr lang="en-US" altLang="zh-CN" b="1" dirty="0">
                <a:solidFill>
                  <a:srgbClr val="000000"/>
                </a:solidFill>
                <a:latin typeface="等线" panose="02010600030101010101" pitchFamily="2" charset="-122"/>
              </a:rPr>
              <a:t>179.364063 </a:t>
            </a:r>
            <a:r>
              <a:rPr lang="en-US" altLang="zh-CN" b="1" dirty="0" err="1">
                <a:solidFill>
                  <a:srgbClr val="000000"/>
                </a:solidFill>
                <a:latin typeface="等线" panose="02010600030101010101" pitchFamily="2" charset="-122"/>
              </a:rPr>
              <a:t>ms</a:t>
            </a:r>
            <a:endParaRPr lang="en-US" altLang="zh-CN" b="1" dirty="0">
              <a:solidFill>
                <a:srgbClr val="000000"/>
              </a:solidFill>
              <a:latin typeface="等线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E15E2DA-84A4-F4DC-6096-46905635D327}"/>
              </a:ext>
            </a:extLst>
          </p:cNvPr>
          <p:cNvSpPr txBox="1"/>
          <p:nvPr/>
        </p:nvSpPr>
        <p:spPr>
          <a:xfrm>
            <a:off x="472592" y="3374196"/>
            <a:ext cx="61264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>
              <a:lnSpc>
                <a:spcPct val="100000"/>
              </a:lnSpc>
              <a:spcBef>
                <a:spcPts val="0"/>
              </a:spcBef>
            </a:pPr>
            <a:endParaRPr lang="en-US" altLang="zh-CN" sz="120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0">
              <a:lnSpc>
                <a:spcPct val="1000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V5</a:t>
            </a:r>
          </a:p>
          <a:p>
            <a:r>
              <a:rPr lang="en-US" altLang="zh-CN" dirty="0"/>
              <a:t>==== Testing horizon=156 (cached) ====</a:t>
            </a:r>
            <a:endParaRPr lang="zh-CN" altLang="zh-CN" dirty="0"/>
          </a:p>
          <a:p>
            <a:r>
              <a:rPr lang="en-US" altLang="zh-CN" dirty="0" err="1"/>
              <a:t>mpc_linux_ioself_profiling_cached</a:t>
            </a:r>
            <a:r>
              <a:rPr lang="en-US" altLang="zh-CN" dirty="0"/>
              <a:t>: horizon=156 </a:t>
            </a:r>
            <a:r>
              <a:rPr lang="en-US" altLang="zh-CN" dirty="0" err="1"/>
              <a:t>total_time</a:t>
            </a:r>
            <a:r>
              <a:rPr lang="en-US" altLang="zh-CN" dirty="0"/>
              <a:t>=137586230 ns </a:t>
            </a:r>
            <a:r>
              <a:rPr lang="en-US" altLang="zh-CN" b="1" dirty="0"/>
              <a:t>137.586230 </a:t>
            </a:r>
            <a:r>
              <a:rPr lang="en-US" altLang="zh-CN" b="1" dirty="0" err="1"/>
              <a:t>ms</a:t>
            </a:r>
            <a:endParaRPr lang="zh-CN" altLang="zh-CN" b="1" dirty="0"/>
          </a:p>
        </p:txBody>
      </p:sp>
    </p:spTree>
    <p:extLst>
      <p:ext uri="{BB962C8B-B14F-4D97-AF65-F5344CB8AC3E}">
        <p14:creationId xmlns:p14="http://schemas.microsoft.com/office/powerpoint/2010/main" val="9529147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EDE53-C971-2494-0C02-7B44361B7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336E7E-388D-E7CA-3AFA-6C4FABF25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zh-CN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0" indent="0" eaLnBrk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eaLnBrk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2028A2-BE45-46B8-1D77-77ADA88BFE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BF71A997-7E79-41BB-B83B-6503C36C821C}" type="slidenum">
              <a:rPr lang="en-US" altLang="zh-CN" smtClean="0"/>
              <a:t>24</a:t>
            </a:fld>
            <a:endParaRPr lang="en-US" altLang="zh-CN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D9733A34-3A8B-76F1-0312-969C69ACD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全优化数据展示</a:t>
            </a:r>
          </a:p>
        </p:txBody>
      </p:sp>
      <p:graphicFrame>
        <p:nvGraphicFramePr>
          <p:cNvPr id="7" name="图表 6">
            <a:extLst>
              <a:ext uri="{FF2B5EF4-FFF2-40B4-BE49-F238E27FC236}">
                <a16:creationId xmlns:a16="http://schemas.microsoft.com/office/drawing/2014/main" id="{65F85D3A-0762-FD04-405B-02B472CE26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1781773"/>
              </p:ext>
            </p:extLst>
          </p:nvPr>
        </p:nvGraphicFramePr>
        <p:xfrm>
          <a:off x="936346" y="719666"/>
          <a:ext cx="10124235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810578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11FC1-FA14-16D3-8690-A9881FFE3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03D9C7-1992-E929-9604-70DDE7F66E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BF71A997-7E79-41BB-B83B-6503C36C821C}" type="slidenum">
              <a:rPr lang="en-US" altLang="zh-CN" smtClean="0"/>
              <a:t>25</a:t>
            </a:fld>
            <a:endParaRPr lang="en-US" altLang="zh-CN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58C77FC-350B-DC5F-1F6D-304244F2E9E0}"/>
              </a:ext>
            </a:extLst>
          </p:cNvPr>
          <p:cNvSpPr txBox="1"/>
          <p:nvPr/>
        </p:nvSpPr>
        <p:spPr>
          <a:xfrm>
            <a:off x="4864608" y="2787091"/>
            <a:ext cx="57253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/>
              <a:t>谢谢各位！</a:t>
            </a:r>
          </a:p>
        </p:txBody>
      </p:sp>
    </p:spTree>
    <p:extLst>
      <p:ext uri="{BB962C8B-B14F-4D97-AF65-F5344CB8AC3E}">
        <p14:creationId xmlns:p14="http://schemas.microsoft.com/office/powerpoint/2010/main" val="1409799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810</TotalTime>
  <Words>3255</Words>
  <Application>Microsoft Office PowerPoint</Application>
  <PresentationFormat>宽屏</PresentationFormat>
  <Paragraphs>467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4" baseType="lpstr">
      <vt:lpstr>ui-monospace</vt:lpstr>
      <vt:lpstr>等线</vt:lpstr>
      <vt:lpstr>微软雅黑</vt:lpstr>
      <vt:lpstr>新宋体</vt:lpstr>
      <vt:lpstr>Arial</vt:lpstr>
      <vt:lpstr>Calibri</vt:lpstr>
      <vt:lpstr>Cambria Math</vt:lpstr>
      <vt:lpstr>Wingdings</vt:lpstr>
      <vt:lpstr>Office 主题​​</vt:lpstr>
      <vt:lpstr>MPC 性能优化</vt:lpstr>
      <vt:lpstr>算法介绍</vt:lpstr>
      <vt:lpstr>程序流程图</vt:lpstr>
      <vt:lpstr>MPC 性能优化</vt:lpstr>
      <vt:lpstr>MPC算法优化</vt:lpstr>
      <vt:lpstr>MPC算法优化</vt:lpstr>
      <vt:lpstr>MPC算法优化</vt:lpstr>
      <vt:lpstr>MPC 性能优化</vt:lpstr>
      <vt:lpstr>MPC算法优化</vt:lpstr>
      <vt:lpstr>MPC算法优化</vt:lpstr>
      <vt:lpstr>V2</vt:lpstr>
      <vt:lpstr>V2</vt:lpstr>
      <vt:lpstr>V3</vt:lpstr>
      <vt:lpstr>V3</vt:lpstr>
      <vt:lpstr>V3</vt:lpstr>
      <vt:lpstr>V3</vt:lpstr>
      <vt:lpstr>V4</vt:lpstr>
      <vt:lpstr>V4</vt:lpstr>
      <vt:lpstr>V5 – 原理</vt:lpstr>
      <vt:lpstr>V5</vt:lpstr>
      <vt:lpstr>V5</vt:lpstr>
      <vt:lpstr>V5</vt:lpstr>
      <vt:lpstr>V5</vt:lpstr>
      <vt:lpstr>全优化数据展示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Si Jingji(斯静吉)(UAES/MKC)</dc:creator>
  <cp:lastModifiedBy>wa chuan</cp:lastModifiedBy>
  <cp:revision>387</cp:revision>
  <dcterms:created xsi:type="dcterms:W3CDTF">2022-12-15T04:36:00Z</dcterms:created>
  <dcterms:modified xsi:type="dcterms:W3CDTF">2026-05-23T06:44:07Z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194D6D1F9F3D4224AB1EE3D4178E089F_13</vt:lpwstr>
  </property>
  <property fmtid="{D5CDD505-2E9C-101B-9397-08002B2CF9AE}" pid="3" name="KSOProductBuildVer">
    <vt:lpwstr>2052-12.1.0.25865</vt:lpwstr>
  </property>
</Properties>
</file>