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79" r:id="rId4"/>
    <p:sldId id="281" r:id="rId5"/>
    <p:sldId id="282" r:id="rId6"/>
    <p:sldId id="283" r:id="rId7"/>
    <p:sldId id="284" r:id="rId8"/>
    <p:sldId id="285" r:id="rId9"/>
    <p:sldId id="286" r:id="rId10"/>
    <p:sldId id="260" r:id="rId11"/>
    <p:sldId id="261" r:id="rId12"/>
    <p:sldId id="272" r:id="rId13"/>
    <p:sldId id="273" r:id="rId14"/>
    <p:sldId id="262" r:id="rId15"/>
    <p:sldId id="287" r:id="rId16"/>
    <p:sldId id="263" r:id="rId17"/>
    <p:sldId id="264" r:id="rId18"/>
    <p:sldId id="274" r:id="rId19"/>
    <p:sldId id="275" r:id="rId20"/>
    <p:sldId id="265" r:id="rId21"/>
    <p:sldId id="288" r:id="rId22"/>
    <p:sldId id="266" r:id="rId23"/>
    <p:sldId id="267" r:id="rId24"/>
    <p:sldId id="276" r:id="rId25"/>
    <p:sldId id="277" r:id="rId26"/>
    <p:sldId id="268" r:id="rId27"/>
    <p:sldId id="269" r:id="rId28"/>
    <p:sldId id="270" r:id="rId29"/>
    <p:sldId id="27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numFmt formatCode="0.000\ 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优化 1 后</c:v>
                </c:pt>
                <c:pt idx="2">
                  <c:v>优化 2 后</c:v>
                </c:pt>
                <c:pt idx="3">
                  <c:v>优化 3 后</c:v>
                </c:pt>
                <c:pt idx="4">
                  <c:v>优化 4 后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298.29899999999998</c:v>
                </c:pt>
                <c:pt idx="1">
                  <c:v>269.06299999999999</c:v>
                </c:pt>
                <c:pt idx="2">
                  <c:v>249.49600000000001</c:v>
                </c:pt>
                <c:pt idx="3">
                  <c:v>222.601</c:v>
                </c:pt>
                <c:pt idx="4">
                  <c:v>182.428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E48-44ED-A54B-9576A61081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7C2D0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ln>
            <a:solidFill>
              <a:srgbClr val="D7DEE7"/>
            </a:solidFill>
          </a:ln>
        </c:spPr>
        <c:txPr>
          <a:bodyPr/>
          <a:lstStyle/>
          <a:p>
            <a:pPr>
              <a:defRPr sz="1100">
                <a:latin typeface="Segoe U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invertIfNegative val="1"/>
          <c:dLbls>
            <c:numFmt formatCode="0\ &quot;n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padding</c:v>
                </c:pt>
                <c:pt idx="2">
                  <c:v>prefetch</c:v>
                </c:pt>
                <c:pt idx="3">
                  <c:v>unroll</c:v>
                </c:pt>
                <c:pt idx="4">
                  <c:v>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6523497</c:v>
                </c:pt>
                <c:pt idx="1">
                  <c:v>6354875</c:v>
                </c:pt>
                <c:pt idx="2">
                  <c:v>6369572</c:v>
                </c:pt>
                <c:pt idx="3">
                  <c:v>4942816</c:v>
                </c:pt>
                <c:pt idx="4">
                  <c:v>4855467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FAB-4DAC-AB0E-D86739744F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7C2D0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200000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ln>
            <a:solidFill>
              <a:srgbClr val="D7DEE7"/>
            </a:solidFill>
          </a:ln>
        </c:spPr>
        <c:txPr>
          <a:bodyPr/>
          <a:lstStyle/>
          <a:p>
            <a:pPr>
              <a:defRPr sz="1100">
                <a:latin typeface="Segoe U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F8A36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8B4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52B-4B4B-988B-FDEB4F127BD0}"/>
              </c:ext>
            </c:extLst>
          </c:dPt>
          <c:dPt>
            <c:idx val="1"/>
            <c:invertIfNegative val="1"/>
            <c:bubble3D val="0"/>
            <c:spPr>
              <a:solidFill>
                <a:srgbClr val="7BAFD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52B-4B4B-988B-FDEB4F127BD0}"/>
              </c:ext>
            </c:extLst>
          </c:dPt>
          <c:dPt>
            <c:idx val="2"/>
            <c:invertIfNegative val="1"/>
            <c:bubble3D val="0"/>
            <c:spPr>
              <a:solidFill>
                <a:srgbClr val="7BAFD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52B-4B4B-988B-FDEB4F127BD0}"/>
              </c:ext>
            </c:extLst>
          </c:dPt>
          <c:dPt>
            <c:idx val="3"/>
            <c:invertIfNegative val="1"/>
            <c:bubble3D val="0"/>
            <c:spPr>
              <a:solidFill>
                <a:srgbClr val="C96D1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52B-4B4B-988B-FDEB4F127BD0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252B-4B4B-988B-FDEB4F127BD0}"/>
              </c:ext>
            </c:extLst>
          </c:dPt>
          <c:dPt>
            <c:idx val="5"/>
            <c:invertIfNegative val="1"/>
            <c:bubble3D val="0"/>
            <c:spPr>
              <a:solidFill>
                <a:srgbClr val="70AD4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252B-4B4B-988B-FDEB4F127BD0}"/>
              </c:ext>
            </c:extLst>
          </c:dPt>
          <c:dLbls>
            <c:numFmt formatCode="0.000\ 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优化1</c:v>
                </c:pt>
                <c:pt idx="2">
                  <c:v>优化2</c:v>
                </c:pt>
                <c:pt idx="3">
                  <c:v>优化3</c:v>
                </c:pt>
                <c:pt idx="4">
                  <c:v>优化4</c:v>
                </c:pt>
                <c:pt idx="5">
                  <c:v>全优化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100.278387</c:v>
                </c:pt>
                <c:pt idx="1">
                  <c:v>100.008996</c:v>
                </c:pt>
                <c:pt idx="2">
                  <c:v>99.695526999999998</c:v>
                </c:pt>
                <c:pt idx="3">
                  <c:v>102.343942</c:v>
                </c:pt>
                <c:pt idx="4">
                  <c:v>29.103881999999999</c:v>
                </c:pt>
                <c:pt idx="5">
                  <c:v>30.515445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252B-4B4B-988B-FDEB4F127B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7C2D0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ln>
            <a:solidFill>
              <a:srgbClr val="D7DEE7"/>
            </a:solidFill>
          </a:ln>
        </c:spPr>
        <c:txPr>
          <a:bodyPr/>
          <a:lstStyle/>
          <a:p>
            <a:pPr>
              <a:defRPr sz="1100">
                <a:latin typeface="Segoe U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F8A36"/>
            </a:solidFill>
            <a:ln>
              <a:noFill/>
            </a:ln>
          </c:spPr>
          <c:invertIfNegative val="1"/>
          <c:dLbls>
            <c:numFmt formatCode="0.000\ 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opt1</c:v>
                </c:pt>
                <c:pt idx="2">
                  <c:v>opt2</c:v>
                </c:pt>
                <c:pt idx="3">
                  <c:v>opt3</c:v>
                </c:pt>
                <c:pt idx="4">
                  <c:v>opt4</c:v>
                </c:pt>
                <c:pt idx="5">
                  <c:v>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100.278387</c:v>
                </c:pt>
                <c:pt idx="1">
                  <c:v>100.008996</c:v>
                </c:pt>
                <c:pt idx="2">
                  <c:v>99.695526999999998</c:v>
                </c:pt>
                <c:pt idx="3">
                  <c:v>102.343942</c:v>
                </c:pt>
                <c:pt idx="4">
                  <c:v>29.103881999999999</c:v>
                </c:pt>
                <c:pt idx="5">
                  <c:v>30.515445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C38-4BFE-9F68-D27515621A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7C2D0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2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ln>
            <a:solidFill>
              <a:srgbClr val="D7DEE7"/>
            </a:solidFill>
          </a:ln>
        </c:spPr>
        <c:txPr>
          <a:bodyPr/>
          <a:lstStyle/>
          <a:p>
            <a:pPr>
              <a:defRPr sz="1100">
                <a:latin typeface="Segoe U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F0BD-40AA-AC45-DC2F3579EBE9}"/>
              </c:ext>
            </c:extLst>
          </c:dPt>
          <c:dPt>
            <c:idx val="1"/>
            <c:invertIfNegative val="1"/>
            <c:bubble3D val="0"/>
            <c:spPr>
              <a:solidFill>
                <a:srgbClr val="C55A1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0BD-40AA-AC45-DC2F3579EBE9}"/>
              </c:ext>
            </c:extLst>
          </c:dPt>
          <c:dPt>
            <c:idx val="2"/>
            <c:invertIfNegative val="1"/>
            <c:bubble3D val="0"/>
            <c:spPr>
              <a:solidFill>
                <a:srgbClr val="3F8A3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0BD-40AA-AC45-DC2F3579EBE9}"/>
              </c:ext>
            </c:extLst>
          </c:dPt>
          <c:dLbls>
            <c:numFmt formatCode="0.00\x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AES</c:v>
                </c:pt>
                <c:pt idx="1">
                  <c:v>MD5</c:v>
                </c:pt>
                <c:pt idx="2">
                  <c:v>SHA256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1.64</c:v>
                </c:pt>
                <c:pt idx="1">
                  <c:v>1.34</c:v>
                </c:pt>
                <c:pt idx="2">
                  <c:v>3.29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F0BD-40AA-AC45-DC2F3579EB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7C2D0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.6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ln>
            <a:solidFill>
              <a:srgbClr val="D7DEE7"/>
            </a:solidFill>
          </a:ln>
        </c:spPr>
        <c:txPr>
          <a:bodyPr/>
          <a:lstStyle/>
          <a:p>
            <a:pPr>
              <a:defRPr sz="1100">
                <a:latin typeface="Segoe U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B6517-7711-42DD-9E61-ADE9063EA4D3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10EF4-75D9-4BA6-B6DF-9626663D2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48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10EF4-75D9-4BA6-B6DF-9626663D2AD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511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10EF4-75D9-4BA6-B6DF-9626663D2AD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67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B9F7-A635-C3A1-7350-239717DD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D9627A-BEC3-49D9-229B-6E22B0FEC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071257-FB65-FB07-AAB6-EBB16A581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382CB0-46FA-AC27-6A3F-203DE4883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10EF4-75D9-4BA6-B6DF-9626663D2AD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28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B53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73152"/>
          </a:xfrm>
          <a:prstGeom prst="rect">
            <a:avLst/>
          </a:prstGeom>
          <a:solidFill>
            <a:srgbClr val="3F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" name="Picture 4" descr="template-foot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530352"/>
            <a:ext cx="2212848" cy="310896"/>
          </a:xfrm>
          <a:prstGeom prst="roundRect">
            <a:avLst>
              <a:gd name="adj" fmla="val 8000"/>
            </a:avLst>
          </a:prstGeom>
          <a:solidFill>
            <a:srgbClr val="ECF0F9"/>
          </a:solidFill>
          <a:ln w="12700">
            <a:solidFill>
              <a:srgbClr val="CA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Segoe UI"/>
              </a:rPr>
              <a:t>课堂研讨 / 优化分析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32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64748B"/>
                </a:solidFill>
                <a:latin typeface="Segoe UI"/>
              </a:rPr>
              <a:t>计算机系统结构</a:t>
            </a:r>
            <a:r>
              <a:rPr lang="zh-CN" altLang="en-US" sz="1400" b="0" dirty="0">
                <a:solidFill>
                  <a:srgbClr val="64748B"/>
                </a:solidFill>
                <a:latin typeface="Segoe UI"/>
              </a:rPr>
              <a:t>小组研讨</a:t>
            </a:r>
            <a:endParaRPr sz="14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6480" y="1794424"/>
            <a:ext cx="717804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3000" b="1" dirty="0">
                <a:solidFill>
                  <a:srgbClr val="1F2D3A"/>
                </a:solidFill>
                <a:latin typeface="Microsoft YaHei"/>
              </a:rPr>
              <a:t>CRYPT </a:t>
            </a:r>
            <a:r>
              <a:rPr lang="zh-CN" altLang="en-US" sz="3000" b="1" dirty="0">
                <a:solidFill>
                  <a:srgbClr val="1F2D3A"/>
                </a:solidFill>
                <a:latin typeface="Microsoft YaHei"/>
              </a:rPr>
              <a:t>算子实现优化</a:t>
            </a:r>
            <a:endParaRPr lang="en-US" altLang="zh-CN" sz="3000" b="1" dirty="0">
              <a:solidFill>
                <a:srgbClr val="1F2D3A"/>
              </a:solidFill>
              <a:latin typeface="Microsoft YaHei"/>
            </a:endParaRPr>
          </a:p>
          <a:p>
            <a:r>
              <a:rPr lang="en-US" altLang="zh-CN" sz="3000" b="1" dirty="0">
                <a:solidFill>
                  <a:srgbClr val="1F2D3A"/>
                </a:solidFill>
                <a:latin typeface="Microsoft YaHei"/>
              </a:rPr>
              <a:t>—— AES</a:t>
            </a:r>
            <a:r>
              <a:rPr lang="zh-CN" altLang="en-US" sz="3000" b="1" dirty="0">
                <a:solidFill>
                  <a:srgbClr val="1F2D3A"/>
                </a:solidFill>
                <a:latin typeface="Microsoft YaHei"/>
              </a:rPr>
              <a:t>、</a:t>
            </a:r>
            <a:r>
              <a:rPr lang="en-US" altLang="zh-CN" sz="3000" b="1" dirty="0">
                <a:solidFill>
                  <a:srgbClr val="1F2D3A"/>
                </a:solidFill>
                <a:latin typeface="Microsoft YaHei"/>
              </a:rPr>
              <a:t>MD5 </a:t>
            </a:r>
            <a:r>
              <a:rPr lang="zh-CN" altLang="en-US" sz="3000" b="1" dirty="0">
                <a:solidFill>
                  <a:srgbClr val="1F2D3A"/>
                </a:solidFill>
                <a:latin typeface="Microsoft YaHei"/>
              </a:rPr>
              <a:t>与 </a:t>
            </a:r>
            <a:r>
              <a:rPr lang="en-US" altLang="zh-CN" sz="3000" b="1" dirty="0">
                <a:solidFill>
                  <a:srgbClr val="1F2D3A"/>
                </a:solidFill>
                <a:latin typeface="Microsoft YaHei"/>
              </a:rPr>
              <a:t>SHA256 </a:t>
            </a:r>
            <a:r>
              <a:rPr lang="zh-CN" altLang="en-US" sz="3000" b="1" dirty="0">
                <a:solidFill>
                  <a:srgbClr val="1F2D3A"/>
                </a:solidFill>
                <a:latin typeface="Microsoft YaHei"/>
              </a:rPr>
              <a:t>的性能分析</a:t>
            </a:r>
          </a:p>
          <a:p>
            <a:pPr algn="l"/>
            <a:endParaRPr sz="3000" b="1" dirty="0">
              <a:solidFill>
                <a:srgbClr val="1F2D3A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7680" y="3167390"/>
            <a:ext cx="704088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700" b="0" dirty="0">
                <a:solidFill>
                  <a:srgbClr val="4D5F73"/>
                </a:solidFill>
                <a:latin typeface="Microsoft YaHei"/>
              </a:rPr>
              <a:t>基于鲲鹏平台的密码学算子优化实验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1896" y="2962654"/>
            <a:ext cx="3710243" cy="3231669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94585" y="3167853"/>
            <a:ext cx="9128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600" dirty="0">
                <a:solidFill>
                  <a:srgbClr val="64748B"/>
                </a:solidFill>
                <a:latin typeface="Segoe UI"/>
              </a:rPr>
              <a:t>小组成员</a:t>
            </a:r>
            <a:endParaRPr sz="160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94586" y="3461588"/>
            <a:ext cx="3342372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22313F"/>
                </a:solidFill>
                <a:latin typeface="Microsoft YaHei"/>
              </a:rPr>
              <a:t>第</a:t>
            </a:r>
            <a:r>
              <a:rPr lang="en-US" sz="2000" b="1" dirty="0">
                <a:solidFill>
                  <a:srgbClr val="22313F"/>
                </a:solidFill>
                <a:latin typeface="Microsoft YaHei"/>
              </a:rPr>
              <a:t>3</a:t>
            </a:r>
            <a:r>
              <a:rPr sz="2000" b="1" dirty="0">
                <a:solidFill>
                  <a:srgbClr val="22313F"/>
                </a:solidFill>
                <a:latin typeface="Microsoft YaHei"/>
              </a:rPr>
              <a:t>组</a:t>
            </a:r>
            <a:endParaRPr lang="en-US" sz="2000" b="1" dirty="0">
              <a:solidFill>
                <a:srgbClr val="22313F"/>
              </a:solidFill>
              <a:latin typeface="Microsoft YaHei"/>
            </a:endParaRPr>
          </a:p>
          <a:p>
            <a:pPr algn="l"/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赵文宇  整合 </a:t>
            </a:r>
            <a:r>
              <a:rPr lang="en-US" altLang="zh-CN" sz="2000" b="1" dirty="0">
                <a:solidFill>
                  <a:srgbClr val="22313F"/>
                </a:solidFill>
                <a:latin typeface="Microsoft YaHei"/>
              </a:rPr>
              <a:t>PPT </a:t>
            </a:r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演讲</a:t>
            </a:r>
            <a:endParaRPr lang="en-US" altLang="zh-CN" sz="2000" b="1" dirty="0">
              <a:solidFill>
                <a:srgbClr val="22313F"/>
              </a:solidFill>
              <a:latin typeface="Microsoft YaHei"/>
            </a:endParaRPr>
          </a:p>
          <a:p>
            <a:pPr algn="l"/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聂冬亮  </a:t>
            </a:r>
            <a:r>
              <a:rPr lang="en-US" altLang="zh-CN" sz="2000" b="1" dirty="0">
                <a:solidFill>
                  <a:srgbClr val="22313F"/>
                </a:solidFill>
                <a:latin typeface="Microsoft YaHei"/>
              </a:rPr>
              <a:t>MD5</a:t>
            </a:r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算法优化</a:t>
            </a:r>
            <a:endParaRPr lang="en-US" altLang="zh-CN" sz="2000" b="1" dirty="0">
              <a:solidFill>
                <a:srgbClr val="22313F"/>
              </a:solidFill>
              <a:latin typeface="Microsoft YaHei"/>
            </a:endParaRPr>
          </a:p>
          <a:p>
            <a:pPr algn="l"/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邹佳乐  </a:t>
            </a:r>
            <a:r>
              <a:rPr lang="en-US" altLang="zh-CN" sz="2000" b="1" dirty="0">
                <a:solidFill>
                  <a:srgbClr val="22313F"/>
                </a:solidFill>
                <a:latin typeface="Microsoft YaHei"/>
              </a:rPr>
              <a:t>SHA256</a:t>
            </a:r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算法优化</a:t>
            </a:r>
            <a:endParaRPr lang="en-US" altLang="zh-CN" sz="2000" b="1" dirty="0">
              <a:solidFill>
                <a:srgbClr val="22313F"/>
              </a:solidFill>
              <a:latin typeface="Microsoft YaHei"/>
            </a:endParaRPr>
          </a:p>
          <a:p>
            <a:pPr algn="l"/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韦杰恒  </a:t>
            </a:r>
            <a:r>
              <a:rPr lang="en-US" altLang="zh-CN" sz="2000" b="1" dirty="0">
                <a:solidFill>
                  <a:srgbClr val="22313F"/>
                </a:solidFill>
                <a:latin typeface="Microsoft YaHei"/>
              </a:rPr>
              <a:t>AES</a:t>
            </a:r>
            <a:r>
              <a:rPr lang="zh-CN" altLang="en-US" sz="2000" b="1" dirty="0">
                <a:solidFill>
                  <a:srgbClr val="22313F"/>
                </a:solidFill>
                <a:latin typeface="Microsoft YaHei"/>
              </a:rPr>
              <a:t>算法优化</a:t>
            </a:r>
            <a:endParaRPr sz="2000" b="1" dirty="0">
              <a:solidFill>
                <a:srgbClr val="22313F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94585" y="5114382"/>
            <a:ext cx="9128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600" dirty="0">
                <a:solidFill>
                  <a:srgbClr val="64748B"/>
                </a:solidFill>
                <a:latin typeface="+mn-ea"/>
              </a:rPr>
              <a:t>汇报</a:t>
            </a:r>
            <a:r>
              <a:rPr sz="1600" dirty="0">
                <a:solidFill>
                  <a:srgbClr val="64748B"/>
                </a:solidFill>
                <a:latin typeface="+mn-ea"/>
              </a:rPr>
              <a:t>日期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585" y="5408117"/>
            <a:ext cx="216791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22313F"/>
                </a:solidFill>
                <a:latin typeface="Microsoft YaHei"/>
              </a:rPr>
              <a:t>2026</a:t>
            </a:r>
            <a:r>
              <a:rPr lang="en-US" sz="1600" b="1" dirty="0">
                <a:solidFill>
                  <a:srgbClr val="22313F"/>
                </a:solidFill>
                <a:latin typeface="Microsoft YaHei"/>
              </a:rPr>
              <a:t>/</a:t>
            </a:r>
            <a:r>
              <a:rPr sz="1600" b="1" dirty="0">
                <a:solidFill>
                  <a:srgbClr val="22313F"/>
                </a:solidFill>
                <a:latin typeface="Microsoft YaHei"/>
              </a:rPr>
              <a:t>5</a:t>
            </a:r>
            <a:r>
              <a:rPr lang="en-US" sz="1600" b="1" dirty="0">
                <a:solidFill>
                  <a:srgbClr val="22313F"/>
                </a:solidFill>
                <a:latin typeface="Microsoft YaHei"/>
              </a:rPr>
              <a:t>/13</a:t>
            </a:r>
            <a:endParaRPr sz="1600" b="1" dirty="0">
              <a:solidFill>
                <a:srgbClr val="22313F"/>
              </a:solidFill>
              <a:latin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8368" y="5897880"/>
            <a:ext cx="7452360" cy="18288"/>
          </a:xfrm>
          <a:prstGeom prst="rect">
            <a:avLst/>
          </a:prstGeom>
          <a:solidFill>
            <a:srgbClr val="C6D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1701698" y="5852160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Oval 21"/>
          <p:cNvSpPr/>
          <p:nvPr/>
        </p:nvSpPr>
        <p:spPr>
          <a:xfrm>
            <a:off x="4235500" y="585216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Oval 22"/>
          <p:cNvSpPr/>
          <p:nvPr/>
        </p:nvSpPr>
        <p:spPr>
          <a:xfrm>
            <a:off x="6769303" y="5852160"/>
            <a:ext cx="109728" cy="10972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三算法简介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AES、MD5、SHA256 分别在做什么？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515258" cy="384048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D5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81912"/>
            <a:ext cx="768096" cy="27432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icrosoft YaHei"/>
              </a:rPr>
              <a:t>AES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4866" y="1581912"/>
            <a:ext cx="1344168" cy="274320"/>
          </a:xfrm>
          <a:prstGeom prst="roundRect">
            <a:avLst>
              <a:gd name="adj" fmla="val 8000"/>
            </a:avLst>
          </a:prstGeom>
          <a:solidFill>
            <a:srgbClr val="ECF2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00" b="0" dirty="0">
                <a:solidFill>
                  <a:srgbClr val="4E6277"/>
                </a:solidFill>
                <a:latin typeface="Segoe UI"/>
              </a:rPr>
              <a:t>16 Bytes /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5052"/>
            <a:ext cx="318607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22313F"/>
                </a:solidFill>
                <a:latin typeface="Microsoft YaHei"/>
              </a:rPr>
              <a:t>保密性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55256"/>
            <a:ext cx="3186074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4B6075"/>
                </a:solidFill>
                <a:latin typeface="Microsoft YaHei"/>
              </a:rPr>
              <a:t>把明文变成密文，并且可以按密钥还原回来。</a:t>
            </a:r>
            <a:endParaRPr lang="en-US" b="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dirty="0">
                <a:solidFill>
                  <a:srgbClr val="4B60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“对称加密算法”</a:t>
            </a:r>
            <a:endParaRPr dirty="0">
              <a:solidFill>
                <a:srgbClr val="4B60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4507992"/>
            <a:ext cx="318607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 dirty="0">
                <a:solidFill>
                  <a:srgbClr val="31465B"/>
                </a:solidFill>
                <a:latin typeface="Microsoft YaHei"/>
              </a:rPr>
              <a:t>明文  →  加密  →  密文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3840480"/>
          </a:xfrm>
          <a:prstGeom prst="roundRect">
            <a:avLst>
              <a:gd name="adj" fmla="val 8000"/>
            </a:avLst>
          </a:prstGeom>
          <a:solidFill>
            <a:srgbClr val="FCF6F3"/>
          </a:solidFill>
          <a:ln w="12700">
            <a:solidFill>
              <a:srgbClr val="F2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502810" y="1581912"/>
            <a:ext cx="768096" cy="274320"/>
          </a:xfrm>
          <a:prstGeom prst="roundRect">
            <a:avLst>
              <a:gd name="adj" fmla="val 8000"/>
            </a:avLst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icrosoft YaHei"/>
              </a:rPr>
              <a:t>MD5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4716" y="1581912"/>
            <a:ext cx="1344168" cy="274320"/>
          </a:xfrm>
          <a:prstGeom prst="roundRect">
            <a:avLst>
              <a:gd name="adj" fmla="val 8000"/>
            </a:avLst>
          </a:prstGeom>
          <a:solidFill>
            <a:srgbClr val="ECF2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00" b="0" dirty="0">
                <a:solidFill>
                  <a:srgbClr val="4E6277"/>
                </a:solidFill>
                <a:latin typeface="Segoe UI"/>
              </a:rPr>
              <a:t>128 bit digest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810" y="2020824"/>
            <a:ext cx="318607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22313F"/>
                </a:solidFill>
                <a:latin typeface="Microsoft YaHei"/>
              </a:rPr>
              <a:t>一致性校验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2555158"/>
            <a:ext cx="3186074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dirty="0">
                <a:solidFill>
                  <a:srgbClr val="4B60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“哈希”</a:t>
            </a:r>
            <a:endParaRPr lang="en-US" dirty="0">
              <a:solidFill>
                <a:srgbClr val="4B60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b="0" dirty="0">
                <a:solidFill>
                  <a:srgbClr val="4B6075"/>
                </a:solidFill>
                <a:latin typeface="Microsoft YaHei"/>
              </a:rPr>
              <a:t>为输入数据生成固定长度摘要，用于快速校验内容是否变化</a:t>
            </a:r>
            <a:endParaRPr lang="en-US" dirty="0">
              <a:solidFill>
                <a:srgbClr val="4B6075"/>
              </a:solidFill>
              <a:latin typeface="Microsoft YaHei"/>
            </a:endParaRPr>
          </a:p>
          <a:p>
            <a:pPr algn="l"/>
            <a:r>
              <a:rPr lang="zh-CN" altLang="en-US" b="0" dirty="0">
                <a:solidFill>
                  <a:srgbClr val="4B60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“不可逆”</a:t>
            </a:r>
            <a:endParaRPr b="0" dirty="0">
              <a:solidFill>
                <a:srgbClr val="4B60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02810" y="4507992"/>
            <a:ext cx="318607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 dirty="0">
                <a:solidFill>
                  <a:srgbClr val="31465B"/>
                </a:solidFill>
                <a:latin typeface="Microsoft YaHei"/>
              </a:rPr>
              <a:t>输入数据  →  摘要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8068" y="1417320"/>
            <a:ext cx="3515258" cy="3840480"/>
          </a:xfrm>
          <a:prstGeom prst="roundRect">
            <a:avLst>
              <a:gd name="adj" fmla="val 8000"/>
            </a:avLst>
          </a:prstGeom>
          <a:solidFill>
            <a:srgbClr val="F5F9F4"/>
          </a:solidFill>
          <a:ln w="12700">
            <a:solidFill>
              <a:srgbClr val="D4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8182660" y="1581912"/>
            <a:ext cx="768096" cy="274320"/>
          </a:xfrm>
          <a:prstGeom prst="roundRect">
            <a:avLst>
              <a:gd name="adj" fmla="val 8000"/>
            </a:avLst>
          </a:prstGeom>
          <a:solidFill>
            <a:srgbClr val="3F8A36"/>
          </a:solidFill>
          <a:ln w="12700">
            <a:solidFill>
              <a:srgbClr val="3F8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icrosoft YaHei"/>
              </a:rPr>
              <a:t>SHA256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24567" y="1581912"/>
            <a:ext cx="1344168" cy="274320"/>
          </a:xfrm>
          <a:prstGeom prst="roundRect">
            <a:avLst>
              <a:gd name="adj" fmla="val 8000"/>
            </a:avLst>
          </a:prstGeom>
          <a:solidFill>
            <a:srgbClr val="ECF2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00" b="0" dirty="0">
                <a:solidFill>
                  <a:srgbClr val="4E6277"/>
                </a:solidFill>
                <a:latin typeface="Segoe UI"/>
              </a:rPr>
              <a:t>256 bit digest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2660" y="2020824"/>
            <a:ext cx="318607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22313F"/>
                </a:solidFill>
                <a:latin typeface="Microsoft YaHei"/>
              </a:rPr>
              <a:t>更强摘要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2660" y="2566367"/>
            <a:ext cx="3186074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4B6075"/>
                </a:solidFill>
                <a:latin typeface="Microsoft YaHei"/>
              </a:rPr>
              <a:t>同样生成摘要，但安全性和抗碰撞能力强于 MD5。</a:t>
            </a:r>
            <a:endParaRPr lang="en-US" b="0" dirty="0">
              <a:solidFill>
                <a:srgbClr val="4B6075"/>
              </a:solidFill>
              <a:latin typeface="Microsoft YaHei"/>
            </a:endParaRPr>
          </a:p>
          <a:p>
            <a:pPr algn="l"/>
            <a:r>
              <a:rPr lang="zh-CN" altLang="en-US" dirty="0">
                <a:solidFill>
                  <a:srgbClr val="4B60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“更长”、“更安全”</a:t>
            </a:r>
            <a:endParaRPr b="0" dirty="0">
              <a:solidFill>
                <a:srgbClr val="4B60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82660" y="4507992"/>
            <a:ext cx="318607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 dirty="0">
                <a:solidFill>
                  <a:srgbClr val="31465B"/>
                </a:solidFill>
                <a:latin typeface="Microsoft YaHei"/>
              </a:rPr>
              <a:t>输入数据  →  摘要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596128"/>
            <a:ext cx="108749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34495C"/>
                </a:solidFill>
                <a:latin typeface="Microsoft YaHei"/>
              </a:rPr>
              <a:t>共同点：这次所有优化都没有改变数学算法本身，只是改写实现方式。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F3DF-9CF6-06B2-E0BA-E71E8EA7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1815B4-DCCE-810B-B0BF-D69FF42AA51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083979C8-5ABE-6319-6496-4FAE6562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25C3D4-A5A4-0669-125D-D4C4B62DAA5A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DEF30-283A-36AB-01B6-375A89660506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1FB77BB-52C3-D843-0CDD-00AE56B0E2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253"/>
          <a:stretch>
            <a:fillRect/>
          </a:stretch>
        </p:blipFill>
        <p:spPr>
          <a:xfrm>
            <a:off x="1428597" y="1345449"/>
            <a:ext cx="9334500" cy="340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1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D0EB-0402-FAD2-CAAF-D3806D01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AF93FA-E4C4-73B4-5908-84DA4E7EA3C3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C89D44FA-916D-37CF-CA1F-175C4652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5E403-4199-9621-F988-635FE2F72BC1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536C8-5E22-98F5-7124-58A102F62531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EC6BE9-4AC6-225C-DFED-3EF0F07B7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61"/>
          <a:stretch>
            <a:fillRect/>
          </a:stretch>
        </p:blipFill>
        <p:spPr>
          <a:xfrm>
            <a:off x="4937889" y="485566"/>
            <a:ext cx="6387568" cy="58868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64E71C-9E05-6D91-ECF6-48E460F3BC17}"/>
              </a:ext>
            </a:extLst>
          </p:cNvPr>
          <p:cNvSpPr txBox="1"/>
          <p:nvPr/>
        </p:nvSpPr>
        <p:spPr>
          <a:xfrm>
            <a:off x="658368" y="2326913"/>
            <a:ext cx="340196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AES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会对数据进行很多轮“复杂变换”</a:t>
            </a:r>
          </a:p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每一轮都会打乱数据位置 、替换数据内容 、混合数据 、密钥结合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13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24FE-D2BA-A96E-1AEC-7F843DCC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1CC872-98CB-2E4A-E242-F5B1A4AF2A8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3AE2B80C-CF98-1205-7701-3A443DDF4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A21D2A-1E4E-86B0-3A2E-4124D141DA53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6B7CA-E6BC-9BC7-85BC-80F8B70C2CBA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CFA1D23-4DB4-CF81-55B4-908BCCBA7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68" y="1622322"/>
            <a:ext cx="5962446" cy="173352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02D5F4A-AE07-CE9C-040E-A456278449ED}"/>
              </a:ext>
            </a:extLst>
          </p:cNvPr>
          <p:cNvSpPr txBox="1"/>
          <p:nvPr/>
        </p:nvSpPr>
        <p:spPr>
          <a:xfrm>
            <a:off x="658368" y="3702177"/>
            <a:ext cx="34019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将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16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字节的数据放到一个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4*4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的矩阵中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8E12A3C-EB78-1BA2-ED56-E301B565B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548" y="2238829"/>
            <a:ext cx="6205384" cy="225232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EDC796F-7C42-E3F7-4658-A652FAE3419E}"/>
              </a:ext>
            </a:extLst>
          </p:cNvPr>
          <p:cNvSpPr txBox="1"/>
          <p:nvPr/>
        </p:nvSpPr>
        <p:spPr>
          <a:xfrm>
            <a:off x="6169349" y="4824227"/>
            <a:ext cx="34019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Microsoft YaHei"/>
              </a:rPr>
              <a:t>将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Microsoft YaHei"/>
              </a:rPr>
              <a:t>16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Microsoft YaHei"/>
              </a:rPr>
              <a:t>字节的密钥放到一个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Microsoft YaHei"/>
              </a:rPr>
              <a:t>4*4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Microsoft YaHei"/>
              </a:rPr>
              <a:t>的矩阵中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47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0E66-9B35-E31F-4F92-D26852E88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DFEA60-ED0C-E8B1-56A6-918DB4541D7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39E628B2-69E2-9584-06F1-C6731E347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333906-791F-E84D-DCE5-172BE3411D0E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3905D-5B70-17A5-6A1E-6032C54A3E1D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5B6224-6662-7890-C30A-2E432E15498A}"/>
              </a:ext>
            </a:extLst>
          </p:cNvPr>
          <p:cNvSpPr txBox="1"/>
          <p:nvPr/>
        </p:nvSpPr>
        <p:spPr>
          <a:xfrm>
            <a:off x="658368" y="2326913"/>
            <a:ext cx="34019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将两个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4*4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矩阵按每个字节相异或进行计算，得到一个新的矩阵，这样就完成了轮密钥加。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DB19F2-1D5B-1E04-64C5-67C69A2D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8" y="993267"/>
            <a:ext cx="60960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8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905F-E61D-8CFC-ED35-32F137D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677E8-142F-C980-640E-4FECE17D6B8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B9ABBB85-0885-3F5D-A9DE-FB268F0E6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08AABC-31E1-F520-65E1-7C98502C42CA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40D63-A7B7-7AA4-3F4E-BA35EE7A546E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0CD50B-7B44-2C38-6C1D-9964297FE150}"/>
              </a:ext>
            </a:extLst>
          </p:cNvPr>
          <p:cNvSpPr txBox="1"/>
          <p:nvPr/>
        </p:nvSpPr>
        <p:spPr>
          <a:xfrm>
            <a:off x="537789" y="2326913"/>
            <a:ext cx="3803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字节代替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/S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盒替换</a:t>
            </a:r>
            <a:endParaRPr lang="en-US" altLang="zh-CN" sz="280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以十六进制的第一个数字为</a:t>
            </a:r>
            <a:r>
              <a:rPr lang="zh-CN" altLang="en-US" sz="2800" b="1" u="sng" dirty="0">
                <a:solidFill>
                  <a:srgbClr val="4B6075"/>
                </a:solidFill>
                <a:latin typeface="Microsoft YaHei"/>
              </a:rPr>
              <a:t>行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，第二个数字为</a:t>
            </a:r>
            <a:r>
              <a:rPr lang="zh-CN" altLang="en-US" sz="2800" b="1" u="sng" dirty="0">
                <a:solidFill>
                  <a:srgbClr val="4B6075"/>
                </a:solidFill>
                <a:latin typeface="Microsoft YaHei"/>
              </a:rPr>
              <a:t>列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，在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S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盒表中查找对应的数字，用这个数字来代替原先的数字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352A68-7C51-94B6-84CB-DC4C2B573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3" y="1545041"/>
            <a:ext cx="7240837" cy="376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58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7E92-9DF1-AB09-AFBD-D9568FDA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A9A101-A8BF-56BD-90BB-9271F236BEE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E7B961E0-B70B-2DD4-639D-9939DFCE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3FDCF9-7BDE-87EA-16EB-0802929DF7A5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52419-651E-339C-6CCE-08FAE11FFA3D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F2F7C1-ADBE-9E1E-5EE2-D528FFE9B797}"/>
              </a:ext>
            </a:extLst>
          </p:cNvPr>
          <p:cNvSpPr txBox="1"/>
          <p:nvPr/>
        </p:nvSpPr>
        <p:spPr>
          <a:xfrm>
            <a:off x="537789" y="2326913"/>
            <a:ext cx="29891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行移位</a:t>
            </a:r>
            <a:endParaRPr lang="en-US" altLang="zh-CN" sz="280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第一行不变，第二行环左移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1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位，第三行环左移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2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位</a:t>
            </a:r>
            <a:r>
              <a:rPr lang="zh-CN" altLang="en-US" sz="2800">
                <a:solidFill>
                  <a:srgbClr val="4B6075"/>
                </a:solidFill>
                <a:latin typeface="Microsoft YaHei"/>
              </a:rPr>
              <a:t>，第四行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环左移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3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位。</a:t>
            </a:r>
            <a:endParaRPr lang="en-US" altLang="zh-CN" sz="2800" dirty="0">
              <a:solidFill>
                <a:srgbClr val="4B6075"/>
              </a:solidFill>
              <a:latin typeface="Microsoft YaHe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B10EAA-A293-7799-1CCF-687EFB73C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388" y="2264893"/>
            <a:ext cx="8050823" cy="30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13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42D12-4DEF-9F65-F0D5-319FA2EE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863F01-F7A9-7903-B728-15196C7840C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686CB9D9-CE6D-B9E5-2823-CB0D5FF34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E3CFD9-3AB4-E86B-20CC-95246B5E3952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 err="1">
                <a:solidFill>
                  <a:srgbClr val="64748B"/>
                </a:solidFill>
                <a:latin typeface="Segoe UI"/>
              </a:rPr>
              <a:t>AES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简介</a:t>
            </a:r>
            <a:endParaRPr sz="1100" b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F6265-A92F-FD76-81CD-B88409580969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7CFD92-CBB9-111C-20B5-804F832916DB}"/>
              </a:ext>
            </a:extLst>
          </p:cNvPr>
          <p:cNvSpPr txBox="1"/>
          <p:nvPr/>
        </p:nvSpPr>
        <p:spPr>
          <a:xfrm>
            <a:off x="2029968" y="5011412"/>
            <a:ext cx="132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矩阵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C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226534-D6B9-D718-B34E-0BA15FB2F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5" r="23496"/>
          <a:stretch>
            <a:fillRect/>
          </a:stretch>
        </p:blipFill>
        <p:spPr>
          <a:xfrm>
            <a:off x="568409" y="1876179"/>
            <a:ext cx="4405525" cy="30594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0F30D9-40E7-B02E-E6D8-41BE8F2F8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581" y="1546039"/>
            <a:ext cx="6592177" cy="36379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12C5F4B-BE86-6862-26C3-43148C63A301}"/>
              </a:ext>
            </a:extLst>
          </p:cNvPr>
          <p:cNvSpPr txBox="1"/>
          <p:nvPr/>
        </p:nvSpPr>
        <p:spPr>
          <a:xfrm>
            <a:off x="6008914" y="5273022"/>
            <a:ext cx="5295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进行列混淆 矩阵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a</a:t>
            </a:r>
            <a:r>
              <a:rPr lang="zh-CN" altLang="en-US" sz="2800" dirty="0">
                <a:solidFill>
                  <a:srgbClr val="4B6075"/>
                </a:solidFill>
                <a:latin typeface="Microsoft YaHei"/>
              </a:rPr>
              <a:t>左乘矩阵</a:t>
            </a:r>
            <a:r>
              <a:rPr lang="en-US" altLang="zh-CN" sz="2800" dirty="0">
                <a:solidFill>
                  <a:srgbClr val="4B6075"/>
                </a:solidFill>
                <a:latin typeface="Microsoft YaHei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8304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AES 流程与瓶颈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 为什么慢在“固定结构被写得太通用”？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49240" cy="475488"/>
          </a:xfrm>
          <a:prstGeom prst="roundRect">
            <a:avLst>
              <a:gd name="adj" fmla="val 8000"/>
            </a:avLst>
          </a:prstGeom>
          <a:solidFill>
            <a:srgbClr val="E1EDF7"/>
          </a:solidFill>
          <a:ln w="12700">
            <a:solidFill>
              <a:srgbClr val="D5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7405E"/>
                </a:solidFill>
                <a:latin typeface="Microsoft YaHei"/>
              </a:rPr>
              <a:t>输入数据   →   16B 分块   →   轮变换   →   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53492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59536" y="2340864"/>
            <a:ext cx="146304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dirty="0">
                <a:solidFill>
                  <a:srgbClr val="22313F"/>
                </a:solidFill>
                <a:latin typeface="Microsoft YaHei"/>
              </a:rPr>
              <a:t>执行特征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51760"/>
            <a:ext cx="4946904" cy="93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 b="0" dirty="0">
                <a:solidFill>
                  <a:srgbClr val="33485C"/>
                </a:solidFill>
                <a:latin typeface="Microsoft YaHei"/>
              </a:rPr>
              <a:t>• AES 状态大小固定为 16 字节，AES-256 共 14 轮。</a:t>
            </a:r>
          </a:p>
          <a:p>
            <a:pPr>
              <a:spcAft>
                <a:spcPts val="500"/>
              </a:spcAft>
            </a:pPr>
            <a:r>
              <a:rPr sz="1550" b="0" dirty="0">
                <a:solidFill>
                  <a:srgbClr val="33485C"/>
                </a:solidFill>
                <a:latin typeface="Microsoft YaHei"/>
              </a:rPr>
              <a:t>• 测试代码实际跑的是“加密 + 解密”整条路径。</a:t>
            </a:r>
          </a:p>
          <a:p>
            <a:pPr>
              <a:spcAft>
                <a:spcPts val="500"/>
              </a:spcAft>
            </a:pPr>
            <a:r>
              <a:rPr sz="1550" b="0" dirty="0">
                <a:solidFill>
                  <a:srgbClr val="33485C"/>
                </a:solidFill>
                <a:latin typeface="Microsoft YaHei"/>
              </a:rPr>
              <a:t>• 每块都要经历轮密钥扩展与多轮状态变换。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81328"/>
            <a:ext cx="50749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1682496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热路径集中在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57400"/>
            <a:ext cx="1289304" cy="310896"/>
          </a:xfrm>
          <a:prstGeom prst="roundRect">
            <a:avLst>
              <a:gd name="adj" fmla="val 8000"/>
            </a:avLst>
          </a:prstGeom>
          <a:solidFill>
            <a:srgbClr val="DEEBF6"/>
          </a:solidFill>
          <a:ln w="12700">
            <a:solidFill>
              <a:srgbClr val="B5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inv_shift_rows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63256" y="2057400"/>
            <a:ext cx="1211580" cy="310896"/>
          </a:xfrm>
          <a:prstGeom prst="roundRect">
            <a:avLst>
              <a:gd name="adj" fmla="val 8000"/>
            </a:avLst>
          </a:prstGeom>
          <a:solidFill>
            <a:srgbClr val="DEEBF6"/>
          </a:solidFill>
          <a:ln w="12700">
            <a:solidFill>
              <a:srgbClr val="B5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inv_sub_bytes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7988" y="2057400"/>
            <a:ext cx="1211580" cy="310896"/>
          </a:xfrm>
          <a:prstGeom prst="roundRect">
            <a:avLst>
              <a:gd name="adj" fmla="val 8000"/>
            </a:avLst>
          </a:prstGeom>
          <a:solidFill>
            <a:srgbClr val="DEEBF6"/>
          </a:solidFill>
          <a:ln w="12700">
            <a:solidFill>
              <a:srgbClr val="B5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add_round_key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441448"/>
            <a:ext cx="1367028" cy="310896"/>
          </a:xfrm>
          <a:prstGeom prst="roundRect">
            <a:avLst>
              <a:gd name="adj" fmla="val 8000"/>
            </a:avLst>
          </a:prstGeom>
          <a:solidFill>
            <a:srgbClr val="DEEBF6"/>
          </a:solidFill>
          <a:ln w="12700">
            <a:solidFill>
              <a:srgbClr val="B5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inv_mix_columns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16352"/>
            <a:ext cx="4672584" cy="8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原始写法偏通用，循环、索引和中间搬运偏多。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问题不在“算法太复杂”，而在“固定结构没有被专用化”。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AES 优化分析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核心主线：固定 16 字节状态的专用化实现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577452"/>
              </p:ext>
            </p:extLst>
          </p:nvPr>
        </p:nvGraphicFramePr>
        <p:xfrm>
          <a:off x="658368" y="1417320"/>
          <a:ext cx="1087495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4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43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原始问题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3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优化方法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3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为什么更快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固定 4 行却仍用循环处理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Consolas"/>
                        </a:rPr>
                        <a:t>inv_shift_rows 循环展开，直接写死 4 行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去掉轮内循环控制，减少分支和索引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双层循环做 16 次查表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Consolas"/>
                        </a:rPr>
                        <a:t>inv_sub_bytes 改成 16 次固定查表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固定访问序列更直接，减少循环开销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轮密钥定位在热路径中重复计算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Consolas"/>
                        </a:rPr>
                        <a:t>add_round_key 提前定位轮密钥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压缩地址计算与偏移换算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列混合存在中间数组和额外调用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Consolas"/>
                        </a:rPr>
                        <a:t>inv_mix_columns 直接列内计算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3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减少临时搬运，命中真正热路径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AES 代码级优化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AES：inv_mix_columns 的热路径优化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349240" cy="3026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E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453896"/>
            <a:ext cx="5020056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优化前：提取列 + 调函数 + 回写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5020056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Segoe UI"/>
              </a:rPr>
              <a:t>中间数组与辅助函数都在热路径上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84248"/>
            <a:ext cx="5020056" cy="22069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>
              <a:spcAft>
                <a:spcPts val="50"/>
              </a:spcAft>
            </a:pPr>
            <a:r>
              <a:rPr lang="en-US" sz="1180" b="0" dirty="0">
                <a:solidFill>
                  <a:srgbClr val="6F7D8C"/>
                </a:solidFill>
                <a:latin typeface="Segoe UI"/>
              </a:rPr>
              <a:t> </a:t>
            </a:r>
            <a:r>
              <a:rPr sz="1180" b="0" dirty="0">
                <a:solidFill>
                  <a:srgbClr val="6F7D8C"/>
                </a:solidFill>
                <a:latin typeface="Segoe UI"/>
              </a:rPr>
              <a:t>1  </a:t>
            </a:r>
            <a:r>
              <a:rPr lang="en-US" sz="1180" b="0" dirty="0">
                <a:solidFill>
                  <a:srgbClr val="6F7D8C"/>
                </a:solidFill>
                <a:latin typeface="Segoe UI"/>
              </a:rPr>
              <a:t>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for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(int c = 0; c &lt; 4; ++c) {</a:t>
            </a:r>
            <a:r>
              <a:rPr lang="en-US" sz="1220" dirty="0">
                <a:solidFill>
                  <a:srgbClr val="2E3B49"/>
                </a:solidFill>
                <a:latin typeface="Consolas"/>
              </a:rPr>
              <a:t>    </a:t>
            </a:r>
          </a:p>
          <a:p>
            <a:pPr>
              <a:spcAft>
                <a:spcPts val="50"/>
              </a:spcAft>
            </a:pPr>
            <a:r>
              <a:rPr lang="en-US" sz="1180" b="0" dirty="0">
                <a:solidFill>
                  <a:srgbClr val="6F7D8C"/>
                </a:solidFill>
                <a:latin typeface="Segoe UI"/>
              </a:rPr>
              <a:t> </a:t>
            </a:r>
            <a:r>
              <a:rPr sz="1180" b="0" dirty="0">
                <a:solidFill>
                  <a:srgbClr val="6F7D8C"/>
                </a:solidFill>
                <a:latin typeface="Segoe UI"/>
              </a:rPr>
              <a:t>2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    uint8_t </a:t>
            </a:r>
            <a:r>
              <a:rPr sz="1220" b="1" dirty="0">
                <a:solidFill>
                  <a:srgbClr val="B04B35"/>
                </a:solidFill>
                <a:latin typeface="Consolas"/>
              </a:rPr>
              <a:t>col[4]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= {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3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    state[c], state[c+4],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4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    state[c+8], state[c+12]};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5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    uint8_t </a:t>
            </a:r>
            <a:r>
              <a:rPr sz="1220" b="1" dirty="0">
                <a:solidFill>
                  <a:srgbClr val="B04B35"/>
                </a:solidFill>
                <a:latin typeface="Consolas"/>
              </a:rPr>
              <a:t>res[4]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6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coef_mult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(col, res);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7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state[c]    = </a:t>
            </a:r>
            <a:r>
              <a:rPr sz="1220" b="1" dirty="0">
                <a:solidFill>
                  <a:srgbClr val="B04B35"/>
                </a:solidFill>
                <a:latin typeface="Consolas"/>
              </a:rPr>
              <a:t>res[0]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8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state[c+4]  = res[1];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9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state[c+8]  = res[2];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10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</a:t>
            </a:r>
            <a:r>
              <a:rPr lang="en-US" sz="1220" b="0" dirty="0">
                <a:solidFill>
                  <a:srgbClr val="2E3B49"/>
                </a:solidFill>
                <a:latin typeface="Consolas"/>
              </a:rPr>
              <a:t>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state[c+12] = res[3];}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58384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ED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336792" y="1453896"/>
            <a:ext cx="5029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优化后：s0/s1/s2/s3 原地计算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09928"/>
            <a:ext cx="50292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Segoe UI"/>
              </a:rPr>
              <a:t>直接在状态字节上完成列混合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984248"/>
            <a:ext cx="50292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1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uint8_t </a:t>
            </a:r>
            <a:r>
              <a:rPr sz="1220" b="1" dirty="0">
                <a:solidFill>
                  <a:srgbClr val="8B5A2B"/>
                </a:solidFill>
                <a:latin typeface="Consolas"/>
              </a:rPr>
              <a:t>s0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= state[0], </a:t>
            </a:r>
            <a:r>
              <a:rPr sz="1220" b="1" dirty="0">
                <a:solidFill>
                  <a:srgbClr val="8B5A2B"/>
                </a:solidFill>
                <a:latin typeface="Consolas"/>
              </a:rPr>
              <a:t>s1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= state[4];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2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uint8_t </a:t>
            </a:r>
            <a:r>
              <a:rPr sz="1220" b="1" dirty="0">
                <a:solidFill>
                  <a:srgbClr val="8B5A2B"/>
                </a:solidFill>
                <a:latin typeface="Consolas"/>
              </a:rPr>
              <a:t>s2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= state[8], </a:t>
            </a:r>
            <a:r>
              <a:rPr sz="1220" b="1" dirty="0">
                <a:solidFill>
                  <a:srgbClr val="8B5A2B"/>
                </a:solidFill>
                <a:latin typeface="Consolas"/>
              </a:rPr>
              <a:t>s3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= state[12];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3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state[0]  = mul14[s0] ^ mul11[s1] ^ ...;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4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state[4]  = mul9[s0]  ^ mul14[s1] ^ ...;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5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state[8]  = mul13[s0] ^ mul9[s1]  ^ ...;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6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state[12] = mul11[s0] ^ mul13[s1] ^ ...;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7  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8  </a:t>
            </a:r>
            <a:r>
              <a:rPr sz="1220" b="0" dirty="0">
                <a:solidFill>
                  <a:srgbClr val="6F7D8C"/>
                </a:solidFill>
                <a:latin typeface="Consolas"/>
              </a:rPr>
              <a:t>// 直接原地算完并回写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9  </a:t>
            </a:r>
            <a:r>
              <a:rPr sz="1220" b="0" dirty="0">
                <a:solidFill>
                  <a:srgbClr val="6F7D8C"/>
                </a:solidFill>
                <a:latin typeface="Consolas"/>
              </a:rPr>
              <a:t>// 不再显式构造 col[4] / res[4]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" y="4500941"/>
            <a:ext cx="5074920" cy="1632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626864"/>
            <a:ext cx="1536192" cy="249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1" dirty="0">
                <a:solidFill>
                  <a:srgbClr val="22313F"/>
                </a:solidFill>
                <a:latin typeface="Microsoft YaHei"/>
              </a:rPr>
              <a:t>执行路径变化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46904"/>
            <a:ext cx="804672" cy="347472"/>
          </a:xfrm>
          <a:prstGeom prst="roundRect">
            <a:avLst>
              <a:gd name="adj" fmla="val 8000"/>
            </a:avLst>
          </a:prstGeom>
          <a:solidFill>
            <a:srgbClr val="BDC6D2"/>
          </a:solidFill>
          <a:ln w="10160">
            <a:solidFill>
              <a:srgbClr val="BD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9072" y="4919472"/>
            <a:ext cx="649224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提取列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8296" y="4999452"/>
            <a:ext cx="182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6" y="4919472"/>
            <a:ext cx="658368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col[4]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7540" y="498671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4919472"/>
            <a:ext cx="731520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coef_mult()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6220" y="500795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87952" y="4919472"/>
            <a:ext cx="649224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res[4]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029200"/>
            <a:ext cx="35651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10912" y="4919472"/>
            <a:ext cx="548640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回写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22392"/>
            <a:ext cx="804672" cy="347472"/>
          </a:xfrm>
          <a:prstGeom prst="roundRect">
            <a:avLst>
              <a:gd name="adj" fmla="val 8000"/>
            </a:avLst>
          </a:prstGeom>
          <a:solidFill>
            <a:srgbClr val="5680C9"/>
          </a:solidFill>
          <a:ln w="10160">
            <a:solidFill>
              <a:srgbClr val="568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394960"/>
            <a:ext cx="1097280" cy="402336"/>
          </a:xfrm>
          <a:prstGeom prst="roundRect">
            <a:avLst>
              <a:gd name="adj" fmla="val 8000"/>
            </a:avLst>
          </a:prstGeom>
          <a:solidFill>
            <a:srgbClr val="E4EBF6"/>
          </a:solidFill>
          <a:ln w="10160">
            <a:solidFill>
              <a:srgbClr val="C3D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读 s0..s3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0672" y="5394960"/>
            <a:ext cx="1097280" cy="402336"/>
          </a:xfrm>
          <a:prstGeom prst="roundRect">
            <a:avLst>
              <a:gd name="adj" fmla="val 8000"/>
            </a:avLst>
          </a:prstGeom>
          <a:solidFill>
            <a:srgbClr val="E4EBF6"/>
          </a:solidFill>
          <a:ln w="10160">
            <a:solidFill>
              <a:srgbClr val="C3D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原地异或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7952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5394960"/>
            <a:ext cx="1097280" cy="402336"/>
          </a:xfrm>
          <a:prstGeom prst="roundRect">
            <a:avLst>
              <a:gd name="adj" fmla="val 8000"/>
            </a:avLst>
          </a:prstGeom>
          <a:solidFill>
            <a:srgbClr val="E4EBF6"/>
          </a:solidFill>
          <a:ln w="10160">
            <a:solidFill>
              <a:srgbClr val="C3D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直接回写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480560"/>
            <a:ext cx="5358384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336792" y="4608576"/>
            <a:ext cx="5029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为什么更快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901184"/>
            <a:ext cx="50292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减少临时数组访存，col[4] / res[4] 不再频繁落到内存路径。</a:t>
            </a:r>
          </a:p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减少函数调用与参数传递，热路径更短，控制边界更少。</a:t>
            </a:r>
          </a:p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减少中间搬运，状态字节更容易在寄存器里被连续复用。</a:t>
            </a:r>
          </a:p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对 CPU 来说更像连续的算术块，而不是“取列-调用-回写”的碎片化路径。</a:t>
            </a:r>
          </a:p>
        </p:txBody>
      </p:sp>
    </p:spTree>
    <p:extLst>
      <p:ext uri="{BB962C8B-B14F-4D97-AF65-F5344CB8AC3E}">
        <p14:creationId xmlns:p14="http://schemas.microsoft.com/office/powerpoint/2010/main" val="213274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AES 代码级优化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AES：固定 16 字节状态上的循环展开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796942"/>
              </p:ext>
            </p:extLst>
          </p:nvPr>
        </p:nvGraphicFramePr>
        <p:xfrm>
          <a:off x="658368" y="1389888"/>
          <a:ext cx="10874958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9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2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热路径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优化前：通用循环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优化后：固定 16B 专用化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CPU 视角收益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4472C4"/>
                          </a:solidFill>
                          <a:latin typeface="Consolas"/>
                        </a:rPr>
                        <a:t>inv_shift_rows</a:t>
                      </a:r>
                    </a:p>
                  </a:txBody>
                  <a:tcPr marL="88900" marR="88900" marT="63500" marB="6350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双层循环按行搬移；位置通过 Nb*i+j 计算。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Consolas"/>
                        </a:rPr>
                        <a:t>直接写死 state[0..15] 的目标位置，不再绕经通用索引。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少地址计算，固定访问序列更利于寄存器重命名与流水线保持。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4472C4"/>
                          </a:solidFill>
                          <a:latin typeface="Consolas"/>
                        </a:rPr>
                        <a:t>inv_sub_bytes</a:t>
                      </a:r>
                    </a:p>
                  </a:txBody>
                  <a:tcPr marL="88900" marR="88900" marT="63500" marB="6350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16 次替换藏在循环里，循环控制与索引一起重复出现。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Consolas"/>
                        </a:rPr>
                        <a:t>顺序访问 state[0..15]，把固定 16 字节问题改成固定 16 次查表。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减少循环分支，查表序列更紧凑。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4472C4"/>
                          </a:solidFill>
                          <a:latin typeface="Consolas"/>
                        </a:rPr>
                        <a:t>add_round_key</a:t>
                      </a:r>
                    </a:p>
                  </a:txBody>
                  <a:tcPr marL="88900" marR="88900" marT="63500" marB="6350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轮内反复算轮密钥偏移，边走边做地址换算。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Consolas"/>
                        </a:rPr>
                        <a:t>先预定位 round_key，再顺序异或 16 个状态字节。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少偏移计算，访存与异或更像线性块。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212080"/>
            <a:ext cx="10874959" cy="93268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5321808"/>
            <a:ext cx="2011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dirty="0">
                <a:solidFill>
                  <a:srgbClr val="4472C4"/>
                </a:solidFill>
                <a:latin typeface="Microsoft YaHei"/>
              </a:rPr>
              <a:t>固定状态专用化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45775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AES 的核心收益不是算法改变，而是把固定 16B 的状态处理从“通用循环 + 地址计算”改成“专用实现 + 固定访问顺序”。当问题规模固定时，代码也可以固定下来，这正是体系结构层收益的来源。</a:t>
            </a:r>
          </a:p>
        </p:txBody>
      </p:sp>
    </p:spTree>
    <p:extLst>
      <p:ext uri="{BB962C8B-B14F-4D97-AF65-F5344CB8AC3E}">
        <p14:creationId xmlns:p14="http://schemas.microsoft.com/office/powerpoint/2010/main" val="205836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AES 性能结果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多个热路径一起压缩常数开销，带来稳定提速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321808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49560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1MB 分阶段累计效果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865376"/>
          <a:ext cx="493776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419088" y="6038797"/>
            <a:ext cx="496519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中大规模趋势稳定，小规模点位有波动，但整体提速方向一致。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43CBD05-95F2-270D-0373-99BE3CA6D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68" y="1238525"/>
            <a:ext cx="7947597" cy="4539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E484-28FF-C106-DC8B-5F6F97E7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D1303A-42B6-1E60-0DE4-A895DD4975E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ED3023B1-5D86-F2D6-E881-81A118AE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8831F8-917F-9AE9-E76D-218DDA8280E1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4748B"/>
                </a:solidFill>
                <a:latin typeface="Segoe UI"/>
              </a:rPr>
              <a:t>MD5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简介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8BAAE-5BA1-DABD-A2F5-1896EE0CB007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dirty="0">
                <a:solidFill>
                  <a:srgbClr val="1F2D3A"/>
                </a:solidFill>
                <a:latin typeface="Microsoft YaHei"/>
              </a:rPr>
              <a:t>MD5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BA7D93-CCA8-4081-2700-62BF6DEA397D}"/>
              </a:ext>
            </a:extLst>
          </p:cNvPr>
          <p:cNvSpPr txBox="1"/>
          <p:nvPr/>
        </p:nvSpPr>
        <p:spPr>
          <a:xfrm>
            <a:off x="306675" y="1212552"/>
            <a:ext cx="506919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数据填充：将输入数据长度填充至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512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位的整数倍减去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64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位。填充规则是先补一个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1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，再补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0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，</a:t>
            </a:r>
          </a:p>
          <a:p>
            <a:endParaRPr lang="zh-CN" altLang="en-US" sz="200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分块处理：将填充后的数据分割为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512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位的块，每块再分为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16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个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32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位的小端字节序整数。</a:t>
            </a:r>
          </a:p>
          <a:p>
            <a:endParaRPr lang="zh-CN" altLang="en-US" sz="200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缓冲区初始化：初始化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4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个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32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位寄存器（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A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、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B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、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C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、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D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）：</a:t>
            </a:r>
          </a:p>
          <a:p>
            <a:endParaRPr lang="en-US" altLang="zh-CN" sz="200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压缩函数处理：对每个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512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位数据块进行四轮循环运算，每轮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16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步，通过非线性函数、移位和加法运算更新寄存器的值。</a:t>
            </a:r>
            <a:endParaRPr lang="en-US" altLang="zh-CN" sz="2000" dirty="0">
              <a:solidFill>
                <a:srgbClr val="4B6075"/>
              </a:solidFill>
              <a:latin typeface="Microsoft YaHei"/>
            </a:endParaRPr>
          </a:p>
          <a:p>
            <a:endParaRPr lang="en-US" altLang="zh-CN" sz="2000" dirty="0">
              <a:solidFill>
                <a:srgbClr val="4B6075"/>
              </a:solidFill>
              <a:latin typeface="Microsoft YaHei"/>
            </a:endParaRPr>
          </a:p>
          <a:p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最后将处理完所有块后的寄存器值拼接，得到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128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位的</a:t>
            </a:r>
            <a:r>
              <a:rPr lang="en-US" altLang="zh-CN" sz="2000" dirty="0">
                <a:solidFill>
                  <a:srgbClr val="4B6075"/>
                </a:solidFill>
                <a:latin typeface="Microsoft YaHei"/>
              </a:rPr>
              <a:t>MD5</a:t>
            </a:r>
            <a:r>
              <a:rPr lang="zh-CN" altLang="en-US" sz="2000" dirty="0">
                <a:solidFill>
                  <a:srgbClr val="4B6075"/>
                </a:solidFill>
                <a:latin typeface="Microsoft YaHei"/>
              </a:rPr>
              <a:t>哈希值。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443F49-862E-27C7-0908-D107FAD3A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525" y="191616"/>
            <a:ext cx="5921354" cy="63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2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MD5 流程与瓶颈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MD5 最值得盯住的是 64 轮主循环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01368"/>
            <a:ext cx="5349240" cy="475488"/>
          </a:xfrm>
          <a:prstGeom prst="roundRect">
            <a:avLst>
              <a:gd name="adj" fmla="val 8000"/>
            </a:avLst>
          </a:prstGeom>
          <a:solidFill>
            <a:srgbClr val="FBE7D9"/>
          </a:solidFill>
          <a:ln w="12700">
            <a:solidFill>
              <a:srgbClr val="F2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7405E"/>
                </a:solidFill>
                <a:latin typeface="Microsoft YaHei"/>
              </a:rPr>
              <a:t>输入   →   padding   →   512bit 分块   →   64 轮压缩   →   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6888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59536" y="2715768"/>
            <a:ext cx="4946904" cy="93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 b="0" dirty="0">
                <a:solidFill>
                  <a:srgbClr val="33485C"/>
                </a:solidFill>
                <a:latin typeface="Microsoft YaHei"/>
              </a:rPr>
              <a:t>• 每块大小 64 Bytes，会拆成 16 个 32 位字。</a:t>
            </a:r>
          </a:p>
          <a:p>
            <a:pPr>
              <a:spcAft>
                <a:spcPts val="500"/>
              </a:spcAft>
            </a:pPr>
            <a:r>
              <a:rPr sz="1550" b="0" dirty="0">
                <a:solidFill>
                  <a:srgbClr val="33485C"/>
                </a:solidFill>
                <a:latin typeface="Microsoft YaHei"/>
              </a:rPr>
              <a:t>• 每块执行 64 轮主循环，持续更新 A / B / C / D。</a:t>
            </a:r>
          </a:p>
          <a:p>
            <a:pPr>
              <a:spcAft>
                <a:spcPts val="500"/>
              </a:spcAft>
            </a:pPr>
            <a:r>
              <a:rPr sz="1550" b="0" dirty="0">
                <a:solidFill>
                  <a:srgbClr val="33485C"/>
                </a:solidFill>
                <a:latin typeface="Microsoft YaHei"/>
              </a:rPr>
              <a:t>• 真正高频执行的部分，是块内反复跑的主循环。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01368"/>
            <a:ext cx="5074920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9D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2002536"/>
            <a:ext cx="2194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原始实现的瓶颈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672584" cy="92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每轮都有条件判断。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每轮都要算索引和 %16。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控制流和索引开销被重复放大了 64 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23360"/>
            <a:ext cx="4672584" cy="475488"/>
          </a:xfrm>
          <a:prstGeom prst="roundRect">
            <a:avLst>
              <a:gd name="adj" fmla="val 8000"/>
            </a:avLst>
          </a:prstGeom>
          <a:solidFill>
            <a:srgbClr val="FBE7D9"/>
          </a:solidFill>
          <a:ln w="12700">
            <a:solidFill>
              <a:srgbClr val="FB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350" b="0" dirty="0">
                <a:solidFill>
                  <a:srgbClr val="7B431C"/>
                </a:solidFill>
                <a:latin typeface="Microsoft YaHei"/>
              </a:rPr>
              <a:t>一句话：前后处理不是主矛盾，64 轮主循环才是。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23360"/>
            <a:ext cx="73152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MD5 优化分析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AArch64 路径下，把 64 轮热路径尽量压平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26464"/>
            <a:ext cx="4535424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AD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核心优化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56816"/>
            <a:ext cx="416966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314356"/>
                </a:solidFill>
                <a:latin typeface="Microsoft YaHei"/>
              </a:rPr>
              <a:t>AArch64 路径下对 64 轮主循环完全展开，直接写死 F/G/H/I 阶段与 w[g] 访问顺序。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61488"/>
            <a:ext cx="4169664" cy="92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30" b="0" dirty="0">
                <a:solidFill>
                  <a:srgbClr val="33485C"/>
                </a:solidFill>
                <a:latin typeface="Microsoft YaHei"/>
              </a:rPr>
              <a:t>• 消除轮内分支和条件跳转。</a:t>
            </a:r>
          </a:p>
          <a:p>
            <a:pPr>
              <a:spcAft>
                <a:spcPts val="500"/>
              </a:spcAft>
            </a:pPr>
            <a:r>
              <a:rPr sz="1530" b="0" dirty="0">
                <a:solidFill>
                  <a:srgbClr val="33485C"/>
                </a:solidFill>
                <a:latin typeface="Microsoft YaHei"/>
              </a:rPr>
              <a:t>• 消除 %16 这类重复索引计算。</a:t>
            </a:r>
          </a:p>
          <a:p>
            <a:pPr>
              <a:spcAft>
                <a:spcPts val="500"/>
              </a:spcAft>
            </a:pPr>
            <a:r>
              <a:rPr sz="1530" b="0" dirty="0">
                <a:solidFill>
                  <a:srgbClr val="33485C"/>
                </a:solidFill>
                <a:latin typeface="Microsoft YaHei"/>
              </a:rPr>
              <a:t>• 把热路径改成更大的固定基本块。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31536" y="1426464"/>
            <a:ext cx="5614416" cy="1188720"/>
          </a:xfrm>
          <a:prstGeom prst="roundRect">
            <a:avLst>
              <a:gd name="adj" fmla="val 8000"/>
            </a:avLst>
          </a:prstGeom>
          <a:solidFill>
            <a:srgbClr val="FEF8F4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596128" y="15910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padding O(1)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157984"/>
            <a:ext cx="528523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把前置处理本身做轻，避免额外线性成本。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1536" y="2761488"/>
            <a:ext cx="5614416" cy="1188720"/>
          </a:xfrm>
          <a:prstGeom prst="roundRect">
            <a:avLst>
              <a:gd name="adj" fmla="val 8000"/>
            </a:avLst>
          </a:prstGeom>
          <a:solidFill>
            <a:srgbClr val="FEF8F4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596128" y="2926080"/>
            <a:ext cx="1371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对齐与复用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3218688"/>
            <a:ext cx="528523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使用对齐分配、复用缓冲区和 assume_aligned。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4096512"/>
            <a:ext cx="5614416" cy="1188720"/>
          </a:xfrm>
          <a:prstGeom prst="roundRect">
            <a:avLst>
              <a:gd name="adj" fmla="val 8000"/>
            </a:avLst>
          </a:prstGeom>
          <a:solidFill>
            <a:srgbClr val="FEF8F4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596128" y="42611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prefetch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553712"/>
            <a:ext cx="528523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尝试改善访存，但收益不一定稳定。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6885"/>
            <a:ext cx="10874959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dirty="0">
                <a:solidFill>
                  <a:srgbClr val="274C77"/>
                </a:solidFill>
                <a:latin typeface="Microsoft YaHei"/>
              </a:rPr>
              <a:t>MD5 是三者中 AArch64 适配痕迹最明显的一组优化。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MD5 代码级优化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MD5：AArch64 下的 64 轮主循环展开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16736"/>
            <a:ext cx="5330952" cy="30883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5001768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优化前：循环 + if/else + %16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49671"/>
            <a:ext cx="5001768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Segoe UI"/>
              </a:rPr>
              <a:t>每轮都要决定做什么、访问哪里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75104"/>
            <a:ext cx="5001768" cy="21818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1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for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(int i = 0; i &lt; 64; ++i) {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2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    if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(i &lt; 16) {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3  </a:t>
            </a:r>
            <a:r>
              <a:rPr sz="1220" b="0" dirty="0">
                <a:solidFill>
                  <a:srgbClr val="2D6A8A"/>
                </a:solidFill>
                <a:latin typeface="Consolas"/>
              </a:rPr>
              <a:t>        f = F(b, c, d);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4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    g = i;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5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    } else if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(i &lt; 32) {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6  </a:t>
            </a:r>
            <a:r>
              <a:rPr sz="1220" b="0" dirty="0">
                <a:solidFill>
                  <a:srgbClr val="2D6A8A"/>
                </a:solidFill>
                <a:latin typeface="Consolas"/>
              </a:rPr>
              <a:t>        f = G(b, c, d);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7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    g = (5 * i + 1) </a:t>
            </a:r>
            <a:r>
              <a:rPr sz="1220" b="1" dirty="0">
                <a:solidFill>
                  <a:srgbClr val="B04B35"/>
                </a:solidFill>
                <a:latin typeface="Consolas"/>
              </a:rPr>
              <a:t>% 16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8  </a:t>
            </a:r>
            <a:r>
              <a:rPr sz="1220" b="0" dirty="0">
                <a:solidFill>
                  <a:srgbClr val="6F7D8C"/>
                </a:solidFill>
                <a:latin typeface="Consolas"/>
              </a:rPr>
              <a:t>    } // H / I 类似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9  </a:t>
            </a:r>
            <a:r>
              <a:rPr sz="1220" b="0" dirty="0">
                <a:solidFill>
                  <a:srgbClr val="2D6A8A"/>
                </a:solidFill>
                <a:latin typeface="Consolas"/>
              </a:rPr>
              <a:t>    step(a, b, c, d, f, w[g], k[</a:t>
            </a:r>
            <a:r>
              <a:rPr sz="1220" b="0" dirty="0" err="1">
                <a:solidFill>
                  <a:srgbClr val="2D6A8A"/>
                </a:solidFill>
                <a:latin typeface="Consolas"/>
              </a:rPr>
              <a:t>i</a:t>
            </a:r>
            <a:r>
              <a:rPr sz="1220" b="0" dirty="0">
                <a:solidFill>
                  <a:srgbClr val="2D6A8A"/>
                </a:solidFill>
                <a:latin typeface="Consolas"/>
              </a:rPr>
              <a:t>]);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316735"/>
            <a:ext cx="5340096" cy="30883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50109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优化后：MD5_STEP 宏 + 64 步静态展开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9973"/>
            <a:ext cx="5010912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Segoe UI"/>
              </a:rPr>
              <a:t>AArch64 友好的热路径压平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75104"/>
            <a:ext cx="5010912" cy="21818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1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#define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MD5_STEP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(F, a,b,c,d, w, k, s) ...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2  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3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MD5_STEP(F, a,b,c,d, w[0],  K0,  S0);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4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MD5_STEP(F, d,a,b,c, w[1],  K1,  S1);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5  </a:t>
            </a:r>
            <a:r>
              <a:rPr sz="1220" b="0" dirty="0">
                <a:solidFill>
                  <a:srgbClr val="6F7D8C"/>
                </a:solidFill>
                <a:latin typeface="Consolas"/>
              </a:rPr>
              <a:t>...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6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MD5_STEP(G, a,b,c,d, w[1],  K16, S16);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7  </a:t>
            </a:r>
            <a:r>
              <a:rPr sz="1220" b="0" dirty="0">
                <a:solidFill>
                  <a:srgbClr val="6F7D8C"/>
                </a:solidFill>
                <a:latin typeface="Consolas"/>
              </a:rPr>
              <a:t>...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8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MD5_STEP(H, a,b,c,d, w[5],  K32, S32);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9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MD5_STEP(I, a,b,c,d, w[0],  K48, S48);</a:t>
            </a:r>
          </a:p>
          <a:p>
            <a:pPr>
              <a:spcAft>
                <a:spcPts val="50"/>
              </a:spcAft>
            </a:pPr>
            <a:r>
              <a:rPr sz="1220" b="0" dirty="0">
                <a:solidFill>
                  <a:srgbClr val="6F7D8C"/>
                </a:solidFill>
                <a:latin typeface="Consolas"/>
              </a:rPr>
              <a:t>// 64 步静态展开，访问顺序提前固定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17135"/>
            <a:ext cx="5166360" cy="146977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626864"/>
            <a:ext cx="1737360" cy="249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1" dirty="0">
                <a:solidFill>
                  <a:srgbClr val="22313F"/>
                </a:solidFill>
                <a:latin typeface="Microsoft YaHei"/>
              </a:rPr>
              <a:t>控制流变化示意图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46904"/>
            <a:ext cx="804672" cy="347472"/>
          </a:xfrm>
          <a:prstGeom prst="roundRect">
            <a:avLst>
              <a:gd name="adj" fmla="val 8000"/>
            </a:avLst>
          </a:prstGeom>
          <a:solidFill>
            <a:srgbClr val="BDC6D2"/>
          </a:solidFill>
          <a:ln w="10160">
            <a:solidFill>
              <a:srgbClr val="BD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9072" y="4919472"/>
            <a:ext cx="676656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for 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50292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0048" y="4919472"/>
            <a:ext cx="676656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if/else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50292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1024" y="4919472"/>
            <a:ext cx="676656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%16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0292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919472"/>
            <a:ext cx="676656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22392"/>
            <a:ext cx="804672" cy="347472"/>
          </a:xfrm>
          <a:prstGeom prst="roundRect">
            <a:avLst>
              <a:gd name="adj" fmla="val 8000"/>
            </a:avLst>
          </a:prstGeom>
          <a:solidFill>
            <a:srgbClr val="C96724"/>
          </a:solidFill>
          <a:ln w="10160">
            <a:solidFill>
              <a:srgbClr val="C96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9072" y="5394960"/>
            <a:ext cx="676656" cy="402336"/>
          </a:xfrm>
          <a:prstGeom prst="roundRect">
            <a:avLst>
              <a:gd name="adj" fmla="val 8000"/>
            </a:avLst>
          </a:prstGeom>
          <a:solidFill>
            <a:srgbClr val="F6E7DD"/>
          </a:solidFill>
          <a:ln w="10160">
            <a:solidFill>
              <a:srgbClr val="ECC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 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70048" y="5394960"/>
            <a:ext cx="676656" cy="402336"/>
          </a:xfrm>
          <a:prstGeom prst="roundRect">
            <a:avLst>
              <a:gd name="adj" fmla="val 8000"/>
            </a:avLst>
          </a:prstGeom>
          <a:solidFill>
            <a:srgbClr val="F6E7DD"/>
          </a:solidFill>
          <a:ln w="10160">
            <a:solidFill>
              <a:srgbClr val="ECC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 16-31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21024" y="5394960"/>
            <a:ext cx="676656" cy="402336"/>
          </a:xfrm>
          <a:prstGeom prst="roundRect">
            <a:avLst>
              <a:gd name="adj" fmla="val 8000"/>
            </a:avLst>
          </a:prstGeom>
          <a:solidFill>
            <a:srgbClr val="F6E7DD"/>
          </a:solidFill>
          <a:ln w="10160">
            <a:solidFill>
              <a:srgbClr val="ECC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 32-47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394960"/>
            <a:ext cx="676656" cy="402336"/>
          </a:xfrm>
          <a:prstGeom prst="roundRect">
            <a:avLst>
              <a:gd name="adj" fmla="val 8000"/>
            </a:avLst>
          </a:prstGeom>
          <a:solidFill>
            <a:srgbClr val="F6E7DD"/>
          </a:solidFill>
          <a:ln w="10160">
            <a:solidFill>
              <a:srgbClr val="ECC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 48-63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517135"/>
            <a:ext cx="5340096" cy="20276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355080" y="4645152"/>
            <a:ext cx="50109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为什么 AArch64 更适合这种写法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37760"/>
            <a:ext cx="5010912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 b="0" dirty="0" err="1">
                <a:solidFill>
                  <a:srgbClr val="4B6075"/>
                </a:solidFill>
                <a:latin typeface="Microsoft YaHei"/>
              </a:rPr>
              <a:t>减少分支、条件跳转和取模，让主路径更接近线性执行块</a:t>
            </a:r>
            <a:endParaRPr sz="1450" b="0" dirty="0">
              <a:solidFill>
                <a:srgbClr val="4B6075"/>
              </a:solidFill>
              <a:latin typeface="Microsoft YaHei"/>
            </a:endParaRPr>
          </a:p>
          <a:p>
            <a:pPr>
              <a:spcAft>
                <a:spcPts val="400"/>
              </a:spcAft>
            </a:pPr>
            <a:r>
              <a:rPr sz="1450" b="0" dirty="0" err="1">
                <a:solidFill>
                  <a:srgbClr val="4B6075"/>
                </a:solidFill>
                <a:latin typeface="Microsoft YaHei"/>
              </a:rPr>
              <a:t>更大的基本块更利于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 AArch64 流水线持续供给指令，也更利于 ILP 展开。</a:t>
            </a:r>
          </a:p>
          <a:p>
            <a:pPr>
              <a:spcAft>
                <a:spcPts val="400"/>
              </a:spcAft>
            </a:pPr>
            <a:r>
              <a:rPr sz="1450" b="0" dirty="0" err="1">
                <a:solidFill>
                  <a:srgbClr val="4B6075"/>
                </a:solidFill>
                <a:latin typeface="Microsoft YaHei"/>
              </a:rPr>
              <a:t>编译器更容易做寄存器分配，不必在每轮都为动态控制流留出保守空间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1450" b="0" dirty="0" err="1">
                <a:solidFill>
                  <a:srgbClr val="4B6075"/>
                </a:solidFill>
                <a:latin typeface="Microsoft YaHei"/>
              </a:rPr>
              <a:t>固定访问顺序让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 w[g] 与常量 K[i] </a:t>
            </a:r>
            <a:r>
              <a:rPr sz="1450" b="0" dirty="0" err="1">
                <a:solidFill>
                  <a:srgbClr val="4B6075"/>
                </a:solidFill>
                <a:latin typeface="Microsoft YaHei"/>
              </a:rPr>
              <a:t>的使用模式更稳定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24313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MD5 代码级优化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MD5：辅助优化为什么收益有限？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2622727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86384" y="1499616"/>
            <a:ext cx="23666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 dirty="0">
                <a:solidFill>
                  <a:srgbClr val="22313F"/>
                </a:solidFill>
                <a:latin typeface="Microsoft YaHei"/>
              </a:rPr>
              <a:t>padding O(1)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5255" y="1499616"/>
            <a:ext cx="841248" cy="219456"/>
          </a:xfrm>
          <a:prstGeom prst="roundRect">
            <a:avLst>
              <a:gd name="adj" fmla="val 12000"/>
            </a:avLst>
          </a:prstGeom>
          <a:solidFill>
            <a:srgbClr val="FBE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7B431C"/>
                </a:solidFill>
                <a:latin typeface="Segoe UI"/>
              </a:rPr>
              <a:t>轻微收益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73936"/>
            <a:ext cx="2366695" cy="375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2E3B49"/>
                </a:solidFill>
                <a:latin typeface="Microsoft YaHei"/>
              </a:rPr>
              <a:t>做了什么：把 padding 处理改成常数级路径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12848"/>
            <a:ext cx="2366695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4B6075"/>
                </a:solidFill>
                <a:latin typeface="Microsoft YaHei"/>
              </a:rPr>
              <a:t>理论作用：减少前置处理额外成本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9111" y="1371600"/>
            <a:ext cx="2622727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537127" y="1499616"/>
            <a:ext cx="2366695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 dirty="0">
                <a:solidFill>
                  <a:srgbClr val="22313F"/>
                </a:solidFill>
                <a:latin typeface="Microsoft YaHei"/>
              </a:rPr>
              <a:t>对齐分配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5999" y="1499616"/>
            <a:ext cx="841248" cy="219456"/>
          </a:xfrm>
          <a:prstGeom prst="roundRect">
            <a:avLst>
              <a:gd name="adj" fmla="val 12000"/>
            </a:avLst>
          </a:prstGeom>
          <a:solidFill>
            <a:srgbClr val="FBE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7B431C"/>
                </a:solidFill>
                <a:latin typeface="Segoe UI"/>
              </a:rPr>
              <a:t>轻微收益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7127" y="1773936"/>
            <a:ext cx="2366695" cy="375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2E3B49"/>
                </a:solidFill>
                <a:latin typeface="Microsoft YaHei"/>
              </a:rPr>
              <a:t>做了什么：让缓冲区更符合对齐访问习惯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7127" y="2212848"/>
            <a:ext cx="2366695" cy="375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4B6075"/>
                </a:solidFill>
                <a:latin typeface="Microsoft YaHei"/>
              </a:rPr>
              <a:t>理论作用：访存更规整，减少边角损耗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9855" y="1371600"/>
            <a:ext cx="2622727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287871" y="1499616"/>
            <a:ext cx="2366695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 dirty="0">
                <a:solidFill>
                  <a:srgbClr val="22313F"/>
                </a:solidFill>
                <a:latin typeface="Microsoft YaHei"/>
              </a:rPr>
              <a:t>assume_aligned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6743" y="1499616"/>
            <a:ext cx="841248" cy="219456"/>
          </a:xfrm>
          <a:prstGeom prst="roundRect">
            <a:avLst>
              <a:gd name="adj" fmla="val 12000"/>
            </a:avLst>
          </a:prstGeom>
          <a:solidFill>
            <a:srgbClr val="F4E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C55A11"/>
                </a:solidFill>
                <a:latin typeface="Segoe UI"/>
              </a:rPr>
              <a:t>增量收益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1773936"/>
            <a:ext cx="2366695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2E3B49"/>
                </a:solidFill>
                <a:latin typeface="Microsoft YaHei"/>
              </a:rPr>
              <a:t>做了什么：给编译器更多对齐信息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7871" y="2212848"/>
            <a:ext cx="2366695" cy="375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4B6075"/>
                </a:solidFill>
                <a:latin typeface="Microsoft YaHei"/>
              </a:rPr>
              <a:t>理论作用：帮助优化寄存器/访存决策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0599" y="1371600"/>
            <a:ext cx="2622727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D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038615" y="1499616"/>
            <a:ext cx="23666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1" dirty="0">
                <a:solidFill>
                  <a:srgbClr val="22313F"/>
                </a:solidFill>
                <a:latin typeface="Microsoft YaHei"/>
              </a:rPr>
              <a:t>prefetch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27487" y="1499616"/>
            <a:ext cx="841248" cy="219456"/>
          </a:xfrm>
          <a:prstGeom prst="roundRect">
            <a:avLst>
              <a:gd name="adj" fmla="val 12000"/>
            </a:avLst>
          </a:prstGeom>
          <a:solidFill>
            <a:srgbClr val="F5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C96D1C"/>
                </a:solidFill>
                <a:latin typeface="Segoe UI"/>
              </a:rPr>
              <a:t>不稳定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8615" y="1773936"/>
            <a:ext cx="2366695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2E3B49"/>
                </a:solidFill>
                <a:latin typeface="Microsoft YaHei"/>
              </a:rPr>
              <a:t>做了什么：提前触达后续输入数据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8615" y="2212848"/>
            <a:ext cx="2366695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dirty="0">
                <a:solidFill>
                  <a:srgbClr val="4B6075"/>
                </a:solidFill>
                <a:latin typeface="Microsoft YaHei"/>
              </a:rPr>
              <a:t>理论作用：希望掩盖部分访存等待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91840"/>
            <a:ext cx="10874959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3419856"/>
            <a:ext cx="1054577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为什么 prefetch 甚至可能变慢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12464"/>
            <a:ext cx="10545775" cy="86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prefetch 本身也要消耗指令与带宽，主循环已经被压平后，额外指令不一定划算。</a:t>
            </a:r>
          </a:p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小数据规模下访存延迟本来就不突出，预取收益会被控制开销抵消。</a:t>
            </a:r>
          </a:p>
          <a:p>
            <a:pPr>
              <a:spcAft>
                <a:spcPts val="400"/>
              </a:spcAft>
            </a:pPr>
            <a:r>
              <a:rPr sz="145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如果预取节奏不合适，还可能带来 cache pollution，把真正热的数据挤出去。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20640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350" b="0" dirty="0">
                <a:solidFill>
                  <a:srgbClr val="5E4B00"/>
                </a:solidFill>
                <a:latin typeface="Microsoft YaHei"/>
              </a:rPr>
              <a:t>结论：MD5 真正决定性收益来自主循环展开。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120640"/>
            <a:ext cx="73152" cy="5669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72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MD5 性能结果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循环展开贡献最大，prefetch 反而可能不稳定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158" y="1371600"/>
            <a:ext cx="4788703" cy="43423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10038" y="1517904"/>
            <a:ext cx="49560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1MB 单项优化贡献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005242"/>
              </p:ext>
            </p:extLst>
          </p:nvPr>
        </p:nvGraphicFramePr>
        <p:xfrm>
          <a:off x="291750" y="1847088"/>
          <a:ext cx="4443126" cy="3283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266086" y="6179503"/>
            <a:ext cx="6118194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不是“所有优化都很有用”，而是“主循环展开最有用”。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D2F1DC6-F29E-CAD0-96A9-E8D372A1B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180" y="1461199"/>
            <a:ext cx="7069662" cy="41224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1EFA2-0D37-9CC5-69C6-9A1C525B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264CB0-4F81-B303-DC9C-5F3F4155B53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>
            <a:extLst>
              <a:ext uri="{FF2B5EF4-FFF2-40B4-BE49-F238E27FC236}">
                <a16:creationId xmlns:a16="http://schemas.microsoft.com/office/drawing/2014/main" id="{7A4F9113-CD61-6738-3CBA-B7D1AB37C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C932B7-0FA7-F718-2F9F-195B6D581352}"/>
              </a:ext>
            </a:extLst>
          </p:cNvPr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64748B"/>
                </a:solidFill>
                <a:latin typeface="Segoe UI"/>
              </a:rPr>
              <a:t>SHA256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简介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E2276-FD77-F561-5C37-77C25447D493}"/>
              </a:ext>
            </a:extLst>
          </p:cNvPr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dirty="0">
                <a:solidFill>
                  <a:srgbClr val="1F2D3A"/>
                </a:solidFill>
                <a:latin typeface="Microsoft YaHei"/>
              </a:rPr>
              <a:t>SHA256</a:t>
            </a:r>
            <a:r>
              <a:rPr lang="zh-CN" altLang="en-US" sz="2500" b="1" dirty="0">
                <a:solidFill>
                  <a:srgbClr val="1F2D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流程、原理简介</a:t>
            </a:r>
            <a:endParaRPr sz="2500" b="1" dirty="0">
              <a:solidFill>
                <a:srgbClr val="1F2D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4893D0-7E41-C9A3-1A46-BBFEE3DE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751" y="1391841"/>
            <a:ext cx="9085714" cy="4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65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SHA256 流程与瓶颈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SHA256 真正的主干瓶颈是 _hash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49240" cy="475488"/>
          </a:xfrm>
          <a:prstGeom prst="roundRect">
            <a:avLst>
              <a:gd name="adj" fmla="val 8000"/>
            </a:avLst>
          </a:prstGeom>
          <a:solidFill>
            <a:srgbClr val="E5F0DD"/>
          </a:solidFill>
          <a:ln w="12700">
            <a:solidFill>
              <a:srgbClr val="D0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7405E"/>
                </a:solidFill>
                <a:latin typeface="Microsoft YaHei"/>
              </a:rPr>
              <a:t>输入   →   64B 缓冲   →   _hash   →   更新状态   →   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534924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59536" y="2395728"/>
            <a:ext cx="4946904" cy="92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缓冲区满后会触发一次 _hash。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_hash 内先生成 W[0..63]，再执行 64 轮压缩。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真正最耗时的是主压缩函数，而不是收尾 padding。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074920" cy="2852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682496"/>
            <a:ext cx="2103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Consolas"/>
              </a:rPr>
              <a:t>_hash 内部重负载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84831"/>
            <a:ext cx="868680" cy="310896"/>
          </a:xfrm>
          <a:prstGeom prst="roundRect">
            <a:avLst>
              <a:gd name="adj" fmla="val 8000"/>
            </a:avLst>
          </a:prstGeom>
          <a:solidFill>
            <a:srgbClr val="E2EEDA"/>
          </a:solidFill>
          <a:ln w="12700">
            <a:solidFill>
              <a:srgbClr val="B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W[0..63]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2" y="2084831"/>
            <a:ext cx="868680" cy="310896"/>
          </a:xfrm>
          <a:prstGeom prst="roundRect">
            <a:avLst>
              <a:gd name="adj" fmla="val 8000"/>
            </a:avLst>
          </a:prstGeom>
          <a:solidFill>
            <a:srgbClr val="E2EEDA"/>
          </a:solidFill>
          <a:ln w="12700">
            <a:solidFill>
              <a:srgbClr val="B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64 轮主循环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2084831"/>
            <a:ext cx="868680" cy="310896"/>
          </a:xfrm>
          <a:prstGeom prst="roundRect">
            <a:avLst>
              <a:gd name="adj" fmla="val 8000"/>
            </a:avLst>
          </a:prstGeom>
          <a:solidFill>
            <a:srgbClr val="E2EEDA"/>
          </a:solidFill>
          <a:ln w="12700">
            <a:solidFill>
              <a:srgbClr val="BED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24415C"/>
                </a:solidFill>
                <a:latin typeface="Consolas"/>
              </a:rPr>
              <a:t>8 个状态字更新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52928"/>
            <a:ext cx="4672584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 dirty="0">
                <a:solidFill>
                  <a:srgbClr val="4B6075"/>
                </a:solidFill>
                <a:latin typeface="Microsoft YaHei"/>
              </a:rPr>
              <a:t>后续所有真正有意义的优化，都必须命中这里。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SHA256 优化分析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决定性收益来自主压缩函数的结构性重写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26464"/>
            <a:ext cx="4434840" cy="1152144"/>
          </a:xfrm>
          <a:prstGeom prst="roundRect">
            <a:avLst>
              <a:gd name="adj" fmla="val 8000"/>
            </a:avLst>
          </a:prstGeom>
          <a:solidFill>
            <a:srgbClr val="F9FB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591056"/>
            <a:ext cx="14630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>
                <a:solidFill>
                  <a:srgbClr val="22313F"/>
                </a:solidFill>
                <a:latin typeface="Microsoft YaHei"/>
              </a:rPr>
              <a:t>辅助优化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83664"/>
            <a:ext cx="4105656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去掉无用掩码与冗余计算。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24912"/>
            <a:ext cx="4434840" cy="1152144"/>
          </a:xfrm>
          <a:prstGeom prst="roundRect">
            <a:avLst>
              <a:gd name="adj" fmla="val 8000"/>
            </a:avLst>
          </a:prstGeom>
          <a:solidFill>
            <a:srgbClr val="F9FB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889504"/>
            <a:ext cx="14630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>
                <a:solidFill>
                  <a:srgbClr val="22313F"/>
                </a:solidFill>
                <a:latin typeface="Microsoft YaHei"/>
              </a:rPr>
              <a:t>辅助优化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82112"/>
            <a:ext cx="4105656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_addbits 分支预测提示，padding 用 memset。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23360"/>
            <a:ext cx="4434840" cy="1152144"/>
          </a:xfrm>
          <a:prstGeom prst="roundRect">
            <a:avLst>
              <a:gd name="adj" fmla="val 8000"/>
            </a:avLst>
          </a:prstGeom>
          <a:solidFill>
            <a:srgbClr val="F9FB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4187952"/>
            <a:ext cx="14630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>
                <a:solidFill>
                  <a:srgbClr val="22313F"/>
                </a:solidFill>
                <a:latin typeface="Microsoft YaHei"/>
              </a:rPr>
              <a:t>辅助优化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105656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dirty="0">
                <a:solidFill>
                  <a:srgbClr val="4B6075"/>
                </a:solidFill>
                <a:latin typeface="Microsoft YaHei"/>
              </a:rPr>
              <a:t>输入流 prefetch，但收益并不稳定。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426464"/>
            <a:ext cx="566928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532120" y="1627632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决定性优化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956816"/>
            <a:ext cx="5303520" cy="715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dirty="0">
                <a:solidFill>
                  <a:srgbClr val="314356"/>
                </a:solidFill>
                <a:latin typeface="Microsoft YaHei"/>
              </a:rPr>
              <a:t>把 _Ch / _Ma / _S0 / _S1 / _G0 / _G1 / _word 从函数式写法改成宏，并用 SHA256_STEP1 / SHA256_STEP2 做步长为 4 的手动展开。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108960"/>
            <a:ext cx="5303520" cy="92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减少主压缩函数内部调用开销。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减少循环控制，形成更大的基本块。</a:t>
            </a:r>
          </a:p>
          <a:p>
            <a:pPr>
              <a:spcAft>
                <a:spcPts val="500"/>
              </a:spcAft>
            </a:pPr>
            <a:r>
              <a:rPr sz="1520" b="0" dirty="0">
                <a:solidFill>
                  <a:srgbClr val="33485C"/>
                </a:solidFill>
                <a:latin typeface="Microsoft YaHei"/>
              </a:rPr>
              <a:t>• 这才是命中主瓶颈的核心收益来源。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SHA256 代码级优化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SHA256：_hash 主压缩函数的结构重写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16736"/>
            <a:ext cx="5340096" cy="2889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50109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优化前：小 inline 函数 + 单步循环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5010912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Segoe UI"/>
              </a:rPr>
              <a:t>每轮都经过细碎控制与状态更新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75104"/>
            <a:ext cx="5010912" cy="204825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 algn="ctr"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1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static inline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uint32_t _Ch(...)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{ ... }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2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static inline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uint32_t _S1(...)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{ ... }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3  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4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for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(int i = 0; i &lt; 64; ++i) {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5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t1 = h +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_S1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(e) +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_Ch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(e,f,g)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6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     + K[i] + W[i];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7 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    t2 = _S0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(a) +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_Ma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(a,b,c);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8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h = g; g = f; f = e; ...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9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316736"/>
            <a:ext cx="5340096" cy="2889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355079" y="1444752"/>
            <a:ext cx="5178247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优化后：宏化 + SHA256_STEP1/2 + 步长为 4 展开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00784"/>
            <a:ext cx="5010912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4748B"/>
                </a:solidFill>
                <a:latin typeface="Segoe UI"/>
              </a:rPr>
              <a:t>把主压缩改成更大的连续块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75104"/>
            <a:ext cx="5010912" cy="204825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 algn="ctr"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1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#define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SHA256_STEP1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(...) ...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2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#define </a:t>
            </a:r>
            <a:r>
              <a:rPr sz="1220" b="1" dirty="0">
                <a:solidFill>
                  <a:srgbClr val="2D6A8A"/>
                </a:solidFill>
                <a:latin typeface="Consolas"/>
              </a:rPr>
              <a:t>SHA256_STEP2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(...) ...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3  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4  </a:t>
            </a:r>
            <a:r>
              <a:rPr sz="1220" b="1" dirty="0">
                <a:solidFill>
                  <a:srgbClr val="4472C4"/>
                </a:solidFill>
                <a:latin typeface="Consolas"/>
              </a:rPr>
              <a:t>for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(int i = 0; i &lt; 64; i += 4) {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5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SHA256_STEP1(..., W[i+0], K[i+0]);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6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SHA256_STEP2(..., W[i+1], K[i+1]);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7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SHA256_STEP1(..., W[i+2], K[i+2]);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8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    SHA256_STEP2(..., W[i+3], K[i+3]);</a:t>
            </a:r>
          </a:p>
          <a:p>
            <a:pPr>
              <a:spcAft>
                <a:spcPts val="50"/>
              </a:spcAft>
            </a:pPr>
            <a:r>
              <a:rPr sz="1180" b="0" dirty="0">
                <a:solidFill>
                  <a:srgbClr val="6F7D8C"/>
                </a:solidFill>
                <a:latin typeface="Segoe UI"/>
              </a:rPr>
              <a:t> 9  </a:t>
            </a:r>
            <a:r>
              <a:rPr sz="1220" b="0" dirty="0">
                <a:solidFill>
                  <a:srgbClr val="2E3B49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17135"/>
            <a:ext cx="4681728" cy="146977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626864"/>
            <a:ext cx="2011680" cy="249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1" dirty="0">
                <a:solidFill>
                  <a:srgbClr val="22313F"/>
                </a:solidFill>
                <a:latin typeface="Microsoft YaHei"/>
              </a:rPr>
              <a:t>执行块形态变化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46904"/>
            <a:ext cx="804672" cy="347472"/>
          </a:xfrm>
          <a:prstGeom prst="roundRect">
            <a:avLst>
              <a:gd name="adj" fmla="val 8000"/>
            </a:avLst>
          </a:prstGeom>
          <a:solidFill>
            <a:srgbClr val="BDC6D2"/>
          </a:solidFill>
          <a:ln w="10160">
            <a:solidFill>
              <a:srgbClr val="BD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9072" y="4919472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_Ch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6584" y="50292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60904" y="4919472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_S1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50292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2736" y="4919472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单轮更新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50292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4919472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8ED"/>
          </a:solidFill>
          <a:ln w="1016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下一轮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22392"/>
            <a:ext cx="804672" cy="347472"/>
          </a:xfrm>
          <a:prstGeom prst="roundRect">
            <a:avLst>
              <a:gd name="adj" fmla="val 8000"/>
            </a:avLst>
          </a:prstGeom>
          <a:solidFill>
            <a:srgbClr val="4E9346"/>
          </a:solidFill>
          <a:ln w="10160">
            <a:solidFill>
              <a:srgbClr val="4E9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9072" y="5394960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EE2"/>
          </a:solidFill>
          <a:ln w="10160">
            <a:solidFill>
              <a:srgbClr val="C1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6584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60904" y="5394960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EE2"/>
          </a:solidFill>
          <a:ln w="10160">
            <a:solidFill>
              <a:srgbClr val="C1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2736" y="5394960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EE2"/>
          </a:solidFill>
          <a:ln w="10160">
            <a:solidFill>
              <a:srgbClr val="C1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50468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5394960"/>
            <a:ext cx="667512" cy="402336"/>
          </a:xfrm>
          <a:prstGeom prst="roundRect">
            <a:avLst>
              <a:gd name="adj" fmla="val 8000"/>
            </a:avLst>
          </a:prstGeom>
          <a:solidFill>
            <a:srgbClr val="E4EEE2"/>
          </a:solidFill>
          <a:ln w="10160">
            <a:solidFill>
              <a:srgbClr val="C1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50" b="1" dirty="0">
                <a:solidFill>
                  <a:srgbClr val="22313F"/>
                </a:solidFill>
                <a:latin typeface="Microsoft YaHei"/>
              </a:rPr>
              <a:t>STEP2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517136"/>
            <a:ext cx="5340096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355080" y="4645152"/>
            <a:ext cx="50109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为什么宏化 + 展开效果巨大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4919472"/>
            <a:ext cx="5010912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 b="0" dirty="0" err="1">
                <a:solidFill>
                  <a:srgbClr val="4B6075"/>
                </a:solidFill>
                <a:latin typeface="Microsoft YaHei"/>
              </a:rPr>
              <a:t>减少控制开销与潜在调用成本，把更多工作压进连续的主压缩块里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1450" b="0" dirty="0" err="1">
                <a:solidFill>
                  <a:srgbClr val="4B6075"/>
                </a:solidFill>
                <a:latin typeface="Microsoft YaHei"/>
              </a:rPr>
              <a:t>状态字与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 W/K 的使用关系更稳定，CPU 更容易连续执行而不是频繁切换小步骤。</a:t>
            </a:r>
          </a:p>
          <a:p>
            <a:pPr>
              <a:spcAft>
                <a:spcPts val="400"/>
              </a:spcAft>
            </a:pPr>
            <a:r>
              <a:rPr lang="zh-CN" altLang="en-US" sz="1450" dirty="0">
                <a:solidFill>
                  <a:srgbClr val="4B6075"/>
                </a:solidFill>
                <a:latin typeface="Microsoft YaHei"/>
              </a:rPr>
              <a:t>重写了</a:t>
            </a:r>
            <a:r>
              <a:rPr sz="1450" b="0" dirty="0">
                <a:solidFill>
                  <a:srgbClr val="4B6075"/>
                </a:solidFill>
                <a:latin typeface="Microsoft YaHei"/>
              </a:rPr>
              <a:t>_hash 主干，而不是在外围打补丁。</a:t>
            </a:r>
          </a:p>
        </p:txBody>
      </p:sp>
    </p:spTree>
    <p:extLst>
      <p:ext uri="{BB962C8B-B14F-4D97-AF65-F5344CB8AC3E}">
        <p14:creationId xmlns:p14="http://schemas.microsoft.com/office/powerpoint/2010/main" val="2586343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SHA256 代码级优化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SHA256：为什么只有优化4真正有效？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358384" cy="4425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5029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>
                <a:solidFill>
                  <a:srgbClr val="22313F"/>
                </a:solidFill>
                <a:latin typeface="Microsoft YaHei"/>
              </a:rPr>
              <a:t>1MB 数据：baseline 到各优化版本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04672" y="1828800"/>
          <a:ext cx="506577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99632" y="1353312"/>
            <a:ext cx="5340096" cy="15140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364224" y="1481328"/>
            <a:ext cx="501091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>
                <a:solidFill>
                  <a:srgbClr val="C96D1C"/>
                </a:solidFill>
                <a:latin typeface="Microsoft YaHei"/>
              </a:rPr>
              <a:t>没有命中 _hash 主干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792224"/>
            <a:ext cx="5010912" cy="1075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3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30" b="0" dirty="0">
                <a:solidFill>
                  <a:srgbClr val="4B6075"/>
                </a:solidFill>
                <a:latin typeface="Microsoft YaHei"/>
              </a:rPr>
              <a:t>memset、branch hint、prefetch 都更像外围辅助优化。</a:t>
            </a:r>
          </a:p>
          <a:p>
            <a:pPr>
              <a:spcAft>
                <a:spcPts val="400"/>
              </a:spcAft>
            </a:pPr>
            <a:r>
              <a:rPr sz="143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30" b="0" dirty="0">
                <a:solidFill>
                  <a:srgbClr val="4B6075"/>
                </a:solidFill>
                <a:latin typeface="Microsoft YaHei"/>
              </a:rPr>
              <a:t>它们没有改写主压缩结构，所以 1MB 数据几乎看不到决定性变化。</a:t>
            </a:r>
          </a:p>
          <a:p>
            <a:pPr>
              <a:spcAft>
                <a:spcPts val="400"/>
              </a:spcAft>
            </a:pPr>
            <a:r>
              <a:rPr sz="143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30" b="0" dirty="0">
                <a:solidFill>
                  <a:srgbClr val="4B6075"/>
                </a:solidFill>
                <a:latin typeface="Microsoft YaHei"/>
              </a:rPr>
              <a:t>优化3 甚至更慢，说明辅助优化不能盲目叠加。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962655"/>
            <a:ext cx="5340096" cy="19541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364224" y="3090672"/>
            <a:ext cx="501091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dirty="0">
                <a:solidFill>
                  <a:srgbClr val="3F8A36"/>
                </a:solidFill>
                <a:latin typeface="Microsoft YaHei"/>
              </a:rPr>
              <a:t>直接命中 _hash 主干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401568"/>
            <a:ext cx="5010912" cy="1515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3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30" b="0" dirty="0">
                <a:solidFill>
                  <a:srgbClr val="4B6075"/>
                </a:solidFill>
                <a:latin typeface="Microsoft YaHei"/>
              </a:rPr>
              <a:t>宏化、展开、SHA256_STEP1/2 都直接作用在 _hash 主压缩循环上。</a:t>
            </a:r>
          </a:p>
          <a:p>
            <a:pPr>
              <a:spcAft>
                <a:spcPts val="400"/>
              </a:spcAft>
            </a:pPr>
            <a:r>
              <a:rPr sz="143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30" b="0" dirty="0">
                <a:solidFill>
                  <a:srgbClr val="4B6075"/>
                </a:solidFill>
                <a:latin typeface="Microsoft YaHei"/>
              </a:rPr>
              <a:t>优化4 从 100.278 ms 降到 29.104 ms，立刻拉开数量级差距。</a:t>
            </a:r>
          </a:p>
          <a:p>
            <a:pPr>
              <a:spcAft>
                <a:spcPts val="400"/>
              </a:spcAft>
            </a:pPr>
            <a:r>
              <a:rPr sz="1430" b="1" dirty="0">
                <a:solidFill>
                  <a:srgbClr val="4B6075"/>
                </a:solidFill>
                <a:latin typeface="Segoe UI"/>
              </a:rPr>
              <a:t>• </a:t>
            </a:r>
            <a:r>
              <a:rPr sz="1430" b="0" dirty="0">
                <a:solidFill>
                  <a:srgbClr val="4B6075"/>
                </a:solidFill>
                <a:latin typeface="Microsoft YaHei"/>
              </a:rPr>
              <a:t>全开不一定最优，30.515 ms 说明辅助项还可能回吐一部分收益。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5148072"/>
            <a:ext cx="5340096" cy="713232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350" b="0" dirty="0" err="1">
                <a:solidFill>
                  <a:srgbClr val="5E4B00"/>
                </a:solidFill>
                <a:latin typeface="Microsoft YaHei"/>
              </a:rPr>
              <a:t>总结：真正有效的优化必须直接命中</a:t>
            </a:r>
            <a:r>
              <a:rPr sz="1350" b="0" dirty="0">
                <a:solidFill>
                  <a:srgbClr val="5E4B00"/>
                </a:solidFill>
                <a:latin typeface="Microsoft YaHei"/>
              </a:rPr>
              <a:t> _hash 主干。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5148072"/>
            <a:ext cx="73152" cy="7132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4631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SHA256 性能结果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不是优化项越多越快，而是是否命中主瓶颈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321808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4956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1MB：optimization1 ~ 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865376"/>
          <a:ext cx="493776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58368" y="607161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7A8795"/>
                </a:solidFill>
                <a:latin typeface="Segoe UI"/>
              </a:rPr>
              <a:t>本页数据均来自课程实验材料整理。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927C6F7-8E0A-DF3F-8C49-48B682911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234" y="1411487"/>
            <a:ext cx="7513475" cy="44772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统一比较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7495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dirty="0">
                <a:solidFill>
                  <a:srgbClr val="1F2D3A"/>
                </a:solidFill>
                <a:latin typeface="Microsoft YaHei"/>
              </a:rPr>
              <a:t>三种算法都在做实现优化，但命中的瓶颈并不一样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82347"/>
              </p:ext>
            </p:extLst>
          </p:nvPr>
        </p:nvGraphicFramePr>
        <p:xfrm>
          <a:off x="658368" y="1389888"/>
          <a:ext cx="1087495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3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61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157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算法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主要热路径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核心优化主线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控制开销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访存/数据访问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架构适配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F2D3A"/>
                          </a:solidFill>
                          <a:latin typeface="Microsoft YaHei"/>
                        </a:rPr>
                        <a:t>最大收益点</a:t>
                      </a:r>
                    </a:p>
                  </a:txBody>
                  <a:tcPr marL="101600" marR="101600" marT="76200" marB="76200" anchor="ctr"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1220" b="1" dirty="0">
                          <a:solidFill>
                            <a:srgbClr val="4472C4"/>
                          </a:solidFill>
                          <a:latin typeface="Microsoft YaHei"/>
                        </a:rPr>
                        <a:t>AES</a:t>
                      </a:r>
                    </a:p>
                  </a:txBody>
                  <a:tcPr marL="88900" marR="88900" marT="63500" marB="63500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Consolas"/>
                        </a:rPr>
                        <a:t>inv_shift_rows / inv_sub_bytes / inv_mix_columns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固定 16 字节状态专用化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循环展开、少索引、少地址计算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减少中间数组和临时搬运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弱于 MD5，但仍体现结构友好性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固定结构写成固定代码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1220" b="1" dirty="0">
                          <a:solidFill>
                            <a:srgbClr val="C55A11"/>
                          </a:solidFill>
                          <a:latin typeface="Microsoft YaHei"/>
                        </a:rPr>
                        <a:t>MD5</a:t>
                      </a:r>
                    </a:p>
                  </a:txBody>
                  <a:tcPr marL="88900" marR="88900" marT="63500" marB="63500" anchor="ctr">
                    <a:solidFill>
                      <a:srgbClr val="F8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64 轮主循环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AArch64 路径下主循环压平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Consolas"/>
                        </a:rPr>
                        <a:t>减少分支、条件跳转和 %16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对齐、复用、prefetch 为辅助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最明显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展开热路径基本块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570">
                <a:tc>
                  <a:txBody>
                    <a:bodyPr/>
                    <a:lstStyle/>
                    <a:p>
                      <a:pPr algn="l"/>
                      <a:r>
                        <a:rPr sz="1220" b="1" dirty="0">
                          <a:solidFill>
                            <a:srgbClr val="3F8A36"/>
                          </a:solidFill>
                          <a:latin typeface="Microsoft YaHei"/>
                        </a:rPr>
                        <a:t>SHA256</a:t>
                      </a:r>
                    </a:p>
                  </a:txBody>
                  <a:tcPr marL="88900" marR="88900" marT="63500" marB="63500" anchor="ctr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Consolas"/>
                        </a:rPr>
                        <a:t>_hash 主压缩函数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宏化 + 步长为 4 的循环展开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减少函数调用和循环控制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prefetch 不是主要收益来源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Microsoft YaHei"/>
                        </a:rPr>
                        <a:t>体现为对主干结构的重写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22313F"/>
                          </a:solidFill>
                          <a:latin typeface="Consolas"/>
                        </a:rPr>
                        <a:t>命中 _hash 才有决定性收益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Segoe UI"/>
              </a:rPr>
              <a:t>性能总览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484632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1591056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22313F"/>
                </a:solidFill>
                <a:latin typeface="Microsoft YaHei"/>
              </a:rPr>
              <a:t>归一化吞吐提升（baseline = 1.0）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956816"/>
          <a:ext cx="4498848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779008" y="1444752"/>
            <a:ext cx="55138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943600" y="1554480"/>
            <a:ext cx="822960" cy="27432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icrosoft YaHei"/>
              </a:rPr>
              <a:t>AES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36192"/>
            <a:ext cx="4270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4B6075"/>
                </a:solidFill>
                <a:latin typeface="Microsoft YaHei"/>
              </a:rPr>
              <a:t>专用化实现持续压缩常数开销，收益稳定。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9008" y="2322576"/>
            <a:ext cx="55138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943600" y="2432304"/>
            <a:ext cx="822960" cy="274320"/>
          </a:xfrm>
          <a:prstGeom prst="roundRect">
            <a:avLst>
              <a:gd name="adj" fmla="val 8000"/>
            </a:avLst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icrosoft YaHei"/>
              </a:rPr>
              <a:t>MD5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414016"/>
            <a:ext cx="4270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4B6075"/>
                </a:solidFill>
                <a:latin typeface="Microsoft YaHei"/>
              </a:rPr>
              <a:t>主循环展开是主因，辅助优化只做增量补充。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9008" y="3200400"/>
            <a:ext cx="55138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5943600" y="3310128"/>
            <a:ext cx="822960" cy="274320"/>
          </a:xfrm>
          <a:prstGeom prst="roundRect">
            <a:avLst>
              <a:gd name="adj" fmla="val 8000"/>
            </a:avLst>
          </a:prstGeom>
          <a:solidFill>
            <a:srgbClr val="3F8A36"/>
          </a:solidFill>
          <a:ln w="12700">
            <a:solidFill>
              <a:srgbClr val="3F8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Microsoft YaHei"/>
              </a:rPr>
              <a:t>SHA256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91840"/>
            <a:ext cx="4270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4B6075"/>
                </a:solidFill>
                <a:latin typeface="Microsoft YaHei"/>
              </a:rPr>
              <a:t>优化四命中主瓶颈，形成数量级更明显的改观。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79008" y="4279392"/>
            <a:ext cx="5513832" cy="530352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350" b="0" dirty="0">
                <a:solidFill>
                  <a:srgbClr val="5E4B00"/>
                </a:solidFill>
                <a:latin typeface="Microsoft YaHei"/>
              </a:rPr>
              <a:t>跨算法结果仅作相对趋势参考，不直接比较绝对谁更快。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79008" y="4279392"/>
            <a:ext cx="73152" cy="53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emplate-foo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6832"/>
            <a:ext cx="12191695" cy="201168"/>
          </a:xfrm>
          <a:prstGeom prst="rect">
            <a:avLst/>
          </a:prstGeom>
        </p:spPr>
      </p:pic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C1993C0E-6765-5133-2511-89EE6401A9C8}"/>
              </a:ext>
            </a:extLst>
          </p:cNvPr>
          <p:cNvSpPr/>
          <p:nvPr/>
        </p:nvSpPr>
        <p:spPr>
          <a:xfrm>
            <a:off x="1704214" y="1656797"/>
            <a:ext cx="8783265" cy="426222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91440" rIns="109728" bIns="73152" rtlCol="0" anchor="t"/>
          <a:lstStyle/>
          <a:p>
            <a:pPr algn="ctr">
              <a:spcAft>
                <a:spcPts val="50"/>
              </a:spcAft>
            </a:pPr>
            <a:endParaRPr lang="en-US" altLang="zh-CN" sz="8800" b="1" dirty="0">
              <a:solidFill>
                <a:srgbClr val="C96D1C"/>
              </a:solidFill>
              <a:latin typeface="Microsoft YaHei"/>
            </a:endParaRPr>
          </a:p>
          <a:p>
            <a:pPr algn="ctr">
              <a:spcAft>
                <a:spcPts val="50"/>
              </a:spcAft>
            </a:pPr>
            <a:r>
              <a:rPr lang="zh-CN" altLang="en-US" sz="8800" b="1" dirty="0">
                <a:solidFill>
                  <a:srgbClr val="C96D1C"/>
                </a:solidFill>
                <a:latin typeface="Microsoft YaHei"/>
              </a:rPr>
              <a:t>   谢谢大家！</a:t>
            </a:r>
            <a:endParaRPr sz="8800" b="1" dirty="0">
              <a:solidFill>
                <a:srgbClr val="C96D1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2316</Words>
  <Application>Microsoft Office PowerPoint</Application>
  <PresentationFormat>宽屏</PresentationFormat>
  <Paragraphs>408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Microsoft YaHei</vt:lpstr>
      <vt:lpstr>Microsoft YaHei</vt:lpstr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文宇 赵</cp:lastModifiedBy>
  <cp:revision>36</cp:revision>
  <dcterms:created xsi:type="dcterms:W3CDTF">2013-01-27T09:14:16Z</dcterms:created>
  <dcterms:modified xsi:type="dcterms:W3CDTF">2026-05-13T01:19:55Z</dcterms:modified>
  <cp:category/>
</cp:coreProperties>
</file>